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5" r:id="rId1"/>
    <p:sldMasterId id="2147483686" r:id="rId2"/>
  </p:sldMasterIdLst>
  <p:notesMasterIdLst>
    <p:notesMasterId r:id="rId29"/>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Lst>
  <p:sldSz cx="9144000" cy="5143500" type="screen16x9"/>
  <p:notesSz cx="6858000" cy="9144000"/>
  <p:embeddedFontLst>
    <p:embeddedFont>
      <p:font typeface="Google Sans Medium" panose="020B0604020202020204" charset="0"/>
      <p:regular r:id="rId30"/>
      <p:bold r:id="rId31"/>
      <p:italic r:id="rId32"/>
      <p:boldItalic r:id="rId33"/>
    </p:embeddedFont>
    <p:embeddedFont>
      <p:font typeface="Open Sans" panose="020B0606030504020204" pitchFamily="34" charset="0"/>
      <p:regular r:id="rId34"/>
      <p:bold r:id="rId35"/>
    </p:embeddedFont>
    <p:embeddedFont>
      <p:font typeface="Open Sans SemiBold" panose="020B0706030804020204" pitchFamily="34" charset="0"/>
      <p:bold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font" Target="fonts/font5.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4.fntdata"/><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3.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7.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2.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2" name="Google Shape;14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2" name="Google Shape;162;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1" name="Google Shape;19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0" name="Google Shape;200;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7" name="Google Shape;217;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4" name="Google Shape;22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 name="Google Shape;232;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9" name="Google Shape;239;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9" name="Google Shape;259;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1" name="Google Shape;271;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9" name="Google Shape;279;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1" name="Google Shape;301;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8" name="Google Shape;308;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1" name="Google Shape;321;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4" name="Google Shape;334;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7" name="Google Shape;347;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5" name="Google Shape;355;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9" name="Google Shape;369;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6" name="Google Shape;376;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1" name="Google Shape;391;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5" name="Google Shape;405;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5" name="Google Shape;415;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ue" type="blank">
  <p:cSld name="BLANK">
    <p:spTree>
      <p:nvGrpSpPr>
        <p:cNvPr id="1" name="Shape 13"/>
        <p:cNvGrpSpPr/>
        <p:nvPr/>
      </p:nvGrpSpPr>
      <p:grpSpPr>
        <a:xfrm>
          <a:off x="0" y="0"/>
          <a:ext cx="0" cy="0"/>
          <a:chOff x="0" y="0"/>
          <a:chExt cx="0" cy="0"/>
        </a:xfrm>
      </p:grpSpPr>
      <p:sp>
        <p:nvSpPr>
          <p:cNvPr id="14" name="Google Shape;14;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5" name="Google Shape;15;p3"/>
          <p:cNvSpPr/>
          <p:nvPr/>
        </p:nvSpPr>
        <p:spPr>
          <a:xfrm>
            <a:off x="0" y="329125"/>
            <a:ext cx="69300" cy="753000"/>
          </a:xfrm>
          <a:prstGeom prst="rect">
            <a:avLst/>
          </a:prstGeom>
          <a:solidFill>
            <a:srgbClr val="4285F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d">
  <p:cSld name="BLANK_1">
    <p:spTree>
      <p:nvGrpSpPr>
        <p:cNvPr id="1" name="Shape 16"/>
        <p:cNvGrpSpPr/>
        <p:nvPr/>
      </p:nvGrpSpPr>
      <p:grpSpPr>
        <a:xfrm>
          <a:off x="0" y="0"/>
          <a:ext cx="0" cy="0"/>
          <a:chOff x="0" y="0"/>
          <a:chExt cx="0" cy="0"/>
        </a:xfrm>
      </p:grpSpPr>
      <p:sp>
        <p:nvSpPr>
          <p:cNvPr id="17" name="Google Shape;17;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8" name="Google Shape;18;p4"/>
          <p:cNvSpPr/>
          <p:nvPr/>
        </p:nvSpPr>
        <p:spPr>
          <a:xfrm>
            <a:off x="0" y="329125"/>
            <a:ext cx="69300" cy="753000"/>
          </a:xfrm>
          <a:prstGeom prst="rect">
            <a:avLst/>
          </a:prstGeom>
          <a:solidFill>
            <a:srgbClr val="EA433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Yellow">
  <p:cSld name="BLANK_1_1">
    <p:spTree>
      <p:nvGrpSpPr>
        <p:cNvPr id="1" name="Shape 19"/>
        <p:cNvGrpSpPr/>
        <p:nvPr/>
      </p:nvGrpSpPr>
      <p:grpSpPr>
        <a:xfrm>
          <a:off x="0" y="0"/>
          <a:ext cx="0" cy="0"/>
          <a:chOff x="0" y="0"/>
          <a:chExt cx="0" cy="0"/>
        </a:xfrm>
      </p:grpSpPr>
      <p:sp>
        <p:nvSpPr>
          <p:cNvPr id="20" name="Google Shape;20;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21" name="Google Shape;21;p5"/>
          <p:cNvSpPr/>
          <p:nvPr/>
        </p:nvSpPr>
        <p:spPr>
          <a:xfrm>
            <a:off x="0" y="329125"/>
            <a:ext cx="69300" cy="753000"/>
          </a:xfrm>
          <a:prstGeom prst="rect">
            <a:avLst/>
          </a:prstGeom>
          <a:solidFill>
            <a:srgbClr val="FBBC0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Green">
  <p:cSld name="BLANK_1_1_1">
    <p:spTree>
      <p:nvGrpSpPr>
        <p:cNvPr id="1" name="Shape 22"/>
        <p:cNvGrpSpPr/>
        <p:nvPr/>
      </p:nvGrpSpPr>
      <p:grpSpPr>
        <a:xfrm>
          <a:off x="0" y="0"/>
          <a:ext cx="0" cy="0"/>
          <a:chOff x="0" y="0"/>
          <a:chExt cx="0" cy="0"/>
        </a:xfrm>
      </p:grpSpPr>
      <p:sp>
        <p:nvSpPr>
          <p:cNvPr id="23" name="Google Shape;23;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24" name="Google Shape;24;p6"/>
          <p:cNvSpPr/>
          <p:nvPr/>
        </p:nvSpPr>
        <p:spPr>
          <a:xfrm>
            <a:off x="0" y="329125"/>
            <a:ext cx="69300" cy="753000"/>
          </a:xfrm>
          <a:prstGeom prst="rect">
            <a:avLst/>
          </a:prstGeom>
          <a:solidFill>
            <a:srgbClr val="34A85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Gray">
  <p:cSld name="BLANK_1_1_1_1">
    <p:spTree>
      <p:nvGrpSpPr>
        <p:cNvPr id="1" name="Shape 25"/>
        <p:cNvGrpSpPr/>
        <p:nvPr/>
      </p:nvGrpSpPr>
      <p:grpSpPr>
        <a:xfrm>
          <a:off x="0" y="0"/>
          <a:ext cx="0" cy="0"/>
          <a:chOff x="0" y="0"/>
          <a:chExt cx="0" cy="0"/>
        </a:xfrm>
      </p:grpSpPr>
      <p:sp>
        <p:nvSpPr>
          <p:cNvPr id="26" name="Google Shape;26;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27" name="Google Shape;27;p7"/>
          <p:cNvSpPr/>
          <p:nvPr/>
        </p:nvSpPr>
        <p:spPr>
          <a:xfrm>
            <a:off x="0" y="329125"/>
            <a:ext cx="69300" cy="753000"/>
          </a:xfrm>
          <a:prstGeom prst="rect">
            <a:avLst/>
          </a:prstGeom>
          <a:solidFill>
            <a:srgbClr val="9AA0A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8"/>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30" name="Google Shape;30;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1"/>
        <p:cNvGrpSpPr/>
        <p:nvPr/>
      </p:nvGrpSpPr>
      <p:grpSpPr>
        <a:xfrm>
          <a:off x="0" y="0"/>
          <a:ext cx="0" cy="0"/>
          <a:chOff x="0" y="0"/>
          <a:chExt cx="0" cy="0"/>
        </a:xfrm>
      </p:grpSpPr>
      <p:sp>
        <p:nvSpPr>
          <p:cNvPr id="32" name="Google Shape;32;p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3" name="Google Shape;33;p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4" name="Google Shape;34;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5"/>
        <p:cNvGrpSpPr/>
        <p:nvPr/>
      </p:nvGrpSpPr>
      <p:grpSpPr>
        <a:xfrm>
          <a:off x="0" y="0"/>
          <a:ext cx="0" cy="0"/>
          <a:chOff x="0" y="0"/>
          <a:chExt cx="0" cy="0"/>
        </a:xfrm>
      </p:grpSpPr>
      <p:sp>
        <p:nvSpPr>
          <p:cNvPr id="36" name="Google Shape;36;p1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7" name="Google Shape;37;p10"/>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10"/>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9" name="Google Shape;39;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2" name="Google Shape;42;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3"/>
        <p:cNvGrpSpPr/>
        <p:nvPr/>
      </p:nvGrpSpPr>
      <p:grpSpPr>
        <a:xfrm>
          <a:off x="0" y="0"/>
          <a:ext cx="0" cy="0"/>
          <a:chOff x="0" y="0"/>
          <a:chExt cx="0" cy="0"/>
        </a:xfrm>
      </p:grpSpPr>
      <p:sp>
        <p:nvSpPr>
          <p:cNvPr id="44" name="Google Shape;44;p12"/>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5" name="Google Shape;45;p12"/>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6" name="Google Shape;46;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7"/>
        <p:cNvGrpSpPr/>
        <p:nvPr/>
      </p:nvGrpSpPr>
      <p:grpSpPr>
        <a:xfrm>
          <a:off x="0" y="0"/>
          <a:ext cx="0" cy="0"/>
          <a:chOff x="0" y="0"/>
          <a:chExt cx="0" cy="0"/>
        </a:xfrm>
      </p:grpSpPr>
      <p:sp>
        <p:nvSpPr>
          <p:cNvPr id="48" name="Google Shape;48;p13"/>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9" name="Google Shape;49;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0"/>
        <p:cNvGrpSpPr/>
        <p:nvPr/>
      </p:nvGrpSpPr>
      <p:grpSpPr>
        <a:xfrm>
          <a:off x="0" y="0"/>
          <a:ext cx="0" cy="0"/>
          <a:chOff x="0" y="0"/>
          <a:chExt cx="0" cy="0"/>
        </a:xfrm>
      </p:grpSpPr>
      <p:sp>
        <p:nvSpPr>
          <p:cNvPr id="51" name="Google Shape;51;p14"/>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14"/>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3" name="Google Shape;53;p14"/>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4" name="Google Shape;54;p14"/>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5" name="Google Shape;55;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6"/>
        <p:cNvGrpSpPr/>
        <p:nvPr/>
      </p:nvGrpSpPr>
      <p:grpSpPr>
        <a:xfrm>
          <a:off x="0" y="0"/>
          <a:ext cx="0" cy="0"/>
          <a:chOff x="0" y="0"/>
          <a:chExt cx="0" cy="0"/>
        </a:xfrm>
      </p:grpSpPr>
      <p:sp>
        <p:nvSpPr>
          <p:cNvPr id="57" name="Google Shape;57;p15"/>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8" name="Google Shape;58;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9"/>
        <p:cNvGrpSpPr/>
        <p:nvPr/>
      </p:nvGrpSpPr>
      <p:grpSpPr>
        <a:xfrm>
          <a:off x="0" y="0"/>
          <a:ext cx="0" cy="0"/>
          <a:chOff x="0" y="0"/>
          <a:chExt cx="0" cy="0"/>
        </a:xfrm>
      </p:grpSpPr>
      <p:sp>
        <p:nvSpPr>
          <p:cNvPr id="60" name="Google Shape;60;p16"/>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1" name="Google Shape;61;p16"/>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2" name="Google Shape;62;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Red 2">
  <p:cSld name="BLANK_1_2">
    <p:spTree>
      <p:nvGrpSpPr>
        <p:cNvPr id="1" name="Shape 63"/>
        <p:cNvGrpSpPr/>
        <p:nvPr/>
      </p:nvGrpSpPr>
      <p:grpSpPr>
        <a:xfrm>
          <a:off x="0" y="0"/>
          <a:ext cx="0" cy="0"/>
          <a:chOff x="0" y="0"/>
          <a:chExt cx="0" cy="0"/>
        </a:xfrm>
      </p:grpSpPr>
      <p:sp>
        <p:nvSpPr>
          <p:cNvPr id="64" name="Google Shape;64;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65" name="Google Shape;65;p17"/>
          <p:cNvSpPr/>
          <p:nvPr/>
        </p:nvSpPr>
        <p:spPr>
          <a:xfrm>
            <a:off x="0" y="329125"/>
            <a:ext cx="69300" cy="4485300"/>
          </a:xfrm>
          <a:prstGeom prst="rect">
            <a:avLst/>
          </a:prstGeom>
          <a:solidFill>
            <a:srgbClr val="EA433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Yellow 2">
  <p:cSld name="BLANK_1_2_1">
    <p:spTree>
      <p:nvGrpSpPr>
        <p:cNvPr id="1" name="Shape 66"/>
        <p:cNvGrpSpPr/>
        <p:nvPr/>
      </p:nvGrpSpPr>
      <p:grpSpPr>
        <a:xfrm>
          <a:off x="0" y="0"/>
          <a:ext cx="0" cy="0"/>
          <a:chOff x="0" y="0"/>
          <a:chExt cx="0" cy="0"/>
        </a:xfrm>
      </p:grpSpPr>
      <p:sp>
        <p:nvSpPr>
          <p:cNvPr id="67" name="Google Shape;67;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68" name="Google Shape;68;p18"/>
          <p:cNvSpPr/>
          <p:nvPr/>
        </p:nvSpPr>
        <p:spPr>
          <a:xfrm>
            <a:off x="0" y="329125"/>
            <a:ext cx="69300" cy="4485300"/>
          </a:xfrm>
          <a:prstGeom prst="rect">
            <a:avLst/>
          </a:prstGeom>
          <a:solidFill>
            <a:srgbClr val="FBBC0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Green 2">
  <p:cSld name="BLANK_1_2_1_1">
    <p:spTree>
      <p:nvGrpSpPr>
        <p:cNvPr id="1" name="Shape 69"/>
        <p:cNvGrpSpPr/>
        <p:nvPr/>
      </p:nvGrpSpPr>
      <p:grpSpPr>
        <a:xfrm>
          <a:off x="0" y="0"/>
          <a:ext cx="0" cy="0"/>
          <a:chOff x="0" y="0"/>
          <a:chExt cx="0" cy="0"/>
        </a:xfrm>
      </p:grpSpPr>
      <p:sp>
        <p:nvSpPr>
          <p:cNvPr id="70" name="Google Shape;70;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71" name="Google Shape;71;p19"/>
          <p:cNvSpPr/>
          <p:nvPr/>
        </p:nvSpPr>
        <p:spPr>
          <a:xfrm>
            <a:off x="0" y="329125"/>
            <a:ext cx="69300" cy="4485300"/>
          </a:xfrm>
          <a:prstGeom prst="rect">
            <a:avLst/>
          </a:prstGeom>
          <a:solidFill>
            <a:srgbClr val="34A85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ue" type="blank">
  <p:cSld name="BLANK">
    <p:spTree>
      <p:nvGrpSpPr>
        <p:cNvPr id="1" name="Shape 76"/>
        <p:cNvGrpSpPr/>
        <p:nvPr/>
      </p:nvGrpSpPr>
      <p:grpSpPr>
        <a:xfrm>
          <a:off x="0" y="0"/>
          <a:ext cx="0" cy="0"/>
          <a:chOff x="0" y="0"/>
          <a:chExt cx="0" cy="0"/>
        </a:xfrm>
      </p:grpSpPr>
      <p:sp>
        <p:nvSpPr>
          <p:cNvPr id="77" name="Google Shape;77;p21"/>
          <p:cNvSpPr/>
          <p:nvPr/>
        </p:nvSpPr>
        <p:spPr>
          <a:xfrm>
            <a:off x="0" y="329125"/>
            <a:ext cx="69300" cy="753000"/>
          </a:xfrm>
          <a:prstGeom prst="rect">
            <a:avLst/>
          </a:prstGeom>
          <a:solidFill>
            <a:srgbClr val="4285F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8" name="Google Shape;78;p21"/>
          <p:cNvPicPr preferRelativeResize="0"/>
          <p:nvPr/>
        </p:nvPicPr>
        <p:blipFill rotWithShape="1">
          <a:blip r:embed="rId2">
            <a:alphaModFix/>
          </a:blip>
          <a:srcRect/>
          <a:stretch/>
        </p:blipFill>
        <p:spPr>
          <a:xfrm>
            <a:off x="8421700" y="4841325"/>
            <a:ext cx="464875" cy="15665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9"/>
        <p:cNvGrpSpPr/>
        <p:nvPr/>
      </p:nvGrpSpPr>
      <p:grpSpPr>
        <a:xfrm>
          <a:off x="0" y="0"/>
          <a:ext cx="0" cy="0"/>
          <a:chOff x="0" y="0"/>
          <a:chExt cx="0" cy="0"/>
        </a:xfrm>
      </p:grpSpPr>
      <p:sp>
        <p:nvSpPr>
          <p:cNvPr id="80" name="Google Shape;80;p2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81" name="Google Shape;81;p2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2"/>
        <p:cNvGrpSpPr/>
        <p:nvPr/>
      </p:nvGrpSpPr>
      <p:grpSpPr>
        <a:xfrm>
          <a:off x="0" y="0"/>
          <a:ext cx="0" cy="0"/>
          <a:chOff x="0" y="0"/>
          <a:chExt cx="0" cy="0"/>
        </a:xfrm>
      </p:grpSpPr>
      <p:sp>
        <p:nvSpPr>
          <p:cNvPr id="83" name="Google Shape;83;p2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84" name="Google Shape;84;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5"/>
        <p:cNvGrpSpPr/>
        <p:nvPr/>
      </p:nvGrpSpPr>
      <p:grpSpPr>
        <a:xfrm>
          <a:off x="0" y="0"/>
          <a:ext cx="0" cy="0"/>
          <a:chOff x="0" y="0"/>
          <a:chExt cx="0" cy="0"/>
        </a:xfrm>
      </p:grpSpPr>
      <p:sp>
        <p:nvSpPr>
          <p:cNvPr id="86" name="Google Shape;86;p2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87" name="Google Shape;87;p2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8" name="Google Shape;88;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89"/>
        <p:cNvGrpSpPr/>
        <p:nvPr/>
      </p:nvGrpSpPr>
      <p:grpSpPr>
        <a:xfrm>
          <a:off x="0" y="0"/>
          <a:ext cx="0" cy="0"/>
          <a:chOff x="0" y="0"/>
          <a:chExt cx="0" cy="0"/>
        </a:xfrm>
      </p:grpSpPr>
      <p:sp>
        <p:nvSpPr>
          <p:cNvPr id="90" name="Google Shape;90;p2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91" name="Google Shape;91;p2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92" name="Google Shape;92;p2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93" name="Google Shape;93;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4"/>
        <p:cNvGrpSpPr/>
        <p:nvPr/>
      </p:nvGrpSpPr>
      <p:grpSpPr>
        <a:xfrm>
          <a:off x="0" y="0"/>
          <a:ext cx="0" cy="0"/>
          <a:chOff x="0" y="0"/>
          <a:chExt cx="0" cy="0"/>
        </a:xfrm>
      </p:grpSpPr>
      <p:sp>
        <p:nvSpPr>
          <p:cNvPr id="95" name="Google Shape;95;p2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96" name="Google Shape;96;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97"/>
        <p:cNvGrpSpPr/>
        <p:nvPr/>
      </p:nvGrpSpPr>
      <p:grpSpPr>
        <a:xfrm>
          <a:off x="0" y="0"/>
          <a:ext cx="0" cy="0"/>
          <a:chOff x="0" y="0"/>
          <a:chExt cx="0" cy="0"/>
        </a:xfrm>
      </p:grpSpPr>
      <p:sp>
        <p:nvSpPr>
          <p:cNvPr id="98" name="Google Shape;98;p2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99" name="Google Shape;99;p2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100" name="Google Shape;100;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01"/>
        <p:cNvGrpSpPr/>
        <p:nvPr/>
      </p:nvGrpSpPr>
      <p:grpSpPr>
        <a:xfrm>
          <a:off x="0" y="0"/>
          <a:ext cx="0" cy="0"/>
          <a:chOff x="0" y="0"/>
          <a:chExt cx="0" cy="0"/>
        </a:xfrm>
      </p:grpSpPr>
      <p:sp>
        <p:nvSpPr>
          <p:cNvPr id="102" name="Google Shape;102;p2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03" name="Google Shape;103;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4"/>
        <p:cNvGrpSpPr/>
        <p:nvPr/>
      </p:nvGrpSpPr>
      <p:grpSpPr>
        <a:xfrm>
          <a:off x="0" y="0"/>
          <a:ext cx="0" cy="0"/>
          <a:chOff x="0" y="0"/>
          <a:chExt cx="0" cy="0"/>
        </a:xfrm>
      </p:grpSpPr>
      <p:sp>
        <p:nvSpPr>
          <p:cNvPr id="105" name="Google Shape;105;p2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2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07" name="Google Shape;107;p2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08" name="Google Shape;108;p2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09" name="Google Shape;109;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0"/>
        <p:cNvGrpSpPr/>
        <p:nvPr/>
      </p:nvGrpSpPr>
      <p:grpSpPr>
        <a:xfrm>
          <a:off x="0" y="0"/>
          <a:ext cx="0" cy="0"/>
          <a:chOff x="0" y="0"/>
          <a:chExt cx="0" cy="0"/>
        </a:xfrm>
      </p:grpSpPr>
      <p:sp>
        <p:nvSpPr>
          <p:cNvPr id="111" name="Google Shape;111;p3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112" name="Google Shape;112;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13"/>
        <p:cNvGrpSpPr/>
        <p:nvPr/>
      </p:nvGrpSpPr>
      <p:grpSpPr>
        <a:xfrm>
          <a:off x="0" y="0"/>
          <a:ext cx="0" cy="0"/>
          <a:chOff x="0" y="0"/>
          <a:chExt cx="0" cy="0"/>
        </a:xfrm>
      </p:grpSpPr>
      <p:sp>
        <p:nvSpPr>
          <p:cNvPr id="114" name="Google Shape;114;p3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15" name="Google Shape;115;p3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116" name="Google Shape;116;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Red">
  <p:cSld name="BLANK_1">
    <p:spTree>
      <p:nvGrpSpPr>
        <p:cNvPr id="1" name="Shape 117"/>
        <p:cNvGrpSpPr/>
        <p:nvPr/>
      </p:nvGrpSpPr>
      <p:grpSpPr>
        <a:xfrm>
          <a:off x="0" y="0"/>
          <a:ext cx="0" cy="0"/>
          <a:chOff x="0" y="0"/>
          <a:chExt cx="0" cy="0"/>
        </a:xfrm>
      </p:grpSpPr>
      <p:sp>
        <p:nvSpPr>
          <p:cNvPr id="118" name="Google Shape;118;p32"/>
          <p:cNvSpPr/>
          <p:nvPr/>
        </p:nvSpPr>
        <p:spPr>
          <a:xfrm>
            <a:off x="0" y="329125"/>
            <a:ext cx="69300" cy="753000"/>
          </a:xfrm>
          <a:prstGeom prst="rect">
            <a:avLst/>
          </a:prstGeom>
          <a:solidFill>
            <a:srgbClr val="EA433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19" name="Google Shape;119;p32"/>
          <p:cNvPicPr preferRelativeResize="0"/>
          <p:nvPr/>
        </p:nvPicPr>
        <p:blipFill rotWithShape="1">
          <a:blip r:embed="rId2">
            <a:alphaModFix/>
          </a:blip>
          <a:srcRect/>
          <a:stretch/>
        </p:blipFill>
        <p:spPr>
          <a:xfrm>
            <a:off x="8421700" y="4841325"/>
            <a:ext cx="464875" cy="156650"/>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Red 2">
  <p:cSld name="BLANK_1_2">
    <p:spTree>
      <p:nvGrpSpPr>
        <p:cNvPr id="1" name="Shape 120"/>
        <p:cNvGrpSpPr/>
        <p:nvPr/>
      </p:nvGrpSpPr>
      <p:grpSpPr>
        <a:xfrm>
          <a:off x="0" y="0"/>
          <a:ext cx="0" cy="0"/>
          <a:chOff x="0" y="0"/>
          <a:chExt cx="0" cy="0"/>
        </a:xfrm>
      </p:grpSpPr>
      <p:sp>
        <p:nvSpPr>
          <p:cNvPr id="121" name="Google Shape;121;p33"/>
          <p:cNvSpPr/>
          <p:nvPr/>
        </p:nvSpPr>
        <p:spPr>
          <a:xfrm>
            <a:off x="0" y="329125"/>
            <a:ext cx="69300" cy="4485300"/>
          </a:xfrm>
          <a:prstGeom prst="rect">
            <a:avLst/>
          </a:prstGeom>
          <a:solidFill>
            <a:srgbClr val="EA433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2" name="Google Shape;122;p33"/>
          <p:cNvPicPr preferRelativeResize="0"/>
          <p:nvPr/>
        </p:nvPicPr>
        <p:blipFill rotWithShape="1">
          <a:blip r:embed="rId2">
            <a:alphaModFix/>
          </a:blip>
          <a:srcRect/>
          <a:stretch/>
        </p:blipFill>
        <p:spPr>
          <a:xfrm>
            <a:off x="8421700" y="4841325"/>
            <a:ext cx="464875" cy="15665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Yellow 2">
  <p:cSld name="BLANK_1_2_1">
    <p:spTree>
      <p:nvGrpSpPr>
        <p:cNvPr id="1" name="Shape 123"/>
        <p:cNvGrpSpPr/>
        <p:nvPr/>
      </p:nvGrpSpPr>
      <p:grpSpPr>
        <a:xfrm>
          <a:off x="0" y="0"/>
          <a:ext cx="0" cy="0"/>
          <a:chOff x="0" y="0"/>
          <a:chExt cx="0" cy="0"/>
        </a:xfrm>
      </p:grpSpPr>
      <p:sp>
        <p:nvSpPr>
          <p:cNvPr id="124" name="Google Shape;124;p34"/>
          <p:cNvSpPr/>
          <p:nvPr/>
        </p:nvSpPr>
        <p:spPr>
          <a:xfrm>
            <a:off x="0" y="329125"/>
            <a:ext cx="69300" cy="4485300"/>
          </a:xfrm>
          <a:prstGeom prst="rect">
            <a:avLst/>
          </a:prstGeom>
          <a:solidFill>
            <a:srgbClr val="FBBC0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5" name="Google Shape;125;p34"/>
          <p:cNvPicPr preferRelativeResize="0"/>
          <p:nvPr/>
        </p:nvPicPr>
        <p:blipFill rotWithShape="1">
          <a:blip r:embed="rId2">
            <a:alphaModFix/>
          </a:blip>
          <a:srcRect/>
          <a:stretch/>
        </p:blipFill>
        <p:spPr>
          <a:xfrm>
            <a:off x="8421700" y="4841325"/>
            <a:ext cx="464875" cy="15665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Green 2">
  <p:cSld name="BLANK_1_2_1_1">
    <p:spTree>
      <p:nvGrpSpPr>
        <p:cNvPr id="1" name="Shape 126"/>
        <p:cNvGrpSpPr/>
        <p:nvPr/>
      </p:nvGrpSpPr>
      <p:grpSpPr>
        <a:xfrm>
          <a:off x="0" y="0"/>
          <a:ext cx="0" cy="0"/>
          <a:chOff x="0" y="0"/>
          <a:chExt cx="0" cy="0"/>
        </a:xfrm>
      </p:grpSpPr>
      <p:sp>
        <p:nvSpPr>
          <p:cNvPr id="127" name="Google Shape;127;p35"/>
          <p:cNvSpPr/>
          <p:nvPr/>
        </p:nvSpPr>
        <p:spPr>
          <a:xfrm>
            <a:off x="0" y="329125"/>
            <a:ext cx="69300" cy="4485300"/>
          </a:xfrm>
          <a:prstGeom prst="rect">
            <a:avLst/>
          </a:prstGeom>
          <a:solidFill>
            <a:srgbClr val="34A85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8" name="Google Shape;128;p35"/>
          <p:cNvPicPr preferRelativeResize="0"/>
          <p:nvPr/>
        </p:nvPicPr>
        <p:blipFill rotWithShape="1">
          <a:blip r:embed="rId2">
            <a:alphaModFix/>
          </a:blip>
          <a:srcRect/>
          <a:stretch/>
        </p:blipFill>
        <p:spPr>
          <a:xfrm>
            <a:off x="8421700" y="4841325"/>
            <a:ext cx="464875" cy="15665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Yellow">
  <p:cSld name="BLANK_1_1">
    <p:spTree>
      <p:nvGrpSpPr>
        <p:cNvPr id="1" name="Shape 129"/>
        <p:cNvGrpSpPr/>
        <p:nvPr/>
      </p:nvGrpSpPr>
      <p:grpSpPr>
        <a:xfrm>
          <a:off x="0" y="0"/>
          <a:ext cx="0" cy="0"/>
          <a:chOff x="0" y="0"/>
          <a:chExt cx="0" cy="0"/>
        </a:xfrm>
      </p:grpSpPr>
      <p:sp>
        <p:nvSpPr>
          <p:cNvPr id="130" name="Google Shape;130;p36"/>
          <p:cNvSpPr/>
          <p:nvPr/>
        </p:nvSpPr>
        <p:spPr>
          <a:xfrm>
            <a:off x="0" y="329125"/>
            <a:ext cx="69300" cy="753000"/>
          </a:xfrm>
          <a:prstGeom prst="rect">
            <a:avLst/>
          </a:prstGeom>
          <a:solidFill>
            <a:srgbClr val="F299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31" name="Google Shape;131;p36"/>
          <p:cNvPicPr preferRelativeResize="0"/>
          <p:nvPr/>
        </p:nvPicPr>
        <p:blipFill rotWithShape="1">
          <a:blip r:embed="rId2">
            <a:alphaModFix/>
          </a:blip>
          <a:srcRect/>
          <a:stretch/>
        </p:blipFill>
        <p:spPr>
          <a:xfrm>
            <a:off x="8421700" y="4841325"/>
            <a:ext cx="464875" cy="156650"/>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Green">
  <p:cSld name="BLANK_1_1_1">
    <p:spTree>
      <p:nvGrpSpPr>
        <p:cNvPr id="1" name="Shape 132"/>
        <p:cNvGrpSpPr/>
        <p:nvPr/>
      </p:nvGrpSpPr>
      <p:grpSpPr>
        <a:xfrm>
          <a:off x="0" y="0"/>
          <a:ext cx="0" cy="0"/>
          <a:chOff x="0" y="0"/>
          <a:chExt cx="0" cy="0"/>
        </a:xfrm>
      </p:grpSpPr>
      <p:sp>
        <p:nvSpPr>
          <p:cNvPr id="133" name="Google Shape;133;p37"/>
          <p:cNvSpPr/>
          <p:nvPr/>
        </p:nvSpPr>
        <p:spPr>
          <a:xfrm>
            <a:off x="0" y="329125"/>
            <a:ext cx="69300" cy="753000"/>
          </a:xfrm>
          <a:prstGeom prst="rect">
            <a:avLst/>
          </a:prstGeom>
          <a:solidFill>
            <a:srgbClr val="34A85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34" name="Google Shape;134;p37"/>
          <p:cNvPicPr preferRelativeResize="0"/>
          <p:nvPr/>
        </p:nvPicPr>
        <p:blipFill rotWithShape="1">
          <a:blip r:embed="rId2">
            <a:alphaModFix/>
          </a:blip>
          <a:srcRect/>
          <a:stretch/>
        </p:blipFill>
        <p:spPr>
          <a:xfrm>
            <a:off x="8421700" y="4841325"/>
            <a:ext cx="464875" cy="156650"/>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Gray">
  <p:cSld name="BLANK_1_1_1_1">
    <p:spTree>
      <p:nvGrpSpPr>
        <p:cNvPr id="1" name="Shape 135"/>
        <p:cNvGrpSpPr/>
        <p:nvPr/>
      </p:nvGrpSpPr>
      <p:grpSpPr>
        <a:xfrm>
          <a:off x="0" y="0"/>
          <a:ext cx="0" cy="0"/>
          <a:chOff x="0" y="0"/>
          <a:chExt cx="0" cy="0"/>
        </a:xfrm>
      </p:grpSpPr>
      <p:sp>
        <p:nvSpPr>
          <p:cNvPr id="136" name="Google Shape;136;p38"/>
          <p:cNvSpPr/>
          <p:nvPr/>
        </p:nvSpPr>
        <p:spPr>
          <a:xfrm>
            <a:off x="0" y="329125"/>
            <a:ext cx="69300" cy="753000"/>
          </a:xfrm>
          <a:prstGeom prst="rect">
            <a:avLst/>
          </a:prstGeom>
          <a:solidFill>
            <a:srgbClr val="9AA0A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37" name="Google Shape;137;p38"/>
          <p:cNvPicPr preferRelativeResize="0"/>
          <p:nvPr/>
        </p:nvPicPr>
        <p:blipFill rotWithShape="1">
          <a:blip r:embed="rId2">
            <a:alphaModFix/>
          </a:blip>
          <a:srcRect/>
          <a:stretch/>
        </p:blipFill>
        <p:spPr>
          <a:xfrm>
            <a:off x="8421700" y="4841325"/>
            <a:ext cx="464875" cy="156650"/>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138"/>
        <p:cNvGrpSpPr/>
        <p:nvPr/>
      </p:nvGrpSpPr>
      <p:grpSpPr>
        <a:xfrm>
          <a:off x="0" y="0"/>
          <a:ext cx="0" cy="0"/>
          <a:chOff x="0" y="0"/>
          <a:chExt cx="0" cy="0"/>
        </a:xfrm>
      </p:grpSpPr>
      <p:pic>
        <p:nvPicPr>
          <p:cNvPr id="139" name="Google Shape;139;p39"/>
          <p:cNvPicPr preferRelativeResize="0"/>
          <p:nvPr/>
        </p:nvPicPr>
        <p:blipFill rotWithShape="1">
          <a:blip r:embed="rId2">
            <a:alphaModFix/>
          </a:blip>
          <a:srcRect/>
          <a:stretch/>
        </p:blipFill>
        <p:spPr>
          <a:xfrm>
            <a:off x="8421700" y="4841325"/>
            <a:ext cx="464875" cy="15665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slideLayout" Target="../slideLayouts/slideLayout36.xml"/><Relationship Id="rId3" Type="http://schemas.openxmlformats.org/officeDocument/2006/relationships/slideLayout" Target="../slideLayouts/slideLayout21.xml"/><Relationship Id="rId21" Type="http://schemas.openxmlformats.org/officeDocument/2006/relationships/image" Target="../media/image1.png"/><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theme" Target="../theme/theme2.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10" Type="http://schemas.openxmlformats.org/officeDocument/2006/relationships/slideLayout" Target="../slideLayouts/slideLayout28.xml"/><Relationship Id="rId19" Type="http://schemas.openxmlformats.org/officeDocument/2006/relationships/slideLayout" Target="../slideLayouts/slideLayout37.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72"/>
        <p:cNvGrpSpPr/>
        <p:nvPr/>
      </p:nvGrpSpPr>
      <p:grpSpPr>
        <a:xfrm>
          <a:off x="0" y="0"/>
          <a:ext cx="0" cy="0"/>
          <a:chOff x="0" y="0"/>
          <a:chExt cx="0" cy="0"/>
        </a:xfrm>
      </p:grpSpPr>
      <p:sp>
        <p:nvSpPr>
          <p:cNvPr id="73" name="Google Shape;73;p2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4" name="Google Shape;74;p2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pic>
        <p:nvPicPr>
          <p:cNvPr id="75" name="Google Shape;75;p20"/>
          <p:cNvPicPr preferRelativeResize="0"/>
          <p:nvPr/>
        </p:nvPicPr>
        <p:blipFill rotWithShape="1">
          <a:blip r:embed="rId21">
            <a:alphaModFix/>
          </a:blip>
          <a:srcRect/>
          <a:stretch/>
        </p:blipFill>
        <p:spPr>
          <a:xfrm>
            <a:off x="8421698" y="4841325"/>
            <a:ext cx="464876" cy="15299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 id="2147483682" r:id="rId17"/>
    <p:sldLayoutId id="2147483683" r:id="rId18"/>
    <p:sldLayoutId id="2147483684"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285F4"/>
        </a:solidFill>
        <a:effectLst/>
      </p:bgPr>
    </p:bg>
    <p:spTree>
      <p:nvGrpSpPr>
        <p:cNvPr id="1" name="Shape 143"/>
        <p:cNvGrpSpPr/>
        <p:nvPr/>
      </p:nvGrpSpPr>
      <p:grpSpPr>
        <a:xfrm>
          <a:off x="0" y="0"/>
          <a:ext cx="0" cy="0"/>
          <a:chOff x="0" y="0"/>
          <a:chExt cx="0" cy="0"/>
        </a:xfrm>
      </p:grpSpPr>
      <p:sp>
        <p:nvSpPr>
          <p:cNvPr id="144" name="Google Shape;144;p40"/>
          <p:cNvSpPr txBox="1"/>
          <p:nvPr/>
        </p:nvSpPr>
        <p:spPr>
          <a:xfrm>
            <a:off x="517675" y="1819738"/>
            <a:ext cx="4931100" cy="738900"/>
          </a:xfrm>
          <a:prstGeom prst="rect">
            <a:avLst/>
          </a:prstGeom>
          <a:noFill/>
          <a:ln>
            <a:noFill/>
          </a:ln>
        </p:spPr>
        <p:txBody>
          <a:bodyPr spcFirstLastPara="1" wrap="square" lIns="0" tIns="91425" rIns="91425" bIns="91425"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 sz="2300" b="0" i="0" u="none" strike="noStrike" cap="none">
                <a:solidFill>
                  <a:srgbClr val="FFFFFF"/>
                </a:solidFill>
                <a:latin typeface="Arial"/>
                <a:ea typeface="Open Sans SemiBold"/>
                <a:cs typeface="Open Sans SemiBold"/>
                <a:sym typeface="Open Sans SemiBold"/>
              </a:rPr>
              <a:t>AI-Powered Lead Qualification Automation</a:t>
            </a:r>
            <a:endParaRPr sz="3600" b="0" i="0" u="none" strike="noStrike" cap="none">
              <a:solidFill>
                <a:srgbClr val="FFFFFF"/>
              </a:solidFill>
              <a:latin typeface="Open Sans SemiBold"/>
              <a:ea typeface="Open Sans SemiBold"/>
              <a:cs typeface="Open Sans SemiBold"/>
              <a:sym typeface="Open Sans SemiBold"/>
            </a:endParaRPr>
          </a:p>
        </p:txBody>
      </p:sp>
      <p:sp>
        <p:nvSpPr>
          <p:cNvPr id="145" name="Google Shape;145;p40"/>
          <p:cNvSpPr txBox="1"/>
          <p:nvPr/>
        </p:nvSpPr>
        <p:spPr>
          <a:xfrm>
            <a:off x="517675" y="2769663"/>
            <a:ext cx="4931100" cy="400079"/>
          </a:xfrm>
          <a:prstGeom prst="rect">
            <a:avLst/>
          </a:prstGeom>
          <a:noFill/>
          <a:ln>
            <a:noFill/>
          </a:ln>
        </p:spPr>
        <p:txBody>
          <a:bodyPr spcFirstLastPara="1" wrap="square" lIns="0"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1400" b="0" i="0" u="none" strike="noStrike" cap="none" dirty="0">
                <a:solidFill>
                  <a:srgbClr val="FFFFFF"/>
                </a:solidFill>
                <a:latin typeface="Arial"/>
                <a:ea typeface="Open Sans"/>
                <a:cs typeface="Open Sans"/>
                <a:sym typeface="Open Sans"/>
              </a:rPr>
              <a:t>AI AGENT CASE STUDY  |  </a:t>
            </a:r>
            <a:r>
              <a:rPr lang="en" dirty="0">
                <a:solidFill>
                  <a:srgbClr val="FFFFFF"/>
                </a:solidFill>
                <a:ea typeface="Open Sans"/>
                <a:cs typeface="Open Sans"/>
                <a:sym typeface="Open Sans"/>
              </a:rPr>
              <a:t>Krishna verma</a:t>
            </a:r>
            <a:endParaRPr sz="2400" b="0" i="0" u="none" strike="noStrike" cap="none" dirty="0">
              <a:solidFill>
                <a:srgbClr val="FFFFFF"/>
              </a:solidFill>
              <a:latin typeface="Open Sans"/>
              <a:ea typeface="Open Sans"/>
              <a:cs typeface="Open Sans"/>
              <a:sym typeface="Open Sans"/>
            </a:endParaRPr>
          </a:p>
        </p:txBody>
      </p:sp>
      <p:cxnSp>
        <p:nvCxnSpPr>
          <p:cNvPr id="146" name="Google Shape;146;p40"/>
          <p:cNvCxnSpPr/>
          <p:nvPr/>
        </p:nvCxnSpPr>
        <p:spPr>
          <a:xfrm rot="10800000">
            <a:off x="517650" y="2670825"/>
            <a:ext cx="5808000" cy="0"/>
          </a:xfrm>
          <a:prstGeom prst="straightConnector1">
            <a:avLst/>
          </a:prstGeom>
          <a:noFill/>
          <a:ln w="19050" cap="flat" cmpd="sng">
            <a:solidFill>
              <a:srgbClr val="FFFFFF"/>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41"/>
          <p:cNvSpPr/>
          <p:nvPr/>
        </p:nvSpPr>
        <p:spPr>
          <a:xfrm>
            <a:off x="5517175" y="638725"/>
            <a:ext cx="3380400" cy="41013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p41"/>
          <p:cNvSpPr txBox="1"/>
          <p:nvPr/>
        </p:nvSpPr>
        <p:spPr>
          <a:xfrm>
            <a:off x="1231075" y="1604200"/>
            <a:ext cx="4086000" cy="969600"/>
          </a:xfrm>
          <a:prstGeom prst="rect">
            <a:avLst/>
          </a:prstGeom>
          <a:noFill/>
          <a:ln>
            <a:noFill/>
          </a:ln>
        </p:spPr>
        <p:txBody>
          <a:bodyPr spcFirstLastPara="1" wrap="square" lIns="0"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400" b="0" i="0" u="none" strike="noStrike" cap="none">
                <a:solidFill>
                  <a:srgbClr val="4285F4"/>
                </a:solidFill>
                <a:latin typeface="Arial"/>
                <a:ea typeface="Open Sans SemiBold"/>
                <a:cs typeface="Open Sans SemiBold"/>
                <a:sym typeface="Open Sans SemiBold"/>
              </a:rPr>
              <a:t>The solution:</a:t>
            </a:r>
            <a:endParaRPr sz="1400" b="0" i="0" u="none" strike="noStrike" cap="none">
              <a:solidFill>
                <a:srgbClr val="4285F4"/>
              </a:solidFill>
              <a:latin typeface="Open Sans SemiBold"/>
              <a:ea typeface="Open Sans SemiBold"/>
              <a:cs typeface="Open Sans SemiBold"/>
              <a:sym typeface="Open Sans SemiBold"/>
            </a:endParaRPr>
          </a:p>
          <a:p>
            <a:pPr marL="0" marR="0" lvl="0" indent="0" algn="l" rtl="0">
              <a:lnSpc>
                <a:spcPct val="150000"/>
              </a:lnSpc>
              <a:spcBef>
                <a:spcPts val="0"/>
              </a:spcBef>
              <a:spcAft>
                <a:spcPts val="0"/>
              </a:spcAft>
              <a:buClr>
                <a:schemeClr val="dk1"/>
              </a:buClr>
              <a:buSzPts val="1100"/>
              <a:buFont typeface="Arial"/>
              <a:buNone/>
            </a:pPr>
            <a:r>
              <a:rPr lang="en" sz="1050" b="0" i="0" u="none" strike="noStrike" cap="none">
                <a:solidFill>
                  <a:srgbClr val="3C4043"/>
                </a:solidFill>
                <a:latin typeface="Arial"/>
                <a:ea typeface="Open Sans"/>
                <a:cs typeface="Open Sans"/>
                <a:sym typeface="Open Sans"/>
              </a:rPr>
              <a:t>An n8n AI-agent workflow that validates inbound leads, checks consent and duplicates, calculates a transparent qualification score, creates an AI-assisted summary, and routes high-priority leads for human approval.</a:t>
            </a:r>
            <a:endParaRPr sz="1200" b="1" i="0" u="none" strike="noStrike" cap="none">
              <a:solidFill>
                <a:srgbClr val="1967D2"/>
              </a:solidFill>
              <a:latin typeface="Open Sans"/>
              <a:ea typeface="Open Sans"/>
              <a:cs typeface="Open Sans"/>
              <a:sym typeface="Open Sans"/>
            </a:endParaRPr>
          </a:p>
        </p:txBody>
      </p:sp>
      <p:sp>
        <p:nvSpPr>
          <p:cNvPr id="153" name="Google Shape;153;p41"/>
          <p:cNvSpPr txBox="1"/>
          <p:nvPr/>
        </p:nvSpPr>
        <p:spPr>
          <a:xfrm>
            <a:off x="517675" y="524350"/>
            <a:ext cx="6155100" cy="554100"/>
          </a:xfrm>
          <a:prstGeom prst="rect">
            <a:avLst/>
          </a:prstGeom>
          <a:noFill/>
          <a:ln>
            <a:noFill/>
          </a:ln>
        </p:spPr>
        <p:txBody>
          <a:bodyPr spcFirstLastPara="1" wrap="square" lIns="0"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rgbClr val="5F6368"/>
                </a:solidFill>
                <a:latin typeface="Open Sans"/>
                <a:ea typeface="Open Sans"/>
                <a:cs typeface="Open Sans"/>
                <a:sym typeface="Open Sans"/>
              </a:rPr>
              <a:t>Project overview</a:t>
            </a:r>
            <a:endParaRPr sz="2400" b="0" i="0" u="none" strike="noStrike" cap="none">
              <a:solidFill>
                <a:srgbClr val="5F6368"/>
              </a:solidFill>
              <a:latin typeface="Open Sans"/>
              <a:ea typeface="Open Sans"/>
              <a:cs typeface="Open Sans"/>
              <a:sym typeface="Open Sans"/>
            </a:endParaRPr>
          </a:p>
        </p:txBody>
      </p:sp>
      <p:sp>
        <p:nvSpPr>
          <p:cNvPr id="154" name="Google Shape;154;p41"/>
          <p:cNvSpPr/>
          <p:nvPr/>
        </p:nvSpPr>
        <p:spPr>
          <a:xfrm>
            <a:off x="517675" y="1604200"/>
            <a:ext cx="513300" cy="513300"/>
          </a:xfrm>
          <a:prstGeom prst="ellipse">
            <a:avLst/>
          </a:prstGeom>
          <a:solidFill>
            <a:srgbClr val="4285F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p41"/>
          <p:cNvSpPr txBox="1"/>
          <p:nvPr/>
        </p:nvSpPr>
        <p:spPr>
          <a:xfrm>
            <a:off x="1231075" y="3172985"/>
            <a:ext cx="3446100" cy="969600"/>
          </a:xfrm>
          <a:prstGeom prst="rect">
            <a:avLst/>
          </a:prstGeom>
          <a:noFill/>
          <a:ln>
            <a:noFill/>
          </a:ln>
        </p:spPr>
        <p:txBody>
          <a:bodyPr spcFirstLastPara="1" wrap="square" lIns="0" tIns="91425" rIns="91425" bIns="91425" anchor="t" anchorCtr="0">
            <a:spAutoFit/>
          </a:bodyPr>
          <a:lstStyle/>
          <a:p>
            <a:pPr marL="0" marR="0" lvl="0" indent="0" algn="l" rtl="0">
              <a:lnSpc>
                <a:spcPct val="150000"/>
              </a:lnSpc>
              <a:spcBef>
                <a:spcPts val="0"/>
              </a:spcBef>
              <a:spcAft>
                <a:spcPts val="0"/>
              </a:spcAft>
              <a:buClr>
                <a:schemeClr val="dk1"/>
              </a:buClr>
              <a:buSzPts val="1100"/>
              <a:buFont typeface="Arial"/>
              <a:buNone/>
            </a:pPr>
            <a:r>
              <a:rPr lang="en" sz="1400" b="0" i="0" u="none" strike="noStrike" cap="none">
                <a:solidFill>
                  <a:srgbClr val="4285F4"/>
                </a:solidFill>
                <a:latin typeface="Arial"/>
                <a:ea typeface="Open Sans SemiBold"/>
                <a:cs typeface="Open Sans SemiBold"/>
                <a:sym typeface="Open Sans SemiBold"/>
              </a:rPr>
              <a:t>Project scope:</a:t>
            </a:r>
            <a:endParaRPr sz="1400" b="0" i="0" u="none" strike="noStrike" cap="none">
              <a:solidFill>
                <a:srgbClr val="1967D2"/>
              </a:solidFill>
              <a:latin typeface="Open Sans SemiBold"/>
              <a:ea typeface="Open Sans SemiBold"/>
              <a:cs typeface="Open Sans SemiBold"/>
              <a:sym typeface="Open Sans SemiBold"/>
            </a:endParaRPr>
          </a:p>
          <a:p>
            <a:pPr marL="0" marR="0" lvl="0" indent="0" algn="l" rtl="0">
              <a:lnSpc>
                <a:spcPct val="150000"/>
              </a:lnSpc>
              <a:spcBef>
                <a:spcPts val="0"/>
              </a:spcBef>
              <a:spcAft>
                <a:spcPts val="0"/>
              </a:spcAft>
              <a:buClr>
                <a:schemeClr val="dk1"/>
              </a:buClr>
              <a:buSzPts val="1100"/>
              <a:buFont typeface="Arial"/>
              <a:buNone/>
            </a:pPr>
            <a:r>
              <a:rPr lang="en" sz="1100" b="0" i="0" u="none" strike="noStrike" cap="none">
                <a:solidFill>
                  <a:srgbClr val="3C4043"/>
                </a:solidFill>
                <a:latin typeface="Arial"/>
                <a:ea typeface="Open Sans"/>
                <a:cs typeface="Open Sans"/>
                <a:sym typeface="Open Sans"/>
              </a:rPr>
              <a:t>Prototype build, synthetic test runs, and production-readiness review | 2026</a:t>
            </a:r>
            <a:endParaRPr sz="1200" b="1" i="0" u="none" strike="noStrike" cap="none">
              <a:solidFill>
                <a:srgbClr val="4285F4"/>
              </a:solidFill>
              <a:latin typeface="Open Sans"/>
              <a:ea typeface="Open Sans"/>
              <a:cs typeface="Open Sans"/>
              <a:sym typeface="Open Sans"/>
            </a:endParaRPr>
          </a:p>
        </p:txBody>
      </p:sp>
      <p:sp>
        <p:nvSpPr>
          <p:cNvPr id="156" name="Google Shape;156;p41"/>
          <p:cNvSpPr/>
          <p:nvPr/>
        </p:nvSpPr>
        <p:spPr>
          <a:xfrm>
            <a:off x="517675" y="3172985"/>
            <a:ext cx="513300" cy="513300"/>
          </a:xfrm>
          <a:prstGeom prst="ellipse">
            <a:avLst/>
          </a:prstGeom>
          <a:solidFill>
            <a:srgbClr val="4285F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 name="Google Shape;157;p41"/>
          <p:cNvSpPr/>
          <p:nvPr/>
        </p:nvSpPr>
        <p:spPr>
          <a:xfrm>
            <a:off x="643388" y="3299236"/>
            <a:ext cx="261874" cy="260801"/>
          </a:xfrm>
          <a:custGeom>
            <a:avLst/>
            <a:gdLst/>
            <a:ahLst/>
            <a:cxnLst/>
            <a:rect l="l" t="t" r="r" b="b"/>
            <a:pathLst>
              <a:path w="1048" h="1045" extrusionOk="0">
                <a:moveTo>
                  <a:pt x="522" y="0"/>
                </a:moveTo>
                <a:cubicBezTo>
                  <a:pt x="234" y="0"/>
                  <a:pt x="0" y="234"/>
                  <a:pt x="0" y="522"/>
                </a:cubicBezTo>
                <a:cubicBezTo>
                  <a:pt x="0" y="810"/>
                  <a:pt x="234" y="1044"/>
                  <a:pt x="522" y="1044"/>
                </a:cubicBezTo>
                <a:cubicBezTo>
                  <a:pt x="810" y="1044"/>
                  <a:pt x="1044" y="810"/>
                  <a:pt x="1044" y="522"/>
                </a:cubicBezTo>
                <a:cubicBezTo>
                  <a:pt x="1047" y="234"/>
                  <a:pt x="812" y="0"/>
                  <a:pt x="522" y="0"/>
                </a:cubicBezTo>
                <a:close/>
                <a:moveTo>
                  <a:pt x="525" y="940"/>
                </a:moveTo>
                <a:cubicBezTo>
                  <a:pt x="293" y="940"/>
                  <a:pt x="107" y="754"/>
                  <a:pt x="107" y="522"/>
                </a:cubicBezTo>
                <a:cubicBezTo>
                  <a:pt x="107" y="291"/>
                  <a:pt x="293" y="104"/>
                  <a:pt x="525" y="104"/>
                </a:cubicBezTo>
                <a:cubicBezTo>
                  <a:pt x="756" y="104"/>
                  <a:pt x="942" y="290"/>
                  <a:pt x="942" y="522"/>
                </a:cubicBezTo>
                <a:cubicBezTo>
                  <a:pt x="942" y="753"/>
                  <a:pt x="753" y="940"/>
                  <a:pt x="525" y="940"/>
                </a:cubicBezTo>
                <a:close/>
                <a:moveTo>
                  <a:pt x="471" y="259"/>
                </a:moveTo>
                <a:lnTo>
                  <a:pt x="471" y="573"/>
                </a:lnTo>
                <a:lnTo>
                  <a:pt x="745" y="736"/>
                </a:lnTo>
                <a:lnTo>
                  <a:pt x="784" y="671"/>
                </a:lnTo>
                <a:lnTo>
                  <a:pt x="550" y="533"/>
                </a:lnTo>
                <a:lnTo>
                  <a:pt x="550" y="259"/>
                </a:lnTo>
                <a:lnTo>
                  <a:pt x="471" y="259"/>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8" name="Google Shape;158;p41"/>
          <p:cNvSpPr/>
          <p:nvPr/>
        </p:nvSpPr>
        <p:spPr>
          <a:xfrm>
            <a:off x="610514" y="1752262"/>
            <a:ext cx="327623" cy="217176"/>
          </a:xfrm>
          <a:custGeom>
            <a:avLst/>
            <a:gdLst/>
            <a:ahLst/>
            <a:cxnLst/>
            <a:rect l="l" t="t" r="r" b="b"/>
            <a:pathLst>
              <a:path w="1149" h="765" extrusionOk="0">
                <a:moveTo>
                  <a:pt x="191" y="96"/>
                </a:moveTo>
                <a:lnTo>
                  <a:pt x="1052" y="96"/>
                </a:lnTo>
                <a:lnTo>
                  <a:pt x="1052" y="0"/>
                </a:lnTo>
                <a:lnTo>
                  <a:pt x="191" y="0"/>
                </a:lnTo>
                <a:cubicBezTo>
                  <a:pt x="138" y="0"/>
                  <a:pt x="95" y="42"/>
                  <a:pt x="95" y="96"/>
                </a:cubicBezTo>
                <a:lnTo>
                  <a:pt x="95" y="621"/>
                </a:lnTo>
                <a:lnTo>
                  <a:pt x="0" y="621"/>
                </a:lnTo>
                <a:lnTo>
                  <a:pt x="0" y="764"/>
                </a:lnTo>
                <a:lnTo>
                  <a:pt x="668" y="764"/>
                </a:lnTo>
                <a:lnTo>
                  <a:pt x="668" y="621"/>
                </a:lnTo>
                <a:lnTo>
                  <a:pt x="191" y="621"/>
                </a:lnTo>
                <a:lnTo>
                  <a:pt x="191" y="96"/>
                </a:lnTo>
                <a:close/>
                <a:moveTo>
                  <a:pt x="1100" y="189"/>
                </a:moveTo>
                <a:lnTo>
                  <a:pt x="812" y="189"/>
                </a:lnTo>
                <a:cubicBezTo>
                  <a:pt x="787" y="189"/>
                  <a:pt x="764" y="211"/>
                  <a:pt x="764" y="237"/>
                </a:cubicBezTo>
                <a:lnTo>
                  <a:pt x="764" y="714"/>
                </a:lnTo>
                <a:cubicBezTo>
                  <a:pt x="764" y="739"/>
                  <a:pt x="787" y="762"/>
                  <a:pt x="812" y="762"/>
                </a:cubicBezTo>
                <a:lnTo>
                  <a:pt x="1100" y="762"/>
                </a:lnTo>
                <a:cubicBezTo>
                  <a:pt x="1126" y="762"/>
                  <a:pt x="1148" y="739"/>
                  <a:pt x="1148" y="714"/>
                </a:cubicBezTo>
                <a:lnTo>
                  <a:pt x="1148" y="237"/>
                </a:lnTo>
                <a:cubicBezTo>
                  <a:pt x="1145" y="211"/>
                  <a:pt x="1126" y="189"/>
                  <a:pt x="1100" y="189"/>
                </a:cubicBezTo>
                <a:close/>
                <a:moveTo>
                  <a:pt x="1052" y="621"/>
                </a:moveTo>
                <a:lnTo>
                  <a:pt x="860" y="621"/>
                </a:lnTo>
                <a:lnTo>
                  <a:pt x="860" y="285"/>
                </a:lnTo>
                <a:lnTo>
                  <a:pt x="1052" y="285"/>
                </a:lnTo>
                <a:lnTo>
                  <a:pt x="1052" y="621"/>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9" name="Google Shape;159;p41"/>
          <p:cNvSpPr txBox="1"/>
          <p:nvPr/>
        </p:nvSpPr>
        <p:spPr>
          <a:xfrm>
            <a:off x="6301825" y="2412325"/>
            <a:ext cx="1811100" cy="554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5F6368"/>
              </a:solidFill>
              <a:latin typeface="Open Sans"/>
              <a:ea typeface="Open Sans"/>
              <a:cs typeface="Open Sans"/>
              <a:sym typeface="Open Sans"/>
            </a:endParaRPr>
          </a:p>
        </p:txBody>
      </p:sp>
      <p:sp>
        <p:nvSpPr>
          <p:cNvPr id="160" name="Rounded Rectangle 159"/>
          <p:cNvSpPr/>
          <p:nvPr/>
        </p:nvSpPr>
        <p:spPr>
          <a:xfrm>
            <a:off x="5815584" y="859536"/>
            <a:ext cx="2779776" cy="530352"/>
          </a:xfrm>
          <a:prstGeom prst="round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lstStyle/>
          <a:p>
            <a:pPr algn="l"/>
            <a:r>
              <a:rPr sz="1019" b="0">
                <a:solidFill>
                  <a:srgbClr val="3C4043"/>
                </a:solidFill>
                <a:latin typeface="Arial"/>
              </a:rPr>
              <a:t>1  INTAKE
Webhook / lead form</a:t>
            </a:r>
          </a:p>
        </p:txBody>
      </p:sp>
      <p:cxnSp>
        <p:nvCxnSpPr>
          <p:cNvPr id="161" name="Connector 160"/>
          <p:cNvCxnSpPr/>
          <p:nvPr/>
        </p:nvCxnSpPr>
        <p:spPr>
          <a:xfrm>
            <a:off x="7205472" y="1389888"/>
            <a:ext cx="0" cy="146304"/>
          </a:xfrm>
          <a:prstGeom prst="line">
            <a:avLst/>
          </a:prstGeom>
          <a:ln w="13335">
            <a:solidFill>
              <a:srgbClr val="9AA0A6"/>
            </a:solidFill>
          </a:ln>
        </p:spPr>
        <p:style>
          <a:lnRef idx="2">
            <a:schemeClr val="accent1"/>
          </a:lnRef>
          <a:fillRef idx="0">
            <a:schemeClr val="accent1"/>
          </a:fillRef>
          <a:effectRef idx="1">
            <a:schemeClr val="accent1"/>
          </a:effectRef>
          <a:fontRef idx="minor">
            <a:schemeClr val="tx1"/>
          </a:fontRef>
        </p:style>
      </p:cxnSp>
      <p:sp>
        <p:nvSpPr>
          <p:cNvPr id="162" name="Rounded Rectangle 161"/>
          <p:cNvSpPr/>
          <p:nvPr/>
        </p:nvSpPr>
        <p:spPr>
          <a:xfrm>
            <a:off x="5815584" y="1563624"/>
            <a:ext cx="2779776" cy="530352"/>
          </a:xfrm>
          <a:prstGeom prst="round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lstStyle/>
          <a:p>
            <a:pPr algn="l"/>
            <a:r>
              <a:rPr sz="1019" b="0">
                <a:solidFill>
                  <a:srgbClr val="3C4043"/>
                </a:solidFill>
                <a:latin typeface="Arial"/>
              </a:rPr>
              <a:t>2  VALIDATE
Normalize + deduplicate</a:t>
            </a:r>
          </a:p>
        </p:txBody>
      </p:sp>
      <p:cxnSp>
        <p:nvCxnSpPr>
          <p:cNvPr id="163" name="Connector 162"/>
          <p:cNvCxnSpPr/>
          <p:nvPr/>
        </p:nvCxnSpPr>
        <p:spPr>
          <a:xfrm>
            <a:off x="7205472" y="2093976"/>
            <a:ext cx="0" cy="146304"/>
          </a:xfrm>
          <a:prstGeom prst="line">
            <a:avLst/>
          </a:prstGeom>
          <a:ln w="13335">
            <a:solidFill>
              <a:srgbClr val="9AA0A6"/>
            </a:solidFill>
          </a:ln>
        </p:spPr>
        <p:style>
          <a:lnRef idx="2">
            <a:schemeClr val="accent1"/>
          </a:lnRef>
          <a:fillRef idx="0">
            <a:schemeClr val="accent1"/>
          </a:fillRef>
          <a:effectRef idx="1">
            <a:schemeClr val="accent1"/>
          </a:effectRef>
          <a:fontRef idx="minor">
            <a:schemeClr val="tx1"/>
          </a:fontRef>
        </p:style>
      </p:cxnSp>
      <p:sp>
        <p:nvSpPr>
          <p:cNvPr id="164" name="Rounded Rectangle 163"/>
          <p:cNvSpPr/>
          <p:nvPr/>
        </p:nvSpPr>
        <p:spPr>
          <a:xfrm>
            <a:off x="5815584" y="2267712"/>
            <a:ext cx="2779776" cy="530352"/>
          </a:xfrm>
          <a:prstGeom prst="roundRect">
            <a:avLst/>
          </a:prstGeom>
          <a:solidFill>
            <a:srgbClr val="FCE8E6"/>
          </a:solidFill>
          <a:ln w="12700">
            <a:solidFill>
              <a:srgbClr val="EA4335"/>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lstStyle/>
          <a:p>
            <a:pPr algn="l"/>
            <a:r>
              <a:rPr sz="1019" b="0">
                <a:solidFill>
                  <a:srgbClr val="3C4043"/>
                </a:solidFill>
                <a:latin typeface="Arial"/>
              </a:rPr>
              <a:t>3  SAFETY
Consent and opt-out gate</a:t>
            </a:r>
          </a:p>
        </p:txBody>
      </p:sp>
      <p:cxnSp>
        <p:nvCxnSpPr>
          <p:cNvPr id="165" name="Connector 164"/>
          <p:cNvCxnSpPr/>
          <p:nvPr/>
        </p:nvCxnSpPr>
        <p:spPr>
          <a:xfrm>
            <a:off x="7205472" y="2798064"/>
            <a:ext cx="0" cy="146304"/>
          </a:xfrm>
          <a:prstGeom prst="line">
            <a:avLst/>
          </a:prstGeom>
          <a:ln w="13335">
            <a:solidFill>
              <a:srgbClr val="9AA0A6"/>
            </a:solidFill>
          </a:ln>
        </p:spPr>
        <p:style>
          <a:lnRef idx="2">
            <a:schemeClr val="accent1"/>
          </a:lnRef>
          <a:fillRef idx="0">
            <a:schemeClr val="accent1"/>
          </a:fillRef>
          <a:effectRef idx="1">
            <a:schemeClr val="accent1"/>
          </a:effectRef>
          <a:fontRef idx="minor">
            <a:schemeClr val="tx1"/>
          </a:fontRef>
        </p:style>
      </p:cxnSp>
      <p:sp>
        <p:nvSpPr>
          <p:cNvPr id="166" name="Rounded Rectangle 165"/>
          <p:cNvSpPr/>
          <p:nvPr/>
        </p:nvSpPr>
        <p:spPr>
          <a:xfrm>
            <a:off x="5815584" y="2971800"/>
            <a:ext cx="2779776" cy="530352"/>
          </a:xfrm>
          <a:prstGeom prst="roundRect">
            <a:avLst/>
          </a:prstGeom>
          <a:solidFill>
            <a:srgbClr val="FEF7E0"/>
          </a:solidFill>
          <a:ln w="12700">
            <a:solidFill>
              <a:srgbClr val="A56A00"/>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lstStyle/>
          <a:p>
            <a:pPr algn="l"/>
            <a:r>
              <a:rPr sz="1019" b="0">
                <a:solidFill>
                  <a:srgbClr val="3C4043"/>
                </a:solidFill>
                <a:latin typeface="Arial"/>
              </a:rPr>
              <a:t>4  QUALIFY
Scoring + AI summary</a:t>
            </a:r>
          </a:p>
        </p:txBody>
      </p:sp>
      <p:cxnSp>
        <p:nvCxnSpPr>
          <p:cNvPr id="167" name="Connector 166"/>
          <p:cNvCxnSpPr/>
          <p:nvPr/>
        </p:nvCxnSpPr>
        <p:spPr>
          <a:xfrm>
            <a:off x="7205472" y="3502152"/>
            <a:ext cx="0" cy="146304"/>
          </a:xfrm>
          <a:prstGeom prst="line">
            <a:avLst/>
          </a:prstGeom>
          <a:ln w="13335">
            <a:solidFill>
              <a:srgbClr val="9AA0A6"/>
            </a:solidFill>
          </a:ln>
        </p:spPr>
        <p:style>
          <a:lnRef idx="2">
            <a:schemeClr val="accent1"/>
          </a:lnRef>
          <a:fillRef idx="0">
            <a:schemeClr val="accent1"/>
          </a:fillRef>
          <a:effectRef idx="1">
            <a:schemeClr val="accent1"/>
          </a:effectRef>
          <a:fontRef idx="minor">
            <a:schemeClr val="tx1"/>
          </a:fontRef>
        </p:style>
      </p:cxnSp>
      <p:sp>
        <p:nvSpPr>
          <p:cNvPr id="168" name="Rounded Rectangle 167"/>
          <p:cNvSpPr/>
          <p:nvPr/>
        </p:nvSpPr>
        <p:spPr>
          <a:xfrm>
            <a:off x="5815584" y="3675887"/>
            <a:ext cx="2779776" cy="530352"/>
          </a:xfrm>
          <a:prstGeom prst="roundRect">
            <a:avLst/>
          </a:prstGeom>
          <a:solidFill>
            <a:srgbClr val="E6F4EA"/>
          </a:solidFill>
          <a:ln w="12700">
            <a:solidFill>
              <a:srgbClr val="34A853"/>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lstStyle/>
          <a:p>
            <a:pPr algn="l"/>
            <a:r>
              <a:rPr sz="1019" b="0">
                <a:solidFill>
                  <a:srgbClr val="3C4043"/>
                </a:solidFill>
                <a:latin typeface="Arial"/>
              </a:rPr>
              <a:t>5  ROUTE
Approval queue / nurture</a:t>
            </a:r>
          </a:p>
        </p:txBody>
      </p:sp>
      <p:sp>
        <p:nvSpPr>
          <p:cNvPr id="169" name="Rectangle 168"/>
          <p:cNvSpPr/>
          <p:nvPr/>
        </p:nvSpPr>
        <p:spPr>
          <a:xfrm>
            <a:off x="8339327" y="4718304"/>
            <a:ext cx="713232" cy="292608"/>
          </a:xfrm>
          <a:prstGeom prst="rect">
            <a:avLst/>
          </a:prstGeom>
          <a:solidFill>
            <a:srgbClr val="FFFFFF"/>
          </a:solidFill>
          <a:ln w="1270">
            <a:solidFill>
              <a:srgbClr val="FFFFFF"/>
            </a:solidFill>
          </a:ln>
        </p:spPr>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42"/>
          <p:cNvSpPr txBox="1"/>
          <p:nvPr/>
        </p:nvSpPr>
        <p:spPr>
          <a:xfrm>
            <a:off x="517675" y="2237975"/>
            <a:ext cx="3446100" cy="969600"/>
          </a:xfrm>
          <a:prstGeom prst="rect">
            <a:avLst/>
          </a:prstGeom>
          <a:noFill/>
          <a:ln>
            <a:noFill/>
          </a:ln>
        </p:spPr>
        <p:txBody>
          <a:bodyPr spcFirstLastPara="1" wrap="square" lIns="0" tIns="91425" rIns="91425" bIns="91425" anchor="t" anchorCtr="0">
            <a:spAutoFit/>
          </a:bodyPr>
          <a:lstStyle/>
          <a:p>
            <a:pPr marL="0" marR="0" lvl="0" indent="0" algn="l" rtl="0">
              <a:lnSpc>
                <a:spcPct val="150000"/>
              </a:lnSpc>
              <a:spcBef>
                <a:spcPts val="0"/>
              </a:spcBef>
              <a:spcAft>
                <a:spcPts val="0"/>
              </a:spcAft>
              <a:buClr>
                <a:schemeClr val="dk1"/>
              </a:buClr>
              <a:buSzPts val="1100"/>
              <a:buFont typeface="Arial"/>
              <a:buNone/>
            </a:pPr>
            <a:r>
              <a:rPr lang="en" sz="1400" b="0" i="0" u="none" strike="noStrike" cap="none">
                <a:solidFill>
                  <a:srgbClr val="4285F4"/>
                </a:solidFill>
                <a:latin typeface="Arial"/>
                <a:ea typeface="Open Sans SemiBold"/>
                <a:cs typeface="Open Sans SemiBold"/>
                <a:sym typeface="Open Sans SemiBold"/>
              </a:rPr>
              <a:t>The problem:</a:t>
            </a:r>
            <a:endParaRPr sz="1400" b="0" i="0" u="none" strike="noStrike" cap="none">
              <a:solidFill>
                <a:srgbClr val="1967D2"/>
              </a:solidFill>
              <a:latin typeface="Open Sans SemiBold"/>
              <a:ea typeface="Open Sans SemiBold"/>
              <a:cs typeface="Open Sans SemiBold"/>
              <a:sym typeface="Open Sans SemiBold"/>
            </a:endParaRPr>
          </a:p>
          <a:p>
            <a:pPr marL="0" marR="0" lvl="0" indent="0" algn="l" rtl="0">
              <a:lnSpc>
                <a:spcPct val="150000"/>
              </a:lnSpc>
              <a:spcBef>
                <a:spcPts val="0"/>
              </a:spcBef>
              <a:spcAft>
                <a:spcPts val="0"/>
              </a:spcAft>
              <a:buClr>
                <a:srgbClr val="000000"/>
              </a:buClr>
              <a:buSzPts val="1200"/>
              <a:buFont typeface="Arial"/>
              <a:buNone/>
            </a:pPr>
            <a:r>
              <a:rPr lang="en" sz="1200" b="0" i="0" u="none" strike="noStrike" cap="none">
                <a:solidFill>
                  <a:srgbClr val="3C4043"/>
                </a:solidFill>
                <a:latin typeface="Arial"/>
                <a:ea typeface="Open Sans"/>
                <a:cs typeface="Open Sans"/>
                <a:sym typeface="Open Sans"/>
              </a:rPr>
              <a:t>Inbound leads can arrive incomplete, duplicated, or without clear consent. Manual triage creates inconsistent scoring, slow follow-up, and avoidable outreach risk.</a:t>
            </a:r>
            <a:endParaRPr sz="1200" b="1" i="0" u="none" strike="noStrike" cap="none">
              <a:solidFill>
                <a:srgbClr val="4285F4"/>
              </a:solidFill>
              <a:latin typeface="Open Sans"/>
              <a:ea typeface="Open Sans"/>
              <a:cs typeface="Open Sans"/>
              <a:sym typeface="Open Sans"/>
            </a:endParaRPr>
          </a:p>
        </p:txBody>
      </p:sp>
      <p:sp>
        <p:nvSpPr>
          <p:cNvPr id="165" name="Google Shape;165;p42"/>
          <p:cNvSpPr txBox="1"/>
          <p:nvPr/>
        </p:nvSpPr>
        <p:spPr>
          <a:xfrm>
            <a:off x="517675" y="524350"/>
            <a:ext cx="6155100" cy="554100"/>
          </a:xfrm>
          <a:prstGeom prst="rect">
            <a:avLst/>
          </a:prstGeom>
          <a:noFill/>
          <a:ln>
            <a:noFill/>
          </a:ln>
        </p:spPr>
        <p:txBody>
          <a:bodyPr spcFirstLastPara="1" wrap="square" lIns="0"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rgbClr val="5F6368"/>
                </a:solidFill>
                <a:latin typeface="Open Sans"/>
                <a:ea typeface="Open Sans"/>
                <a:cs typeface="Open Sans"/>
                <a:sym typeface="Open Sans"/>
              </a:rPr>
              <a:t>Project overview</a:t>
            </a:r>
            <a:endParaRPr sz="2400" b="0" i="0" u="none" strike="noStrike" cap="none">
              <a:solidFill>
                <a:srgbClr val="5F6368"/>
              </a:solidFill>
              <a:latin typeface="Open Sans"/>
              <a:ea typeface="Open Sans"/>
              <a:cs typeface="Open Sans"/>
              <a:sym typeface="Open Sans"/>
            </a:endParaRPr>
          </a:p>
        </p:txBody>
      </p:sp>
      <p:sp>
        <p:nvSpPr>
          <p:cNvPr id="166" name="Google Shape;166;p42"/>
          <p:cNvSpPr/>
          <p:nvPr/>
        </p:nvSpPr>
        <p:spPr>
          <a:xfrm>
            <a:off x="517675" y="1534000"/>
            <a:ext cx="513300" cy="513300"/>
          </a:xfrm>
          <a:prstGeom prst="ellipse">
            <a:avLst/>
          </a:prstGeom>
          <a:solidFill>
            <a:srgbClr val="4285F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p42"/>
          <p:cNvSpPr txBox="1"/>
          <p:nvPr/>
        </p:nvSpPr>
        <p:spPr>
          <a:xfrm>
            <a:off x="4572000" y="2237975"/>
            <a:ext cx="3446100" cy="969600"/>
          </a:xfrm>
          <a:prstGeom prst="rect">
            <a:avLst/>
          </a:prstGeom>
          <a:noFill/>
          <a:ln>
            <a:noFill/>
          </a:ln>
        </p:spPr>
        <p:txBody>
          <a:bodyPr spcFirstLastPara="1" wrap="square" lIns="0"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400" b="0" i="0" u="none" strike="noStrike" cap="none">
                <a:solidFill>
                  <a:srgbClr val="4285F4"/>
                </a:solidFill>
                <a:latin typeface="Arial"/>
                <a:ea typeface="Open Sans SemiBold"/>
                <a:cs typeface="Open Sans SemiBold"/>
                <a:sym typeface="Open Sans SemiBold"/>
              </a:rPr>
              <a:t>The goal:</a:t>
            </a:r>
            <a:endParaRPr sz="1400" b="0" i="0" u="none" strike="noStrike" cap="none">
              <a:solidFill>
                <a:srgbClr val="1967D2"/>
              </a:solidFill>
              <a:latin typeface="Open Sans SemiBold"/>
              <a:ea typeface="Open Sans SemiBold"/>
              <a:cs typeface="Open Sans SemiBold"/>
              <a:sym typeface="Open Sans SemiBold"/>
            </a:endParaRPr>
          </a:p>
          <a:p>
            <a:pPr marL="0" marR="0" lvl="0" indent="0" algn="l" rtl="0">
              <a:lnSpc>
                <a:spcPct val="150000"/>
              </a:lnSpc>
              <a:spcBef>
                <a:spcPts val="0"/>
              </a:spcBef>
              <a:spcAft>
                <a:spcPts val="0"/>
              </a:spcAft>
              <a:buClr>
                <a:srgbClr val="000000"/>
              </a:buClr>
              <a:buSzPts val="1200"/>
              <a:buFont typeface="Arial"/>
              <a:buNone/>
            </a:pPr>
            <a:r>
              <a:rPr lang="en" sz="1200" b="0" i="0" u="none" strike="noStrike" cap="none">
                <a:solidFill>
                  <a:srgbClr val="3C4043"/>
                </a:solidFill>
                <a:latin typeface="Arial"/>
                <a:ea typeface="Open Sans"/>
                <a:cs typeface="Open Sans"/>
                <a:sym typeface="Open Sans"/>
              </a:rPr>
              <a:t>Build a controlled AI-agent workflow that qualifies eligible leads consistently, makes each decision traceable, suppresses opt-outs, and keeps humans in control of outbound communication.</a:t>
            </a:r>
            <a:endParaRPr sz="1200" b="1" i="0" u="none" strike="noStrike" cap="none">
              <a:solidFill>
                <a:srgbClr val="4285F4"/>
              </a:solidFill>
              <a:latin typeface="Open Sans"/>
              <a:ea typeface="Open Sans"/>
              <a:cs typeface="Open Sans"/>
              <a:sym typeface="Open Sans"/>
            </a:endParaRPr>
          </a:p>
        </p:txBody>
      </p:sp>
      <p:sp>
        <p:nvSpPr>
          <p:cNvPr id="168" name="Google Shape;168;p42"/>
          <p:cNvSpPr/>
          <p:nvPr/>
        </p:nvSpPr>
        <p:spPr>
          <a:xfrm>
            <a:off x="4572000" y="1534000"/>
            <a:ext cx="513300" cy="513300"/>
          </a:xfrm>
          <a:prstGeom prst="ellipse">
            <a:avLst/>
          </a:prstGeom>
          <a:solidFill>
            <a:srgbClr val="4285F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 name="Google Shape;169;p42"/>
          <p:cNvSpPr/>
          <p:nvPr/>
        </p:nvSpPr>
        <p:spPr>
          <a:xfrm>
            <a:off x="4684213" y="1653525"/>
            <a:ext cx="288875" cy="274249"/>
          </a:xfrm>
          <a:custGeom>
            <a:avLst/>
            <a:gdLst/>
            <a:ahLst/>
            <a:cxnLst/>
            <a:rect l="l" t="t" r="r" b="b"/>
            <a:pathLst>
              <a:path w="1045" h="993" extrusionOk="0">
                <a:moveTo>
                  <a:pt x="522" y="798"/>
                </a:moveTo>
                <a:lnTo>
                  <a:pt x="844" y="992"/>
                </a:lnTo>
                <a:lnTo>
                  <a:pt x="759" y="626"/>
                </a:lnTo>
                <a:lnTo>
                  <a:pt x="1044" y="378"/>
                </a:lnTo>
                <a:lnTo>
                  <a:pt x="669" y="347"/>
                </a:lnTo>
                <a:lnTo>
                  <a:pt x="522" y="0"/>
                </a:lnTo>
                <a:lnTo>
                  <a:pt x="375" y="347"/>
                </a:lnTo>
                <a:lnTo>
                  <a:pt x="0" y="378"/>
                </a:lnTo>
                <a:lnTo>
                  <a:pt x="285" y="626"/>
                </a:lnTo>
                <a:lnTo>
                  <a:pt x="200" y="992"/>
                </a:lnTo>
                <a:lnTo>
                  <a:pt x="522" y="798"/>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70" name="Google Shape;170;p42"/>
          <p:cNvSpPr/>
          <p:nvPr/>
        </p:nvSpPr>
        <p:spPr>
          <a:xfrm>
            <a:off x="640475" y="1656801"/>
            <a:ext cx="267700" cy="267700"/>
          </a:xfrm>
          <a:custGeom>
            <a:avLst/>
            <a:gdLst/>
            <a:ahLst/>
            <a:cxnLst/>
            <a:rect l="l" t="t" r="r" b="b"/>
            <a:pathLst>
              <a:path w="209550" h="209550" extrusionOk="0">
                <a:moveTo>
                  <a:pt x="115315" y="52353"/>
                </a:moveTo>
                <a:lnTo>
                  <a:pt x="115315" y="115315"/>
                </a:lnTo>
                <a:lnTo>
                  <a:pt x="94235" y="115315"/>
                </a:lnTo>
                <a:lnTo>
                  <a:pt x="94235" y="52353"/>
                </a:lnTo>
                <a:close/>
                <a:moveTo>
                  <a:pt x="115315" y="136256"/>
                </a:moveTo>
                <a:lnTo>
                  <a:pt x="115315" y="157197"/>
                </a:lnTo>
                <a:lnTo>
                  <a:pt x="94235" y="157197"/>
                </a:lnTo>
                <a:lnTo>
                  <a:pt x="94235" y="136256"/>
                </a:lnTo>
                <a:close/>
                <a:moveTo>
                  <a:pt x="104705" y="0"/>
                </a:moveTo>
                <a:lnTo>
                  <a:pt x="99400" y="140"/>
                </a:lnTo>
                <a:lnTo>
                  <a:pt x="94095" y="558"/>
                </a:lnTo>
                <a:lnTo>
                  <a:pt x="88790" y="1256"/>
                </a:lnTo>
                <a:lnTo>
                  <a:pt x="83625" y="2094"/>
                </a:lnTo>
                <a:lnTo>
                  <a:pt x="78599" y="3351"/>
                </a:lnTo>
                <a:lnTo>
                  <a:pt x="73573" y="4747"/>
                </a:lnTo>
                <a:lnTo>
                  <a:pt x="68687" y="6422"/>
                </a:lnTo>
                <a:lnTo>
                  <a:pt x="63940" y="8237"/>
                </a:lnTo>
                <a:lnTo>
                  <a:pt x="59333" y="10331"/>
                </a:lnTo>
                <a:lnTo>
                  <a:pt x="54866" y="12704"/>
                </a:lnTo>
                <a:lnTo>
                  <a:pt x="50398" y="15217"/>
                </a:lnTo>
                <a:lnTo>
                  <a:pt x="46210" y="17870"/>
                </a:lnTo>
                <a:lnTo>
                  <a:pt x="42022" y="20801"/>
                </a:lnTo>
                <a:lnTo>
                  <a:pt x="38113" y="23873"/>
                </a:lnTo>
                <a:lnTo>
                  <a:pt x="34343" y="27223"/>
                </a:lnTo>
                <a:lnTo>
                  <a:pt x="30714" y="30714"/>
                </a:lnTo>
                <a:lnTo>
                  <a:pt x="27223" y="34343"/>
                </a:lnTo>
                <a:lnTo>
                  <a:pt x="23873" y="38113"/>
                </a:lnTo>
                <a:lnTo>
                  <a:pt x="20801" y="42161"/>
                </a:lnTo>
                <a:lnTo>
                  <a:pt x="17870" y="46210"/>
                </a:lnTo>
                <a:lnTo>
                  <a:pt x="15217" y="50398"/>
                </a:lnTo>
                <a:lnTo>
                  <a:pt x="12704" y="54866"/>
                </a:lnTo>
                <a:lnTo>
                  <a:pt x="10331" y="59333"/>
                </a:lnTo>
                <a:lnTo>
                  <a:pt x="8237" y="63940"/>
                </a:lnTo>
                <a:lnTo>
                  <a:pt x="6282" y="68826"/>
                </a:lnTo>
                <a:lnTo>
                  <a:pt x="4747" y="73573"/>
                </a:lnTo>
                <a:lnTo>
                  <a:pt x="3351" y="78599"/>
                </a:lnTo>
                <a:lnTo>
                  <a:pt x="2094" y="83625"/>
                </a:lnTo>
                <a:lnTo>
                  <a:pt x="1256" y="88790"/>
                </a:lnTo>
                <a:lnTo>
                  <a:pt x="558" y="94095"/>
                </a:lnTo>
                <a:lnTo>
                  <a:pt x="140" y="99400"/>
                </a:lnTo>
                <a:lnTo>
                  <a:pt x="0" y="104845"/>
                </a:lnTo>
                <a:lnTo>
                  <a:pt x="140" y="110150"/>
                </a:lnTo>
                <a:lnTo>
                  <a:pt x="558" y="115455"/>
                </a:lnTo>
                <a:lnTo>
                  <a:pt x="1256" y="120760"/>
                </a:lnTo>
                <a:lnTo>
                  <a:pt x="2094" y="125925"/>
                </a:lnTo>
                <a:lnTo>
                  <a:pt x="3351" y="130951"/>
                </a:lnTo>
                <a:lnTo>
                  <a:pt x="4747" y="135977"/>
                </a:lnTo>
                <a:lnTo>
                  <a:pt x="6282" y="140863"/>
                </a:lnTo>
                <a:lnTo>
                  <a:pt x="8237" y="145610"/>
                </a:lnTo>
                <a:lnTo>
                  <a:pt x="10331" y="150217"/>
                </a:lnTo>
                <a:lnTo>
                  <a:pt x="12704" y="154684"/>
                </a:lnTo>
                <a:lnTo>
                  <a:pt x="15217" y="159152"/>
                </a:lnTo>
                <a:lnTo>
                  <a:pt x="17870" y="163340"/>
                </a:lnTo>
                <a:lnTo>
                  <a:pt x="20801" y="167528"/>
                </a:lnTo>
                <a:lnTo>
                  <a:pt x="23873" y="171437"/>
                </a:lnTo>
                <a:lnTo>
                  <a:pt x="27223" y="175207"/>
                </a:lnTo>
                <a:lnTo>
                  <a:pt x="30714" y="178836"/>
                </a:lnTo>
                <a:lnTo>
                  <a:pt x="34343" y="182327"/>
                </a:lnTo>
                <a:lnTo>
                  <a:pt x="38113" y="185677"/>
                </a:lnTo>
                <a:lnTo>
                  <a:pt x="42022" y="188749"/>
                </a:lnTo>
                <a:lnTo>
                  <a:pt x="46210" y="191680"/>
                </a:lnTo>
                <a:lnTo>
                  <a:pt x="50398" y="194333"/>
                </a:lnTo>
                <a:lnTo>
                  <a:pt x="54866" y="196846"/>
                </a:lnTo>
                <a:lnTo>
                  <a:pt x="59333" y="199219"/>
                </a:lnTo>
                <a:lnTo>
                  <a:pt x="63940" y="201313"/>
                </a:lnTo>
                <a:lnTo>
                  <a:pt x="68687" y="203268"/>
                </a:lnTo>
                <a:lnTo>
                  <a:pt x="73573" y="204803"/>
                </a:lnTo>
                <a:lnTo>
                  <a:pt x="78599" y="206199"/>
                </a:lnTo>
                <a:lnTo>
                  <a:pt x="83625" y="207456"/>
                </a:lnTo>
                <a:lnTo>
                  <a:pt x="88790" y="208294"/>
                </a:lnTo>
                <a:lnTo>
                  <a:pt x="94095" y="208992"/>
                </a:lnTo>
                <a:lnTo>
                  <a:pt x="99400" y="209410"/>
                </a:lnTo>
                <a:lnTo>
                  <a:pt x="104705" y="209550"/>
                </a:lnTo>
                <a:lnTo>
                  <a:pt x="110150" y="209410"/>
                </a:lnTo>
                <a:lnTo>
                  <a:pt x="115455" y="208992"/>
                </a:lnTo>
                <a:lnTo>
                  <a:pt x="120760" y="208294"/>
                </a:lnTo>
                <a:lnTo>
                  <a:pt x="125925" y="207456"/>
                </a:lnTo>
                <a:lnTo>
                  <a:pt x="130951" y="206199"/>
                </a:lnTo>
                <a:lnTo>
                  <a:pt x="135977" y="204803"/>
                </a:lnTo>
                <a:lnTo>
                  <a:pt x="140724" y="203268"/>
                </a:lnTo>
                <a:lnTo>
                  <a:pt x="145610" y="201313"/>
                </a:lnTo>
                <a:lnTo>
                  <a:pt x="150217" y="199219"/>
                </a:lnTo>
                <a:lnTo>
                  <a:pt x="154684" y="196846"/>
                </a:lnTo>
                <a:lnTo>
                  <a:pt x="159152" y="194333"/>
                </a:lnTo>
                <a:lnTo>
                  <a:pt x="163340" y="191680"/>
                </a:lnTo>
                <a:lnTo>
                  <a:pt x="167389" y="188749"/>
                </a:lnTo>
                <a:lnTo>
                  <a:pt x="171437" y="185677"/>
                </a:lnTo>
                <a:lnTo>
                  <a:pt x="175207" y="182327"/>
                </a:lnTo>
                <a:lnTo>
                  <a:pt x="178836" y="178836"/>
                </a:lnTo>
                <a:lnTo>
                  <a:pt x="182327" y="175207"/>
                </a:lnTo>
                <a:lnTo>
                  <a:pt x="185677" y="171437"/>
                </a:lnTo>
                <a:lnTo>
                  <a:pt x="188749" y="167528"/>
                </a:lnTo>
                <a:lnTo>
                  <a:pt x="191680" y="163340"/>
                </a:lnTo>
                <a:lnTo>
                  <a:pt x="194333" y="159152"/>
                </a:lnTo>
                <a:lnTo>
                  <a:pt x="196846" y="154684"/>
                </a:lnTo>
                <a:lnTo>
                  <a:pt x="199219" y="150217"/>
                </a:lnTo>
                <a:lnTo>
                  <a:pt x="201313" y="145610"/>
                </a:lnTo>
                <a:lnTo>
                  <a:pt x="203128" y="140863"/>
                </a:lnTo>
                <a:lnTo>
                  <a:pt x="204803" y="135977"/>
                </a:lnTo>
                <a:lnTo>
                  <a:pt x="206199" y="130951"/>
                </a:lnTo>
                <a:lnTo>
                  <a:pt x="207456" y="125925"/>
                </a:lnTo>
                <a:lnTo>
                  <a:pt x="208294" y="120760"/>
                </a:lnTo>
                <a:lnTo>
                  <a:pt x="208992" y="115455"/>
                </a:lnTo>
                <a:lnTo>
                  <a:pt x="209410" y="110150"/>
                </a:lnTo>
                <a:lnTo>
                  <a:pt x="209550" y="104845"/>
                </a:lnTo>
                <a:lnTo>
                  <a:pt x="209410" y="99400"/>
                </a:lnTo>
                <a:lnTo>
                  <a:pt x="208992" y="94095"/>
                </a:lnTo>
                <a:lnTo>
                  <a:pt x="208294" y="88790"/>
                </a:lnTo>
                <a:lnTo>
                  <a:pt x="207456" y="83625"/>
                </a:lnTo>
                <a:lnTo>
                  <a:pt x="206199" y="78599"/>
                </a:lnTo>
                <a:lnTo>
                  <a:pt x="204803" y="73573"/>
                </a:lnTo>
                <a:lnTo>
                  <a:pt x="203128" y="68826"/>
                </a:lnTo>
                <a:lnTo>
                  <a:pt x="201313" y="63940"/>
                </a:lnTo>
                <a:lnTo>
                  <a:pt x="199219" y="59333"/>
                </a:lnTo>
                <a:lnTo>
                  <a:pt x="196846" y="54866"/>
                </a:lnTo>
                <a:lnTo>
                  <a:pt x="194333" y="50398"/>
                </a:lnTo>
                <a:lnTo>
                  <a:pt x="191680" y="46210"/>
                </a:lnTo>
                <a:lnTo>
                  <a:pt x="188749" y="42161"/>
                </a:lnTo>
                <a:lnTo>
                  <a:pt x="185677" y="38113"/>
                </a:lnTo>
                <a:lnTo>
                  <a:pt x="182327" y="34343"/>
                </a:lnTo>
                <a:lnTo>
                  <a:pt x="178836" y="30714"/>
                </a:lnTo>
                <a:lnTo>
                  <a:pt x="175207" y="27223"/>
                </a:lnTo>
                <a:lnTo>
                  <a:pt x="171437" y="23873"/>
                </a:lnTo>
                <a:lnTo>
                  <a:pt x="167389" y="20801"/>
                </a:lnTo>
                <a:lnTo>
                  <a:pt x="163340" y="17870"/>
                </a:lnTo>
                <a:lnTo>
                  <a:pt x="159152" y="15217"/>
                </a:lnTo>
                <a:lnTo>
                  <a:pt x="154684" y="12704"/>
                </a:lnTo>
                <a:lnTo>
                  <a:pt x="150217" y="10331"/>
                </a:lnTo>
                <a:lnTo>
                  <a:pt x="145610" y="8237"/>
                </a:lnTo>
                <a:lnTo>
                  <a:pt x="140724" y="6422"/>
                </a:lnTo>
                <a:lnTo>
                  <a:pt x="135977" y="4747"/>
                </a:lnTo>
                <a:lnTo>
                  <a:pt x="130951" y="3351"/>
                </a:lnTo>
                <a:lnTo>
                  <a:pt x="125925" y="2094"/>
                </a:lnTo>
                <a:lnTo>
                  <a:pt x="120760" y="1256"/>
                </a:lnTo>
                <a:lnTo>
                  <a:pt x="115455" y="558"/>
                </a:lnTo>
                <a:lnTo>
                  <a:pt x="110150" y="140"/>
                </a:lnTo>
                <a:lnTo>
                  <a:pt x="104705" y="0"/>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43"/>
          <p:cNvSpPr txBox="1"/>
          <p:nvPr/>
        </p:nvSpPr>
        <p:spPr>
          <a:xfrm>
            <a:off x="517675" y="2237975"/>
            <a:ext cx="3446100" cy="969600"/>
          </a:xfrm>
          <a:prstGeom prst="rect">
            <a:avLst/>
          </a:prstGeom>
          <a:noFill/>
          <a:ln>
            <a:noFill/>
          </a:ln>
        </p:spPr>
        <p:txBody>
          <a:bodyPr spcFirstLastPara="1" wrap="square" lIns="0"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400" b="0" i="0" u="none" strike="noStrike" cap="none">
                <a:solidFill>
                  <a:srgbClr val="4285F4"/>
                </a:solidFill>
                <a:latin typeface="Arial"/>
                <a:ea typeface="Open Sans SemiBold"/>
                <a:cs typeface="Open Sans SemiBold"/>
                <a:sym typeface="Open Sans SemiBold"/>
              </a:rPr>
              <a:t>My role:</a:t>
            </a:r>
            <a:endParaRPr sz="1400" b="0" i="0" u="none" strike="noStrike" cap="none">
              <a:solidFill>
                <a:srgbClr val="1967D2"/>
              </a:solidFill>
              <a:latin typeface="Open Sans SemiBold"/>
              <a:ea typeface="Open Sans SemiBold"/>
              <a:cs typeface="Open Sans SemiBold"/>
              <a:sym typeface="Open Sans SemiBold"/>
            </a:endParaRPr>
          </a:p>
          <a:p>
            <a:pPr marL="0" marR="0" lvl="0" indent="0" algn="l" rtl="0">
              <a:lnSpc>
                <a:spcPct val="150000"/>
              </a:lnSpc>
              <a:spcBef>
                <a:spcPts val="0"/>
              </a:spcBef>
              <a:spcAft>
                <a:spcPts val="0"/>
              </a:spcAft>
              <a:buClr>
                <a:srgbClr val="000000"/>
              </a:buClr>
              <a:buSzPts val="1200"/>
              <a:buFont typeface="Arial"/>
              <a:buNone/>
            </a:pPr>
            <a:r>
              <a:rPr lang="en" sz="1200" b="0" i="0" u="none" strike="noStrike" cap="none">
                <a:solidFill>
                  <a:srgbClr val="3C4043"/>
                </a:solidFill>
                <a:latin typeface="Arial"/>
                <a:ea typeface="Open Sans"/>
                <a:cs typeface="Open Sans"/>
                <a:sym typeface="Open Sans"/>
              </a:rPr>
              <a:t>AI Automation Project Owner and n8n Workflow Designer. I translated the business process into a node-based automation and its testable decision rules.</a:t>
            </a:r>
            <a:endParaRPr sz="1200" b="1" i="0" u="none" strike="noStrike" cap="none">
              <a:solidFill>
                <a:srgbClr val="4285F4"/>
              </a:solidFill>
              <a:latin typeface="Open Sans"/>
              <a:ea typeface="Open Sans"/>
              <a:cs typeface="Open Sans"/>
              <a:sym typeface="Open Sans"/>
            </a:endParaRPr>
          </a:p>
        </p:txBody>
      </p:sp>
      <p:sp>
        <p:nvSpPr>
          <p:cNvPr id="176" name="Google Shape;176;p43"/>
          <p:cNvSpPr txBox="1"/>
          <p:nvPr/>
        </p:nvSpPr>
        <p:spPr>
          <a:xfrm>
            <a:off x="517675" y="524350"/>
            <a:ext cx="6155100" cy="554100"/>
          </a:xfrm>
          <a:prstGeom prst="rect">
            <a:avLst/>
          </a:prstGeom>
          <a:noFill/>
          <a:ln>
            <a:noFill/>
          </a:ln>
        </p:spPr>
        <p:txBody>
          <a:bodyPr spcFirstLastPara="1" wrap="square" lIns="0"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rgbClr val="5F6368"/>
                </a:solidFill>
                <a:latin typeface="Open Sans"/>
                <a:ea typeface="Open Sans"/>
                <a:cs typeface="Open Sans"/>
                <a:sym typeface="Open Sans"/>
              </a:rPr>
              <a:t>Project overview</a:t>
            </a:r>
            <a:endParaRPr sz="2400" b="0" i="0" u="none" strike="noStrike" cap="none">
              <a:solidFill>
                <a:srgbClr val="5F6368"/>
              </a:solidFill>
              <a:latin typeface="Open Sans"/>
              <a:ea typeface="Open Sans"/>
              <a:cs typeface="Open Sans"/>
              <a:sym typeface="Open Sans"/>
            </a:endParaRPr>
          </a:p>
        </p:txBody>
      </p:sp>
      <p:sp>
        <p:nvSpPr>
          <p:cNvPr id="177" name="Google Shape;177;p43"/>
          <p:cNvSpPr/>
          <p:nvPr/>
        </p:nvSpPr>
        <p:spPr>
          <a:xfrm>
            <a:off x="517675" y="1534000"/>
            <a:ext cx="513300" cy="513300"/>
          </a:xfrm>
          <a:prstGeom prst="ellipse">
            <a:avLst/>
          </a:prstGeom>
          <a:solidFill>
            <a:srgbClr val="4285F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 name="Google Shape;178;p43"/>
          <p:cNvSpPr txBox="1"/>
          <p:nvPr/>
        </p:nvSpPr>
        <p:spPr>
          <a:xfrm>
            <a:off x="4572000" y="2237975"/>
            <a:ext cx="3446100" cy="1246800"/>
          </a:xfrm>
          <a:prstGeom prst="rect">
            <a:avLst/>
          </a:prstGeom>
          <a:noFill/>
          <a:ln>
            <a:noFill/>
          </a:ln>
        </p:spPr>
        <p:txBody>
          <a:bodyPr spcFirstLastPara="1" wrap="square" lIns="0"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400" b="0" i="0" u="none" strike="noStrike" cap="none">
                <a:solidFill>
                  <a:srgbClr val="4285F4"/>
                </a:solidFill>
                <a:latin typeface="Arial"/>
                <a:ea typeface="Open Sans SemiBold"/>
                <a:cs typeface="Open Sans SemiBold"/>
                <a:sym typeface="Open Sans SemiBold"/>
              </a:rPr>
              <a:t>Responsibilities:</a:t>
            </a:r>
            <a:endParaRPr sz="1400" b="0" i="0" u="none" strike="noStrike" cap="none">
              <a:solidFill>
                <a:srgbClr val="1967D2"/>
              </a:solidFill>
              <a:latin typeface="Open Sans SemiBold"/>
              <a:ea typeface="Open Sans SemiBold"/>
              <a:cs typeface="Open Sans SemiBold"/>
              <a:sym typeface="Open Sans SemiBold"/>
            </a:endParaRPr>
          </a:p>
          <a:p>
            <a:pPr marL="0" marR="0" lvl="0" indent="0" algn="l" rtl="0">
              <a:lnSpc>
                <a:spcPct val="150000"/>
              </a:lnSpc>
              <a:spcBef>
                <a:spcPts val="0"/>
              </a:spcBef>
              <a:spcAft>
                <a:spcPts val="0"/>
              </a:spcAft>
              <a:buClr>
                <a:srgbClr val="000000"/>
              </a:buClr>
              <a:buSzPts val="1200"/>
              <a:buFont typeface="Arial"/>
              <a:buNone/>
            </a:pPr>
            <a:r>
              <a:rPr lang="en" sz="1150" b="0" i="0" u="none" strike="noStrike" cap="none">
                <a:solidFill>
                  <a:srgbClr val="3C4043"/>
                </a:solidFill>
                <a:latin typeface="Arial"/>
                <a:ea typeface="Open Sans"/>
                <a:cs typeface="Open Sans"/>
                <a:sym typeface="Open Sans"/>
              </a:rPr>
              <a:t>Workflow architecture, native-node configuration, scoring logic, AI prompt/structured output, consent safeguards, error logging, synthetic testing, setup documentation, and launch readiness.</a:t>
            </a:r>
            <a:endParaRPr sz="1200" b="1" i="0" u="none" strike="noStrike" cap="none">
              <a:solidFill>
                <a:srgbClr val="4285F4"/>
              </a:solidFill>
              <a:latin typeface="Open Sans"/>
              <a:ea typeface="Open Sans"/>
              <a:cs typeface="Open Sans"/>
              <a:sym typeface="Open Sans"/>
            </a:endParaRPr>
          </a:p>
        </p:txBody>
      </p:sp>
      <p:sp>
        <p:nvSpPr>
          <p:cNvPr id="179" name="Google Shape;179;p43"/>
          <p:cNvSpPr/>
          <p:nvPr/>
        </p:nvSpPr>
        <p:spPr>
          <a:xfrm>
            <a:off x="4572000" y="1534000"/>
            <a:ext cx="513300" cy="513300"/>
          </a:xfrm>
          <a:prstGeom prst="ellipse">
            <a:avLst/>
          </a:prstGeom>
          <a:solidFill>
            <a:srgbClr val="4285F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 name="Google Shape;180;p43"/>
          <p:cNvSpPr/>
          <p:nvPr/>
        </p:nvSpPr>
        <p:spPr>
          <a:xfrm>
            <a:off x="645441" y="1662440"/>
            <a:ext cx="257757" cy="256421"/>
          </a:xfrm>
          <a:custGeom>
            <a:avLst/>
            <a:gdLst/>
            <a:ahLst/>
            <a:cxnLst/>
            <a:rect l="l" t="t" r="r" b="b"/>
            <a:pathLst>
              <a:path w="851" h="847" extrusionOk="0">
                <a:moveTo>
                  <a:pt x="423" y="423"/>
                </a:moveTo>
                <a:cubicBezTo>
                  <a:pt x="542" y="423"/>
                  <a:pt x="635" y="327"/>
                  <a:pt x="635" y="212"/>
                </a:cubicBezTo>
                <a:cubicBezTo>
                  <a:pt x="635" y="93"/>
                  <a:pt x="539" y="0"/>
                  <a:pt x="423" y="0"/>
                </a:cubicBezTo>
                <a:cubicBezTo>
                  <a:pt x="308" y="0"/>
                  <a:pt x="212" y="96"/>
                  <a:pt x="212" y="212"/>
                </a:cubicBezTo>
                <a:cubicBezTo>
                  <a:pt x="209" y="327"/>
                  <a:pt x="305" y="423"/>
                  <a:pt x="423" y="423"/>
                </a:cubicBezTo>
                <a:close/>
                <a:moveTo>
                  <a:pt x="423" y="528"/>
                </a:moveTo>
                <a:cubicBezTo>
                  <a:pt x="282" y="528"/>
                  <a:pt x="0" y="598"/>
                  <a:pt x="0" y="738"/>
                </a:cubicBezTo>
                <a:lnTo>
                  <a:pt x="0" y="846"/>
                </a:lnTo>
                <a:lnTo>
                  <a:pt x="850" y="846"/>
                </a:lnTo>
                <a:lnTo>
                  <a:pt x="850" y="738"/>
                </a:lnTo>
                <a:cubicBezTo>
                  <a:pt x="847" y="601"/>
                  <a:pt x="564" y="528"/>
                  <a:pt x="423" y="528"/>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81" name="Google Shape;181;p43"/>
          <p:cNvSpPr/>
          <p:nvPr/>
        </p:nvSpPr>
        <p:spPr>
          <a:xfrm>
            <a:off x="4685687" y="1710781"/>
            <a:ext cx="285935" cy="159748"/>
          </a:xfrm>
          <a:custGeom>
            <a:avLst/>
            <a:gdLst/>
            <a:ahLst/>
            <a:cxnLst/>
            <a:rect l="l" t="t" r="r" b="b"/>
            <a:pathLst>
              <a:path w="941" h="526" extrusionOk="0">
                <a:moveTo>
                  <a:pt x="0" y="316"/>
                </a:moveTo>
                <a:lnTo>
                  <a:pt x="105" y="316"/>
                </a:lnTo>
                <a:lnTo>
                  <a:pt x="105" y="212"/>
                </a:lnTo>
                <a:lnTo>
                  <a:pt x="0" y="212"/>
                </a:lnTo>
                <a:lnTo>
                  <a:pt x="0" y="316"/>
                </a:lnTo>
                <a:close/>
                <a:moveTo>
                  <a:pt x="0" y="525"/>
                </a:moveTo>
                <a:lnTo>
                  <a:pt x="105" y="525"/>
                </a:lnTo>
                <a:lnTo>
                  <a:pt x="105" y="421"/>
                </a:lnTo>
                <a:lnTo>
                  <a:pt x="0" y="421"/>
                </a:lnTo>
                <a:lnTo>
                  <a:pt x="0" y="525"/>
                </a:lnTo>
                <a:close/>
                <a:moveTo>
                  <a:pt x="0" y="105"/>
                </a:moveTo>
                <a:lnTo>
                  <a:pt x="105" y="105"/>
                </a:lnTo>
                <a:lnTo>
                  <a:pt x="105" y="0"/>
                </a:lnTo>
                <a:lnTo>
                  <a:pt x="0" y="0"/>
                </a:lnTo>
                <a:lnTo>
                  <a:pt x="0" y="105"/>
                </a:lnTo>
                <a:close/>
                <a:moveTo>
                  <a:pt x="209" y="316"/>
                </a:moveTo>
                <a:lnTo>
                  <a:pt x="940" y="316"/>
                </a:lnTo>
                <a:lnTo>
                  <a:pt x="940" y="212"/>
                </a:lnTo>
                <a:lnTo>
                  <a:pt x="209" y="212"/>
                </a:lnTo>
                <a:lnTo>
                  <a:pt x="209" y="316"/>
                </a:lnTo>
                <a:close/>
                <a:moveTo>
                  <a:pt x="209" y="525"/>
                </a:moveTo>
                <a:lnTo>
                  <a:pt x="940" y="525"/>
                </a:lnTo>
                <a:lnTo>
                  <a:pt x="940" y="421"/>
                </a:lnTo>
                <a:lnTo>
                  <a:pt x="209" y="421"/>
                </a:lnTo>
                <a:lnTo>
                  <a:pt x="209" y="525"/>
                </a:lnTo>
                <a:close/>
                <a:moveTo>
                  <a:pt x="209" y="0"/>
                </a:moveTo>
                <a:lnTo>
                  <a:pt x="209" y="105"/>
                </a:lnTo>
                <a:lnTo>
                  <a:pt x="940" y="105"/>
                </a:lnTo>
                <a:lnTo>
                  <a:pt x="940" y="0"/>
                </a:lnTo>
                <a:lnTo>
                  <a:pt x="209" y="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A4335"/>
        </a:solidFill>
        <a:effectLst/>
      </p:bgPr>
    </p:bg>
    <p:spTree>
      <p:nvGrpSpPr>
        <p:cNvPr id="1" name="Shape 185"/>
        <p:cNvGrpSpPr/>
        <p:nvPr/>
      </p:nvGrpSpPr>
      <p:grpSpPr>
        <a:xfrm>
          <a:off x="0" y="0"/>
          <a:ext cx="0" cy="0"/>
          <a:chOff x="0" y="0"/>
          <a:chExt cx="0" cy="0"/>
        </a:xfrm>
      </p:grpSpPr>
      <p:sp>
        <p:nvSpPr>
          <p:cNvPr id="186" name="Google Shape;186;p44"/>
          <p:cNvSpPr txBox="1"/>
          <p:nvPr/>
        </p:nvSpPr>
        <p:spPr>
          <a:xfrm>
            <a:off x="228600" y="1938528"/>
            <a:ext cx="2926080" cy="1261872"/>
          </a:xfrm>
          <a:prstGeom prst="rect">
            <a:avLst/>
          </a:prstGeom>
          <a:noFill/>
          <a:ln>
            <a:noFill/>
          </a:ln>
        </p:spPr>
        <p:txBody>
          <a:bodyPr spcFirstLastPara="1" wrap="square" lIns="18288" tIns="18288" rIns="18288" bIns="18288" anchor="ctr" anchorCtr="0">
            <a:spAutoFit/>
          </a:bodyPr>
          <a:lstStyle/>
          <a:p>
            <a:pPr marL="0" marR="0" lvl="0" indent="0" algn="ctr" rtl="0">
              <a:lnSpc>
                <a:spcPct val="115000"/>
              </a:lnSpc>
              <a:spcBef>
                <a:spcPts val="0"/>
              </a:spcBef>
              <a:spcAft>
                <a:spcPts val="0"/>
              </a:spcAft>
              <a:buClr>
                <a:srgbClr val="000000"/>
              </a:buClr>
              <a:buSzPts val="2400"/>
              <a:buFont typeface="Arial"/>
              <a:buNone/>
            </a:pPr>
            <a:r>
              <a:rPr sz="2400">
                <a:solidFill>
                  <a:srgbClr val="FFFFFF"/>
                </a:solidFill>
                <a:latin typeface="Arial"/>
              </a:rPr>
              <a:t>Workflow</a:t>
            </a:r>
            <a:endParaRPr sz="2400" b="0" i="0" u="none" strike="noStrike" cap="none">
              <a:solidFill>
                <a:srgbClr val="FFFFFF"/>
              </a:solidFill>
              <a:latin typeface="Open Sans"/>
              <a:ea typeface="Open Sans"/>
              <a:cs typeface="Open Sans"/>
              <a:sym typeface="Open Sans"/>
            </a:endParaRPr>
          </a:p>
          <a:p>
            <a:pPr algn="ctr">
              <a:spcBef>
                <a:spcPts val="0"/>
              </a:spcBef>
              <a:spcAft>
                <a:spcPts val="0"/>
              </a:spcAft>
            </a:pPr>
            <a:r>
              <a:rPr sz="2400">
                <a:solidFill>
                  <a:srgbClr val="FFFFFF"/>
                </a:solidFill>
                <a:latin typeface="Arial"/>
              </a:rPr>
              <a:t>context</a:t>
            </a:r>
          </a:p>
        </p:txBody>
      </p:sp>
      <p:sp>
        <p:nvSpPr>
          <p:cNvPr id="187" name="Google Shape;187;p44"/>
          <p:cNvSpPr txBox="1"/>
          <p:nvPr/>
        </p:nvSpPr>
        <p:spPr>
          <a:xfrm>
            <a:off x="3712425" y="1886850"/>
            <a:ext cx="3946500" cy="1369800"/>
          </a:xfrm>
          <a:prstGeom prst="rect">
            <a:avLst/>
          </a:prstGeom>
          <a:noFill/>
          <a:ln>
            <a:noFill/>
          </a:ln>
        </p:spPr>
        <p:txBody>
          <a:bodyPr spcFirstLastPara="1" wrap="square" lIns="91425" tIns="91425" rIns="91425" bIns="91425" anchor="t" anchorCtr="0">
            <a:spAutoFit/>
          </a:bodyPr>
          <a:lstStyle/>
          <a:p>
            <a:pPr marL="457200" marR="0" lvl="0" indent="-317500" algn="l" rtl="0">
              <a:lnSpc>
                <a:spcPct val="150000"/>
              </a:lnSpc>
              <a:spcBef>
                <a:spcPts val="0"/>
              </a:spcBef>
              <a:spcAft>
                <a:spcPts val="0"/>
              </a:spcAft>
              <a:buClr>
                <a:srgbClr val="FFFFFF"/>
              </a:buClr>
              <a:buSzPts val="1400"/>
              <a:buFont typeface="Open Sans"/>
              <a:buChar char="●"/>
            </a:pPr>
            <a:r>
              <a:rPr lang="en" sz="1400" b="0" i="0" u="none" strike="noStrike" cap="none">
                <a:solidFill>
                  <a:srgbClr val="FFFFFF"/>
                </a:solidFill>
                <a:latin typeface="Arial"/>
                <a:ea typeface="Open Sans"/>
                <a:cs typeface="Open Sans"/>
                <a:sym typeface="Open Sans"/>
              </a:rPr>
              <a:t>Lead intake &amp; data quality</a:t>
            </a:r>
            <a:endParaRPr sz="1400" b="0" i="0" u="none" strike="noStrike" cap="none">
              <a:solidFill>
                <a:srgbClr val="FFFFFF"/>
              </a:solidFill>
              <a:latin typeface="Open Sans"/>
              <a:ea typeface="Open Sans"/>
              <a:cs typeface="Open Sans"/>
              <a:sym typeface="Open Sans"/>
            </a:endParaRPr>
          </a:p>
          <a:p>
            <a:pPr marL="457200" marR="0" lvl="0" indent="-317500" algn="l" rtl="0">
              <a:lnSpc>
                <a:spcPct val="150000"/>
              </a:lnSpc>
              <a:spcBef>
                <a:spcPts val="0"/>
              </a:spcBef>
              <a:spcAft>
                <a:spcPts val="0"/>
              </a:spcAft>
              <a:buClr>
                <a:srgbClr val="FFFFFF"/>
              </a:buClr>
              <a:buSzPts val="1400"/>
              <a:buFont typeface="Open Sans"/>
              <a:buChar char="●"/>
            </a:pPr>
            <a:r>
              <a:rPr lang="en" sz="1400" b="0" i="0" u="none" strike="noStrike" cap="none">
                <a:solidFill>
                  <a:srgbClr val="FFFFFF"/>
                </a:solidFill>
                <a:latin typeface="Arial"/>
                <a:ea typeface="Open Sans"/>
                <a:cs typeface="Open Sans"/>
                <a:sym typeface="Open Sans"/>
              </a:rPr>
              <a:t>Qualification signals</a:t>
            </a:r>
            <a:endParaRPr sz="1400" b="0" i="0" u="none" strike="noStrike" cap="none">
              <a:solidFill>
                <a:srgbClr val="FFFFFF"/>
              </a:solidFill>
              <a:latin typeface="Open Sans"/>
              <a:ea typeface="Open Sans"/>
              <a:cs typeface="Open Sans"/>
              <a:sym typeface="Open Sans"/>
            </a:endParaRPr>
          </a:p>
          <a:p>
            <a:pPr marL="457200" marR="0" lvl="0" indent="-317500" algn="l" rtl="0">
              <a:lnSpc>
                <a:spcPct val="150000"/>
              </a:lnSpc>
              <a:spcBef>
                <a:spcPts val="0"/>
              </a:spcBef>
              <a:spcAft>
                <a:spcPts val="0"/>
              </a:spcAft>
              <a:buClr>
                <a:srgbClr val="FFFFFF"/>
              </a:buClr>
              <a:buSzPts val="1400"/>
              <a:buFont typeface="Open Sans"/>
              <a:buChar char="●"/>
            </a:pPr>
            <a:r>
              <a:rPr lang="en" sz="1400" b="0" i="0" u="none" strike="noStrike" cap="none">
                <a:solidFill>
                  <a:srgbClr val="FFFFFF"/>
                </a:solidFill>
                <a:latin typeface="Arial"/>
                <a:ea typeface="Open Sans"/>
                <a:cs typeface="Open Sans"/>
                <a:sym typeface="Open Sans"/>
              </a:rPr>
              <a:t>Consent and risk boundaries</a:t>
            </a:r>
            <a:endParaRPr sz="1400" b="0" i="0" u="none" strike="noStrike" cap="none">
              <a:solidFill>
                <a:srgbClr val="FFFFFF"/>
              </a:solidFill>
              <a:latin typeface="Open Sans"/>
              <a:ea typeface="Open Sans"/>
              <a:cs typeface="Open Sans"/>
              <a:sym typeface="Open Sans"/>
            </a:endParaRPr>
          </a:p>
          <a:p>
            <a:pPr marL="457200" marR="0" lvl="0" indent="-317500" algn="l" rtl="0">
              <a:lnSpc>
                <a:spcPct val="150000"/>
              </a:lnSpc>
              <a:spcBef>
                <a:spcPts val="0"/>
              </a:spcBef>
              <a:spcAft>
                <a:spcPts val="0"/>
              </a:spcAft>
              <a:buClr>
                <a:srgbClr val="FFFFFF"/>
              </a:buClr>
              <a:buSzPts val="1400"/>
              <a:buFont typeface="Open Sans"/>
              <a:buChar char="●"/>
            </a:pPr>
            <a:r>
              <a:rPr lang="en" sz="1400" b="0" i="0" u="none" strike="noStrike" cap="none">
                <a:solidFill>
                  <a:srgbClr val="FFFFFF"/>
                </a:solidFill>
                <a:latin typeface="Arial"/>
                <a:ea typeface="Open Sans"/>
                <a:cs typeface="Open Sans"/>
                <a:sym typeface="Open Sans"/>
              </a:rPr>
              <a:t>Human review path</a:t>
            </a:r>
            <a:endParaRPr sz="1400" b="0" i="0" u="none" strike="noStrike" cap="none">
              <a:solidFill>
                <a:srgbClr val="FFFFFF"/>
              </a:solidFill>
              <a:latin typeface="Open Sans"/>
              <a:ea typeface="Open Sans"/>
              <a:cs typeface="Open Sans"/>
              <a:sym typeface="Open Sans"/>
            </a:endParaRPr>
          </a:p>
        </p:txBody>
      </p:sp>
      <p:cxnSp>
        <p:nvCxnSpPr>
          <p:cNvPr id="188" name="Google Shape;188;p44"/>
          <p:cNvCxnSpPr/>
          <p:nvPr/>
        </p:nvCxnSpPr>
        <p:spPr>
          <a:xfrm>
            <a:off x="3460100" y="1032150"/>
            <a:ext cx="36600" cy="3079200"/>
          </a:xfrm>
          <a:prstGeom prst="straightConnector1">
            <a:avLst/>
          </a:prstGeom>
          <a:noFill/>
          <a:ln w="19050" cap="flat" cmpd="sng">
            <a:solidFill>
              <a:srgbClr val="FFFFFF"/>
            </a:solidFill>
            <a:prstDash val="solid"/>
            <a:round/>
            <a:headEnd type="none" w="sm" len="sm"/>
            <a:tailEnd type="none" w="sm" len="sm"/>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45"/>
          <p:cNvSpPr/>
          <p:nvPr/>
        </p:nvSpPr>
        <p:spPr>
          <a:xfrm>
            <a:off x="517675" y="1832019"/>
            <a:ext cx="7938900" cy="2510400"/>
          </a:xfrm>
          <a:prstGeom prst="rect">
            <a:avLst/>
          </a:prstGeom>
          <a:solidFill>
            <a:srgbClr val="F8F9F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 name="Google Shape;194;p45"/>
          <p:cNvSpPr txBox="1"/>
          <p:nvPr/>
        </p:nvSpPr>
        <p:spPr>
          <a:xfrm>
            <a:off x="517675" y="524350"/>
            <a:ext cx="6155100" cy="554100"/>
          </a:xfrm>
          <a:prstGeom prst="rect">
            <a:avLst/>
          </a:prstGeom>
          <a:noFill/>
          <a:ln>
            <a:noFill/>
          </a:ln>
        </p:spPr>
        <p:txBody>
          <a:bodyPr spcFirstLastPara="1" wrap="square" lIns="0"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200" b="0" i="0" u="none" strike="noStrike" cap="none">
                <a:solidFill>
                  <a:srgbClr val="3C4043"/>
                </a:solidFill>
                <a:latin typeface="Arial"/>
                <a:ea typeface="Open Sans"/>
                <a:cs typeface="Open Sans"/>
                <a:sym typeface="Open Sans"/>
              </a:rPr>
              <a:t>Operational context: summary</a:t>
            </a:r>
            <a:endParaRPr sz="2400" b="0" i="0" u="none" strike="noStrike" cap="none">
              <a:solidFill>
                <a:srgbClr val="5F6368"/>
              </a:solidFill>
              <a:latin typeface="Open Sans"/>
              <a:ea typeface="Open Sans"/>
              <a:cs typeface="Open Sans"/>
              <a:sym typeface="Open Sans"/>
            </a:endParaRPr>
          </a:p>
        </p:txBody>
      </p:sp>
      <p:sp>
        <p:nvSpPr>
          <p:cNvPr id="195" name="Google Shape;195;p45"/>
          <p:cNvSpPr txBox="1"/>
          <p:nvPr/>
        </p:nvSpPr>
        <p:spPr>
          <a:xfrm>
            <a:off x="919075" y="2461800"/>
            <a:ext cx="7136100" cy="1006500"/>
          </a:xfrm>
          <a:prstGeom prst="rect">
            <a:avLst/>
          </a:prstGeom>
          <a:noFill/>
          <a:ln>
            <a:noFill/>
          </a:ln>
        </p:spPr>
        <p:txBody>
          <a:bodyPr spcFirstLastPara="1" wrap="square" lIns="0" tIns="91425" rIns="91425" bIns="91425" anchor="t" anchorCtr="0">
            <a:spAutoFit/>
          </a:bodyPr>
          <a:lstStyle/>
          <a:p>
            <a:pPr marL="0" marR="0" lvl="0" indent="0" algn="ctr" rtl="0">
              <a:lnSpc>
                <a:spcPct val="115000"/>
              </a:lnSpc>
              <a:spcBef>
                <a:spcPts val="0"/>
              </a:spcBef>
              <a:spcAft>
                <a:spcPts val="0"/>
              </a:spcAft>
              <a:buClr>
                <a:srgbClr val="000000"/>
              </a:buClr>
              <a:buSzPts val="1200"/>
              <a:buFont typeface="Arial"/>
              <a:buNone/>
            </a:pPr>
            <a:r>
              <a:rPr lang="en" sz="1400" b="0" i="0" u="none" strike="noStrike" cap="none">
                <a:solidFill>
                  <a:srgbClr val="5F6368"/>
                </a:solidFill>
                <a:latin typeface="Arial"/>
                <a:ea typeface="Open Sans"/>
                <a:cs typeface="Open Sans"/>
                <a:sym typeface="Open Sans"/>
              </a:rPr>
              <a:t>This was a workflow-led discovery exercise, not a formal user study. The working hypothesis was that sales teams need faster, more consistent triage without surrendering control of consent, data quality, or outbound messaging. The prototype was tested with synthetic records only; live team feedback and business outcome metrics remain future validation work.</a:t>
            </a:r>
            <a:endParaRPr sz="1200" b="0" i="0" u="none" strike="noStrike" cap="none">
              <a:solidFill>
                <a:srgbClr val="5F6368"/>
              </a:solidFill>
              <a:latin typeface="Open Sans"/>
              <a:ea typeface="Open Sans"/>
              <a:cs typeface="Open Sans"/>
              <a:sym typeface="Open Sans"/>
            </a:endParaRPr>
          </a:p>
          <a:p>
            <a:pPr marL="0" marR="0" lvl="0" indent="0" algn="ctr" rtl="0">
              <a:lnSpc>
                <a:spcPct val="115000"/>
              </a:lnSpc>
              <a:spcBef>
                <a:spcPts val="0"/>
              </a:spcBef>
              <a:spcAft>
                <a:spcPts val="0"/>
              </a:spcAft>
              <a:buClr>
                <a:srgbClr val="000000"/>
              </a:buClr>
              <a:buSzPts val="1200"/>
              <a:buFont typeface="Arial"/>
              <a:buNone/>
            </a:pPr>
            <a:endParaRPr sz="1200" b="0" i="0" u="none" strike="noStrike" cap="none">
              <a:solidFill>
                <a:srgbClr val="5F6368"/>
              </a:solidFill>
              <a:latin typeface="Open Sans"/>
              <a:ea typeface="Open Sans"/>
              <a:cs typeface="Open Sans"/>
              <a:sym typeface="Open Sans"/>
            </a:endParaRPr>
          </a:p>
          <a:p>
            <a:pPr marL="0" marR="0" lvl="0" indent="0" algn="ctr" rtl="0">
              <a:lnSpc>
                <a:spcPct val="115000"/>
              </a:lnSpc>
              <a:spcBef>
                <a:spcPts val="0"/>
              </a:spcBef>
              <a:spcAft>
                <a:spcPts val="0"/>
              </a:spcAft>
              <a:buClr>
                <a:srgbClr val="000000"/>
              </a:buClr>
              <a:buSzPts val="1200"/>
              <a:buFont typeface="Arial"/>
              <a:buNone/>
            </a:pPr>
            <a:endParaRPr sz="1200" b="1" i="0" u="none" strike="noStrike" cap="none">
              <a:solidFill>
                <a:srgbClr val="1967D2"/>
              </a:solidFill>
              <a:latin typeface="Open Sans"/>
              <a:ea typeface="Open Sans"/>
              <a:cs typeface="Open Sans"/>
              <a:sym typeface="Open Sans"/>
            </a:endParaRPr>
          </a:p>
        </p:txBody>
      </p:sp>
      <p:sp>
        <p:nvSpPr>
          <p:cNvPr id="196" name="Google Shape;196;p45"/>
          <p:cNvSpPr/>
          <p:nvPr/>
        </p:nvSpPr>
        <p:spPr>
          <a:xfrm>
            <a:off x="4230475" y="1602212"/>
            <a:ext cx="513300" cy="513300"/>
          </a:xfrm>
          <a:prstGeom prst="ellipse">
            <a:avLst/>
          </a:prstGeom>
          <a:solidFill>
            <a:srgbClr val="EA433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 name="Google Shape;197;p45"/>
          <p:cNvSpPr/>
          <p:nvPr/>
        </p:nvSpPr>
        <p:spPr>
          <a:xfrm>
            <a:off x="4373201" y="1744926"/>
            <a:ext cx="227849" cy="227849"/>
          </a:xfrm>
          <a:custGeom>
            <a:avLst/>
            <a:gdLst/>
            <a:ahLst/>
            <a:cxnLst/>
            <a:rect l="l" t="t" r="r" b="b"/>
            <a:pathLst>
              <a:path w="940" h="941" extrusionOk="0">
                <a:moveTo>
                  <a:pt x="835" y="0"/>
                </a:moveTo>
                <a:lnTo>
                  <a:pt x="104" y="0"/>
                </a:lnTo>
                <a:cubicBezTo>
                  <a:pt x="47" y="0"/>
                  <a:pt x="0" y="48"/>
                  <a:pt x="0" y="105"/>
                </a:cubicBezTo>
                <a:lnTo>
                  <a:pt x="0" y="835"/>
                </a:lnTo>
                <a:cubicBezTo>
                  <a:pt x="0" y="892"/>
                  <a:pt x="47" y="940"/>
                  <a:pt x="104" y="940"/>
                </a:cubicBezTo>
                <a:lnTo>
                  <a:pt x="835" y="940"/>
                </a:lnTo>
                <a:cubicBezTo>
                  <a:pt x="891" y="940"/>
                  <a:pt x="939" y="892"/>
                  <a:pt x="939" y="835"/>
                </a:cubicBezTo>
                <a:lnTo>
                  <a:pt x="939" y="105"/>
                </a:lnTo>
                <a:cubicBezTo>
                  <a:pt x="939" y="48"/>
                  <a:pt x="891" y="0"/>
                  <a:pt x="835" y="0"/>
                </a:cubicBezTo>
                <a:close/>
                <a:moveTo>
                  <a:pt x="313" y="734"/>
                </a:moveTo>
                <a:lnTo>
                  <a:pt x="208" y="734"/>
                </a:lnTo>
                <a:lnTo>
                  <a:pt x="208" y="367"/>
                </a:lnTo>
                <a:lnTo>
                  <a:pt x="313" y="367"/>
                </a:lnTo>
                <a:lnTo>
                  <a:pt x="313" y="734"/>
                </a:lnTo>
                <a:close/>
                <a:moveTo>
                  <a:pt x="522" y="734"/>
                </a:moveTo>
                <a:lnTo>
                  <a:pt x="417" y="734"/>
                </a:lnTo>
                <a:lnTo>
                  <a:pt x="417" y="212"/>
                </a:lnTo>
                <a:lnTo>
                  <a:pt x="522" y="212"/>
                </a:lnTo>
                <a:lnTo>
                  <a:pt x="522" y="734"/>
                </a:lnTo>
                <a:close/>
                <a:moveTo>
                  <a:pt x="730" y="734"/>
                </a:moveTo>
                <a:lnTo>
                  <a:pt x="626" y="734"/>
                </a:lnTo>
                <a:lnTo>
                  <a:pt x="626" y="525"/>
                </a:lnTo>
                <a:lnTo>
                  <a:pt x="730" y="525"/>
                </a:lnTo>
                <a:lnTo>
                  <a:pt x="730" y="734"/>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46"/>
          <p:cNvSpPr txBox="1"/>
          <p:nvPr/>
        </p:nvSpPr>
        <p:spPr>
          <a:xfrm>
            <a:off x="517675" y="524350"/>
            <a:ext cx="6155100" cy="554100"/>
          </a:xfrm>
          <a:prstGeom prst="rect">
            <a:avLst/>
          </a:prstGeom>
          <a:noFill/>
          <a:ln>
            <a:noFill/>
          </a:ln>
        </p:spPr>
        <p:txBody>
          <a:bodyPr spcFirstLastPara="1" wrap="square" lIns="0"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200" b="0" i="0" u="none" strike="noStrike" cap="none">
                <a:solidFill>
                  <a:srgbClr val="3C4043"/>
                </a:solidFill>
                <a:latin typeface="Arial"/>
                <a:ea typeface="Open Sans"/>
                <a:cs typeface="Open Sans"/>
                <a:sym typeface="Open Sans"/>
              </a:rPr>
              <a:t>Key operational failure modes</a:t>
            </a:r>
            <a:endParaRPr sz="2400" b="0" i="0" u="none" strike="noStrike" cap="none">
              <a:solidFill>
                <a:srgbClr val="5F6368"/>
              </a:solidFill>
              <a:latin typeface="Open Sans"/>
              <a:ea typeface="Open Sans"/>
              <a:cs typeface="Open Sans"/>
              <a:sym typeface="Open Sans"/>
            </a:endParaRPr>
          </a:p>
        </p:txBody>
      </p:sp>
      <p:sp>
        <p:nvSpPr>
          <p:cNvPr id="203" name="Google Shape;203;p46"/>
          <p:cNvSpPr txBox="1"/>
          <p:nvPr/>
        </p:nvSpPr>
        <p:spPr>
          <a:xfrm>
            <a:off x="441463" y="2008850"/>
            <a:ext cx="1872600" cy="400200"/>
          </a:xfrm>
          <a:prstGeom prst="rect">
            <a:avLst/>
          </a:prstGeom>
          <a:noFill/>
          <a:ln>
            <a:noFill/>
          </a:ln>
        </p:spPr>
        <p:txBody>
          <a:bodyPr spcFirstLastPara="1" wrap="square" lIns="0" tIns="91425" rIns="91425" bIns="91425" anchor="t" anchorCtr="0">
            <a:spAutoFit/>
          </a:bodyPr>
          <a:lstStyle/>
          <a:p>
            <a:pPr marL="0" marR="0" lvl="0" indent="0" algn="ctr" rtl="0">
              <a:lnSpc>
                <a:spcPct val="150000"/>
              </a:lnSpc>
              <a:spcBef>
                <a:spcPts val="0"/>
              </a:spcBef>
              <a:spcAft>
                <a:spcPts val="0"/>
              </a:spcAft>
              <a:buClr>
                <a:srgbClr val="000000"/>
              </a:buClr>
              <a:buSzPts val="1400"/>
              <a:buFont typeface="Arial"/>
              <a:buNone/>
            </a:pPr>
            <a:r>
              <a:rPr lang="en" sz="1200" b="1" i="0" u="none" strike="noStrike" cap="none">
                <a:solidFill>
                  <a:srgbClr val="EA4335"/>
                </a:solidFill>
                <a:latin typeface="Arial"/>
                <a:ea typeface="Open Sans SemiBold"/>
                <a:cs typeface="Open Sans SemiBold"/>
                <a:sym typeface="Open Sans SemiBold"/>
              </a:rPr>
              <a:t>Incomplete submissions</a:t>
            </a:r>
            <a:endParaRPr sz="1400" b="0" i="0" u="none" strike="noStrike" cap="none">
              <a:solidFill>
                <a:srgbClr val="4285F4"/>
              </a:solidFill>
              <a:latin typeface="Open Sans SemiBold"/>
              <a:ea typeface="Open Sans SemiBold"/>
              <a:cs typeface="Open Sans SemiBold"/>
              <a:sym typeface="Open Sans SemiBold"/>
            </a:endParaRPr>
          </a:p>
        </p:txBody>
      </p:sp>
      <p:sp>
        <p:nvSpPr>
          <p:cNvPr id="204" name="Google Shape;204;p46"/>
          <p:cNvSpPr txBox="1"/>
          <p:nvPr/>
        </p:nvSpPr>
        <p:spPr>
          <a:xfrm>
            <a:off x="441475" y="2522475"/>
            <a:ext cx="1872600" cy="1431600"/>
          </a:xfrm>
          <a:prstGeom prst="rect">
            <a:avLst/>
          </a:prstGeom>
          <a:noFill/>
          <a:ln>
            <a:noFill/>
          </a:ln>
        </p:spPr>
        <p:txBody>
          <a:bodyPr spcFirstLastPara="1" wrap="square" lIns="0" tIns="91425" rIns="91425" bIns="91425" anchor="t" anchorCtr="0">
            <a:spAutoFit/>
          </a:bodyPr>
          <a:lstStyle/>
          <a:p>
            <a:pPr marL="0" marR="0" lvl="0" indent="0" algn="ctr" rtl="0">
              <a:lnSpc>
                <a:spcPct val="115000"/>
              </a:lnSpc>
              <a:spcBef>
                <a:spcPts val="0"/>
              </a:spcBef>
              <a:spcAft>
                <a:spcPts val="0"/>
              </a:spcAft>
              <a:buClr>
                <a:srgbClr val="000000"/>
              </a:buClr>
              <a:buSzPts val="1200"/>
              <a:buFont typeface="Arial"/>
              <a:buNone/>
            </a:pPr>
            <a:r>
              <a:rPr lang="en" sz="1050" b="0" i="0" u="none" strike="noStrike" cap="none">
                <a:solidFill>
                  <a:srgbClr val="3C4043"/>
                </a:solidFill>
                <a:latin typeface="Arial"/>
                <a:ea typeface="Open Sans"/>
                <a:cs typeface="Open Sans"/>
                <a:sym typeface="Open Sans"/>
              </a:rPr>
              <a:t>Validate email, required fields, and consent before qualification. Keep opt-out processing available even when other business fields are missing.</a:t>
            </a:r>
            <a:br>
              <a:rPr lang="en" sz="1200" b="0" i="0" u="none" strike="noStrike" cap="none">
                <a:solidFill>
                  <a:srgbClr val="5F6368"/>
                </a:solidFill>
                <a:latin typeface="Open Sans"/>
                <a:ea typeface="Open Sans"/>
                <a:cs typeface="Open Sans"/>
                <a:sym typeface="Open Sans"/>
              </a:rPr>
            </a:br>
            <a:br>
              <a:rPr lang="en" sz="1200" b="0" i="0" u="none" strike="noStrike" cap="none">
                <a:solidFill>
                  <a:srgbClr val="5F6368"/>
                </a:solidFill>
                <a:latin typeface="Open Sans"/>
                <a:ea typeface="Open Sans"/>
                <a:cs typeface="Open Sans"/>
                <a:sym typeface="Open Sans"/>
              </a:rPr>
            </a:br>
            <a:endParaRPr sz="1200" b="0" i="0" u="none" strike="noStrike" cap="none">
              <a:solidFill>
                <a:srgbClr val="000000"/>
              </a:solidFill>
              <a:latin typeface="Arial"/>
              <a:ea typeface="Arial"/>
              <a:cs typeface="Arial"/>
              <a:sym typeface="Arial"/>
            </a:endParaRPr>
          </a:p>
        </p:txBody>
      </p:sp>
      <p:sp>
        <p:nvSpPr>
          <p:cNvPr id="205" name="Google Shape;205;p46"/>
          <p:cNvSpPr txBox="1"/>
          <p:nvPr/>
        </p:nvSpPr>
        <p:spPr>
          <a:xfrm>
            <a:off x="2582713" y="2008850"/>
            <a:ext cx="1872600" cy="400200"/>
          </a:xfrm>
          <a:prstGeom prst="rect">
            <a:avLst/>
          </a:prstGeom>
          <a:noFill/>
          <a:ln>
            <a:noFill/>
          </a:ln>
        </p:spPr>
        <p:txBody>
          <a:bodyPr spcFirstLastPara="1" wrap="square" lIns="0" tIns="91425" rIns="91425" bIns="91425" anchor="t" anchorCtr="0">
            <a:spAutoFit/>
          </a:bodyPr>
          <a:lstStyle/>
          <a:p>
            <a:pPr marL="0" marR="0" lvl="0" indent="0" algn="ctr" rtl="0">
              <a:lnSpc>
                <a:spcPct val="150000"/>
              </a:lnSpc>
              <a:spcBef>
                <a:spcPts val="0"/>
              </a:spcBef>
              <a:spcAft>
                <a:spcPts val="0"/>
              </a:spcAft>
              <a:buClr>
                <a:srgbClr val="000000"/>
              </a:buClr>
              <a:buSzPts val="1400"/>
              <a:buFont typeface="Arial"/>
              <a:buNone/>
            </a:pPr>
            <a:r>
              <a:rPr lang="en" sz="1200" b="1" i="0" u="none" strike="noStrike" cap="none">
                <a:solidFill>
                  <a:srgbClr val="EA4335"/>
                </a:solidFill>
                <a:latin typeface="Arial"/>
                <a:ea typeface="Open Sans SemiBold"/>
                <a:cs typeface="Open Sans SemiBold"/>
                <a:sym typeface="Open Sans SemiBold"/>
              </a:rPr>
              <a:t>Duplicate records</a:t>
            </a:r>
            <a:endParaRPr sz="1400" b="0" i="0" u="none" strike="noStrike" cap="none">
              <a:solidFill>
                <a:srgbClr val="4285F4"/>
              </a:solidFill>
              <a:latin typeface="Open Sans SemiBold"/>
              <a:ea typeface="Open Sans SemiBold"/>
              <a:cs typeface="Open Sans SemiBold"/>
              <a:sym typeface="Open Sans SemiBold"/>
            </a:endParaRPr>
          </a:p>
        </p:txBody>
      </p:sp>
      <p:sp>
        <p:nvSpPr>
          <p:cNvPr id="206" name="Google Shape;206;p46"/>
          <p:cNvSpPr txBox="1"/>
          <p:nvPr/>
        </p:nvSpPr>
        <p:spPr>
          <a:xfrm>
            <a:off x="2582725" y="2522475"/>
            <a:ext cx="1872600" cy="1431600"/>
          </a:xfrm>
          <a:prstGeom prst="rect">
            <a:avLst/>
          </a:prstGeom>
          <a:noFill/>
          <a:ln>
            <a:noFill/>
          </a:ln>
        </p:spPr>
        <p:txBody>
          <a:bodyPr spcFirstLastPara="1" wrap="square" lIns="0" tIns="91425" rIns="91425" bIns="91425" anchor="t" anchorCtr="0">
            <a:spAutoFit/>
          </a:bodyPr>
          <a:lstStyle/>
          <a:p>
            <a:pPr marL="0" marR="0" lvl="0" indent="0" algn="ctr" rtl="0">
              <a:lnSpc>
                <a:spcPct val="115000"/>
              </a:lnSpc>
              <a:spcBef>
                <a:spcPts val="0"/>
              </a:spcBef>
              <a:spcAft>
                <a:spcPts val="0"/>
              </a:spcAft>
              <a:buClr>
                <a:srgbClr val="000000"/>
              </a:buClr>
              <a:buSzPts val="1200"/>
              <a:buFont typeface="Arial"/>
              <a:buNone/>
            </a:pPr>
            <a:r>
              <a:rPr lang="en" sz="1050" b="0" i="0" u="none" strike="noStrike" cap="none">
                <a:solidFill>
                  <a:srgbClr val="3C4043"/>
                </a:solidFill>
                <a:latin typeface="Arial"/>
                <a:ea typeface="Open Sans"/>
                <a:cs typeface="Open Sans"/>
                <a:sym typeface="Open Sans"/>
              </a:rPr>
              <a:t>Normalize email and use exact matching to update existing records instead of creating repeated leads.</a:t>
            </a:r>
            <a:br>
              <a:rPr lang="en" sz="1200" b="0" i="0" u="none" strike="noStrike" cap="none">
                <a:solidFill>
                  <a:srgbClr val="5F6368"/>
                </a:solidFill>
                <a:latin typeface="Open Sans"/>
                <a:ea typeface="Open Sans"/>
                <a:cs typeface="Open Sans"/>
                <a:sym typeface="Open Sans"/>
              </a:rPr>
            </a:br>
            <a:br>
              <a:rPr lang="en" sz="1200" b="0" i="0" u="none" strike="noStrike" cap="none">
                <a:solidFill>
                  <a:srgbClr val="5F6368"/>
                </a:solidFill>
                <a:latin typeface="Open Sans"/>
                <a:ea typeface="Open Sans"/>
                <a:cs typeface="Open Sans"/>
                <a:sym typeface="Open Sans"/>
              </a:rPr>
            </a:br>
            <a:endParaRPr sz="1200" b="0" i="0" u="none" strike="noStrike" cap="none">
              <a:solidFill>
                <a:srgbClr val="000000"/>
              </a:solidFill>
              <a:latin typeface="Arial"/>
              <a:ea typeface="Arial"/>
              <a:cs typeface="Arial"/>
              <a:sym typeface="Arial"/>
            </a:endParaRPr>
          </a:p>
        </p:txBody>
      </p:sp>
      <p:sp>
        <p:nvSpPr>
          <p:cNvPr id="207" name="Google Shape;207;p46"/>
          <p:cNvSpPr txBox="1"/>
          <p:nvPr/>
        </p:nvSpPr>
        <p:spPr>
          <a:xfrm>
            <a:off x="4723969" y="2008850"/>
            <a:ext cx="1872600" cy="400200"/>
          </a:xfrm>
          <a:prstGeom prst="rect">
            <a:avLst/>
          </a:prstGeom>
          <a:noFill/>
          <a:ln>
            <a:noFill/>
          </a:ln>
        </p:spPr>
        <p:txBody>
          <a:bodyPr spcFirstLastPara="1" wrap="square" lIns="0" tIns="91425" rIns="91425" bIns="91425" anchor="t" anchorCtr="0">
            <a:spAutoFit/>
          </a:bodyPr>
          <a:lstStyle/>
          <a:p>
            <a:pPr marL="0" marR="0" lvl="0" indent="0" algn="ctr" rtl="0">
              <a:lnSpc>
                <a:spcPct val="150000"/>
              </a:lnSpc>
              <a:spcBef>
                <a:spcPts val="0"/>
              </a:spcBef>
              <a:spcAft>
                <a:spcPts val="0"/>
              </a:spcAft>
              <a:buClr>
                <a:srgbClr val="000000"/>
              </a:buClr>
              <a:buSzPts val="1400"/>
              <a:buFont typeface="Arial"/>
              <a:buNone/>
            </a:pPr>
            <a:r>
              <a:rPr lang="en" sz="1200" b="1" i="0" u="none" strike="noStrike" cap="none">
                <a:solidFill>
                  <a:srgbClr val="EA4335"/>
                </a:solidFill>
                <a:latin typeface="Arial"/>
                <a:ea typeface="Open Sans SemiBold"/>
                <a:cs typeface="Open Sans SemiBold"/>
                <a:sym typeface="Open Sans SemiBold"/>
              </a:rPr>
              <a:t>Opt-out leakage</a:t>
            </a:r>
            <a:endParaRPr sz="1400" b="0" i="0" u="none" strike="noStrike" cap="none">
              <a:solidFill>
                <a:srgbClr val="4285F4"/>
              </a:solidFill>
              <a:latin typeface="Open Sans SemiBold"/>
              <a:ea typeface="Open Sans SemiBold"/>
              <a:cs typeface="Open Sans SemiBold"/>
              <a:sym typeface="Open Sans SemiBold"/>
            </a:endParaRPr>
          </a:p>
        </p:txBody>
      </p:sp>
      <p:sp>
        <p:nvSpPr>
          <p:cNvPr id="208" name="Google Shape;208;p46"/>
          <p:cNvSpPr txBox="1"/>
          <p:nvPr/>
        </p:nvSpPr>
        <p:spPr>
          <a:xfrm>
            <a:off x="4723969" y="2522475"/>
            <a:ext cx="1872600" cy="1431600"/>
          </a:xfrm>
          <a:prstGeom prst="rect">
            <a:avLst/>
          </a:prstGeom>
          <a:noFill/>
          <a:ln>
            <a:noFill/>
          </a:ln>
        </p:spPr>
        <p:txBody>
          <a:bodyPr spcFirstLastPara="1" wrap="square" lIns="0" tIns="91425" rIns="91425" bIns="91425" anchor="t" anchorCtr="0">
            <a:spAutoFit/>
          </a:bodyPr>
          <a:lstStyle/>
          <a:p>
            <a:pPr marL="0" marR="0" lvl="0" indent="0" algn="ctr" rtl="0">
              <a:lnSpc>
                <a:spcPct val="115000"/>
              </a:lnSpc>
              <a:spcBef>
                <a:spcPts val="0"/>
              </a:spcBef>
              <a:spcAft>
                <a:spcPts val="0"/>
              </a:spcAft>
              <a:buClr>
                <a:srgbClr val="000000"/>
              </a:buClr>
              <a:buSzPts val="1200"/>
              <a:buFont typeface="Arial"/>
              <a:buNone/>
            </a:pPr>
            <a:r>
              <a:rPr lang="en" sz="1050" b="0" i="0" u="none" strike="noStrike" cap="none">
                <a:solidFill>
                  <a:srgbClr val="3C4043"/>
                </a:solidFill>
                <a:latin typeface="Arial"/>
                <a:ea typeface="Open Sans"/>
                <a:cs typeface="Open Sans"/>
                <a:sym typeface="Open Sans"/>
              </a:rPr>
              <a:t>Gate AI generation on consent. Suppress drafts and cancel pending or approved-but-unsent outreach when an opt-out arrives.</a:t>
            </a:r>
            <a:br>
              <a:rPr lang="en" sz="1200" b="0" i="0" u="none" strike="noStrike" cap="none">
                <a:solidFill>
                  <a:srgbClr val="5F6368"/>
                </a:solidFill>
                <a:latin typeface="Open Sans"/>
                <a:ea typeface="Open Sans"/>
                <a:cs typeface="Open Sans"/>
                <a:sym typeface="Open Sans"/>
              </a:rPr>
            </a:br>
            <a:br>
              <a:rPr lang="en" sz="1200" b="0" i="0" u="none" strike="noStrike" cap="none">
                <a:solidFill>
                  <a:srgbClr val="5F6368"/>
                </a:solidFill>
                <a:latin typeface="Open Sans"/>
                <a:ea typeface="Open Sans"/>
                <a:cs typeface="Open Sans"/>
                <a:sym typeface="Open Sans"/>
              </a:rPr>
            </a:br>
            <a:endParaRPr sz="1200" b="0" i="0" u="none" strike="noStrike" cap="none">
              <a:solidFill>
                <a:srgbClr val="000000"/>
              </a:solidFill>
              <a:latin typeface="Arial"/>
              <a:ea typeface="Arial"/>
              <a:cs typeface="Arial"/>
              <a:sym typeface="Arial"/>
            </a:endParaRPr>
          </a:p>
        </p:txBody>
      </p:sp>
      <p:sp>
        <p:nvSpPr>
          <p:cNvPr id="209" name="Google Shape;209;p46"/>
          <p:cNvSpPr txBox="1"/>
          <p:nvPr/>
        </p:nvSpPr>
        <p:spPr>
          <a:xfrm>
            <a:off x="6865219" y="2008850"/>
            <a:ext cx="1872600" cy="400200"/>
          </a:xfrm>
          <a:prstGeom prst="rect">
            <a:avLst/>
          </a:prstGeom>
          <a:noFill/>
          <a:ln>
            <a:noFill/>
          </a:ln>
        </p:spPr>
        <p:txBody>
          <a:bodyPr spcFirstLastPara="1" wrap="square" lIns="0" tIns="91425" rIns="91425" bIns="91425" anchor="t" anchorCtr="0">
            <a:spAutoFit/>
          </a:bodyPr>
          <a:lstStyle/>
          <a:p>
            <a:pPr marL="0" marR="0" lvl="0" indent="0" algn="ctr" rtl="0">
              <a:lnSpc>
                <a:spcPct val="150000"/>
              </a:lnSpc>
              <a:spcBef>
                <a:spcPts val="0"/>
              </a:spcBef>
              <a:spcAft>
                <a:spcPts val="0"/>
              </a:spcAft>
              <a:buClr>
                <a:srgbClr val="000000"/>
              </a:buClr>
              <a:buSzPts val="1400"/>
              <a:buFont typeface="Arial"/>
              <a:buNone/>
            </a:pPr>
            <a:r>
              <a:rPr lang="en" sz="1200" b="1" i="0" u="none" strike="noStrike" cap="none">
                <a:solidFill>
                  <a:srgbClr val="EA4335"/>
                </a:solidFill>
                <a:latin typeface="Arial"/>
                <a:ea typeface="Open Sans SemiBold"/>
                <a:cs typeface="Open Sans SemiBold"/>
                <a:sym typeface="Open Sans SemiBold"/>
              </a:rPr>
              <a:t>Unreviewed AI outreach</a:t>
            </a:r>
            <a:endParaRPr sz="1400" b="0" i="0" u="none" strike="noStrike" cap="none">
              <a:solidFill>
                <a:srgbClr val="4285F4"/>
              </a:solidFill>
              <a:latin typeface="Open Sans SemiBold"/>
              <a:ea typeface="Open Sans SemiBold"/>
              <a:cs typeface="Open Sans SemiBold"/>
              <a:sym typeface="Open Sans SemiBold"/>
            </a:endParaRPr>
          </a:p>
        </p:txBody>
      </p:sp>
      <p:sp>
        <p:nvSpPr>
          <p:cNvPr id="210" name="Google Shape;210;p46"/>
          <p:cNvSpPr txBox="1"/>
          <p:nvPr/>
        </p:nvSpPr>
        <p:spPr>
          <a:xfrm>
            <a:off x="6865219" y="2522475"/>
            <a:ext cx="1872600" cy="1431600"/>
          </a:xfrm>
          <a:prstGeom prst="rect">
            <a:avLst/>
          </a:prstGeom>
          <a:noFill/>
          <a:ln>
            <a:noFill/>
          </a:ln>
        </p:spPr>
        <p:txBody>
          <a:bodyPr spcFirstLastPara="1" wrap="square" lIns="0" tIns="91425" rIns="91425" bIns="91425" anchor="t" anchorCtr="0">
            <a:spAutoFit/>
          </a:bodyPr>
          <a:lstStyle/>
          <a:p>
            <a:pPr marL="0" marR="0" lvl="0" indent="0" algn="ctr" rtl="0">
              <a:lnSpc>
                <a:spcPct val="115000"/>
              </a:lnSpc>
              <a:spcBef>
                <a:spcPts val="0"/>
              </a:spcBef>
              <a:spcAft>
                <a:spcPts val="0"/>
              </a:spcAft>
              <a:buClr>
                <a:srgbClr val="000000"/>
              </a:buClr>
              <a:buSzPts val="1200"/>
              <a:buFont typeface="Arial"/>
              <a:buNone/>
            </a:pPr>
            <a:r>
              <a:rPr lang="en" sz="1050" b="0" i="0" u="none" strike="noStrike" cap="none">
                <a:solidFill>
                  <a:srgbClr val="3C4043"/>
                </a:solidFill>
                <a:latin typeface="Arial"/>
                <a:ea typeface="Open Sans"/>
                <a:cs typeface="Open Sans"/>
                <a:sym typeface="Open Sans"/>
              </a:rPr>
              <a:t>Generate drafts only. HOT leads enter a human approval queue; the workflow does not send emails automatically.</a:t>
            </a:r>
            <a:br>
              <a:rPr lang="en" sz="1200" b="0" i="0" u="none" strike="noStrike" cap="none">
                <a:solidFill>
                  <a:srgbClr val="5F6368"/>
                </a:solidFill>
                <a:latin typeface="Open Sans"/>
                <a:ea typeface="Open Sans"/>
                <a:cs typeface="Open Sans"/>
                <a:sym typeface="Open Sans"/>
              </a:rPr>
            </a:br>
            <a:br>
              <a:rPr lang="en" sz="1200" b="0" i="0" u="none" strike="noStrike" cap="none">
                <a:solidFill>
                  <a:srgbClr val="5F6368"/>
                </a:solidFill>
                <a:latin typeface="Open Sans"/>
                <a:ea typeface="Open Sans"/>
                <a:cs typeface="Open Sans"/>
                <a:sym typeface="Open Sans"/>
              </a:rPr>
            </a:br>
            <a:endParaRPr sz="1200" b="0" i="0" u="none" strike="noStrike" cap="none">
              <a:solidFill>
                <a:srgbClr val="000000"/>
              </a:solidFill>
              <a:latin typeface="Arial"/>
              <a:ea typeface="Arial"/>
              <a:cs typeface="Arial"/>
              <a:sym typeface="Arial"/>
            </a:endParaRPr>
          </a:p>
        </p:txBody>
      </p:sp>
      <p:sp>
        <p:nvSpPr>
          <p:cNvPr id="211" name="Google Shape;211;p46"/>
          <p:cNvSpPr/>
          <p:nvPr/>
        </p:nvSpPr>
        <p:spPr>
          <a:xfrm>
            <a:off x="1121125" y="1382121"/>
            <a:ext cx="513300" cy="513300"/>
          </a:xfrm>
          <a:prstGeom prst="ellipse">
            <a:avLst/>
          </a:prstGeom>
          <a:solidFill>
            <a:srgbClr val="EA433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0" i="0" u="none" strike="noStrike" cap="none">
                <a:solidFill>
                  <a:srgbClr val="FFFFFF"/>
                </a:solidFill>
                <a:latin typeface="Google Sans Medium"/>
                <a:ea typeface="Google Sans Medium"/>
                <a:cs typeface="Google Sans Medium"/>
                <a:sym typeface="Google Sans Medium"/>
              </a:rPr>
              <a:t>1</a:t>
            </a:r>
            <a:endParaRPr sz="2200" b="0" i="0" u="none" strike="noStrike" cap="none">
              <a:solidFill>
                <a:srgbClr val="FFFFFF"/>
              </a:solidFill>
              <a:latin typeface="Google Sans Medium"/>
              <a:ea typeface="Google Sans Medium"/>
              <a:cs typeface="Google Sans Medium"/>
              <a:sym typeface="Google Sans Medium"/>
            </a:endParaRPr>
          </a:p>
        </p:txBody>
      </p:sp>
      <p:sp>
        <p:nvSpPr>
          <p:cNvPr id="212" name="Google Shape;212;p46"/>
          <p:cNvSpPr/>
          <p:nvPr/>
        </p:nvSpPr>
        <p:spPr>
          <a:xfrm>
            <a:off x="3262375" y="1382121"/>
            <a:ext cx="513300" cy="513300"/>
          </a:xfrm>
          <a:prstGeom prst="ellipse">
            <a:avLst/>
          </a:prstGeom>
          <a:solidFill>
            <a:srgbClr val="EA433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0" i="0" u="none" strike="noStrike" cap="none">
                <a:solidFill>
                  <a:srgbClr val="FFFFFF"/>
                </a:solidFill>
                <a:latin typeface="Google Sans Medium"/>
                <a:ea typeface="Google Sans Medium"/>
                <a:cs typeface="Google Sans Medium"/>
                <a:sym typeface="Google Sans Medium"/>
              </a:rPr>
              <a:t>2</a:t>
            </a:r>
            <a:endParaRPr sz="2200" b="0" i="0" u="none" strike="noStrike" cap="none">
              <a:solidFill>
                <a:srgbClr val="FFFFFF"/>
              </a:solidFill>
              <a:latin typeface="Google Sans Medium"/>
              <a:ea typeface="Google Sans Medium"/>
              <a:cs typeface="Google Sans Medium"/>
              <a:sym typeface="Google Sans Medium"/>
            </a:endParaRPr>
          </a:p>
        </p:txBody>
      </p:sp>
      <p:sp>
        <p:nvSpPr>
          <p:cNvPr id="213" name="Google Shape;213;p46"/>
          <p:cNvSpPr/>
          <p:nvPr/>
        </p:nvSpPr>
        <p:spPr>
          <a:xfrm>
            <a:off x="5403625" y="1382121"/>
            <a:ext cx="513300" cy="513300"/>
          </a:xfrm>
          <a:prstGeom prst="ellipse">
            <a:avLst/>
          </a:prstGeom>
          <a:solidFill>
            <a:srgbClr val="EA433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0" i="0" u="none" strike="noStrike" cap="none">
                <a:solidFill>
                  <a:srgbClr val="FFFFFF"/>
                </a:solidFill>
                <a:latin typeface="Google Sans Medium"/>
                <a:ea typeface="Google Sans Medium"/>
                <a:cs typeface="Google Sans Medium"/>
                <a:sym typeface="Google Sans Medium"/>
              </a:rPr>
              <a:t>3</a:t>
            </a:r>
            <a:endParaRPr sz="2200" b="0" i="0" u="none" strike="noStrike" cap="none">
              <a:solidFill>
                <a:srgbClr val="FFFFFF"/>
              </a:solidFill>
              <a:latin typeface="Google Sans Medium"/>
              <a:ea typeface="Google Sans Medium"/>
              <a:cs typeface="Google Sans Medium"/>
              <a:sym typeface="Google Sans Medium"/>
            </a:endParaRPr>
          </a:p>
        </p:txBody>
      </p:sp>
      <p:sp>
        <p:nvSpPr>
          <p:cNvPr id="214" name="Google Shape;214;p46"/>
          <p:cNvSpPr/>
          <p:nvPr/>
        </p:nvSpPr>
        <p:spPr>
          <a:xfrm>
            <a:off x="7544875" y="1382121"/>
            <a:ext cx="513300" cy="513300"/>
          </a:xfrm>
          <a:prstGeom prst="ellipse">
            <a:avLst/>
          </a:prstGeom>
          <a:solidFill>
            <a:srgbClr val="EA433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0" i="0" u="none" strike="noStrike" cap="none">
                <a:solidFill>
                  <a:srgbClr val="FFFFFF"/>
                </a:solidFill>
                <a:latin typeface="Google Sans Medium"/>
                <a:ea typeface="Google Sans Medium"/>
                <a:cs typeface="Google Sans Medium"/>
                <a:sym typeface="Google Sans Medium"/>
              </a:rPr>
              <a:t>4</a:t>
            </a:r>
            <a:endParaRPr sz="2200" b="0" i="0" u="none" strike="noStrike" cap="none">
              <a:solidFill>
                <a:srgbClr val="FFFFFF"/>
              </a:solidFill>
              <a:latin typeface="Google Sans Medium"/>
              <a:ea typeface="Google Sans Medium"/>
              <a:cs typeface="Google Sans Medium"/>
              <a:sym typeface="Google Sans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47"/>
          <p:cNvSpPr txBox="1"/>
          <p:nvPr/>
        </p:nvSpPr>
        <p:spPr>
          <a:xfrm>
            <a:off x="517675" y="524350"/>
            <a:ext cx="6108600" cy="554100"/>
          </a:xfrm>
          <a:prstGeom prst="rect">
            <a:avLst/>
          </a:prstGeom>
          <a:noFill/>
          <a:ln>
            <a:noFill/>
          </a:ln>
        </p:spPr>
        <p:txBody>
          <a:bodyPr spcFirstLastPara="1" wrap="square" lIns="0"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200" b="0" i="0" u="none" strike="noStrike" cap="none">
                <a:solidFill>
                  <a:srgbClr val="3C4043"/>
                </a:solidFill>
                <a:latin typeface="Arial"/>
                <a:ea typeface="Open Sans"/>
                <a:cs typeface="Open Sans"/>
                <a:sym typeface="Open Sans"/>
              </a:rPr>
              <a:t>Operating stakeholder:</a:t>
            </a:r>
            <a:endParaRPr sz="2400" b="1" i="0" u="none" strike="noStrike" cap="none">
              <a:solidFill>
                <a:srgbClr val="5F6368"/>
              </a:solidFill>
              <a:latin typeface="Open Sans"/>
              <a:ea typeface="Open Sans"/>
              <a:cs typeface="Open Sans"/>
              <a:sym typeface="Open Sans"/>
            </a:endParaRPr>
          </a:p>
          <a:p>
            <a:r>
              <a:rPr sz="2200" b="1">
                <a:solidFill>
                  <a:srgbClr val="3C4043"/>
                </a:solidFill>
                <a:latin typeface="Arial"/>
              </a:rPr>
              <a:t>Sales Operations</a:t>
            </a:r>
          </a:p>
        </p:txBody>
      </p:sp>
      <p:sp>
        <p:nvSpPr>
          <p:cNvPr id="221" name="Google Shape;221;p47"/>
          <p:cNvSpPr txBox="1"/>
          <p:nvPr/>
        </p:nvSpPr>
        <p:spPr>
          <a:xfrm>
            <a:off x="517675" y="1674400"/>
            <a:ext cx="2184600" cy="2016300"/>
          </a:xfrm>
          <a:prstGeom prst="rect">
            <a:avLst/>
          </a:prstGeom>
          <a:noFill/>
          <a:ln>
            <a:noFill/>
          </a:ln>
        </p:spPr>
        <p:txBody>
          <a:bodyPr spcFirstLastPara="1" wrap="square" lIns="0"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400" b="0" i="0" u="none" strike="noStrike" cap="none">
                <a:solidFill>
                  <a:srgbClr val="EA4335"/>
                </a:solidFill>
                <a:latin typeface="Arial"/>
                <a:ea typeface="Open Sans SemiBold"/>
                <a:cs typeface="Open Sans SemiBold"/>
                <a:sym typeface="Open Sans SemiBold"/>
              </a:rPr>
              <a:t>Operational need:</a:t>
            </a:r>
            <a:endParaRPr sz="1400" b="0" i="0" u="none" strike="noStrike" cap="none">
              <a:solidFill>
                <a:srgbClr val="EA4335"/>
              </a:solidFill>
              <a:latin typeface="Open Sans SemiBold"/>
              <a:ea typeface="Open Sans SemiBold"/>
              <a:cs typeface="Open Sans SemiBold"/>
              <a:sym typeface="Open Sans SemiBold"/>
            </a:endParaRPr>
          </a:p>
          <a:p>
            <a:pPr marL="0" marR="0" lvl="0" indent="0" algn="l" rtl="0">
              <a:lnSpc>
                <a:spcPct val="150000"/>
              </a:lnSpc>
              <a:spcBef>
                <a:spcPts val="0"/>
              </a:spcBef>
              <a:spcAft>
                <a:spcPts val="0"/>
              </a:spcAft>
              <a:buClr>
                <a:srgbClr val="000000"/>
              </a:buClr>
              <a:buSzPts val="1400"/>
              <a:buFont typeface="Arial"/>
              <a:buNone/>
            </a:pPr>
            <a:r>
              <a:rPr lang="en" sz="1300" b="0" i="0" u="none" strike="noStrike" cap="none">
                <a:solidFill>
                  <a:srgbClr val="3C4043"/>
                </a:solidFill>
                <a:latin typeface="Arial"/>
                <a:ea typeface="Open Sans"/>
                <a:cs typeface="Open Sans"/>
                <a:sym typeface="Open Sans"/>
              </a:rPr>
              <a:t>Sales teams need a repeatable way to prioritize inbound leads while preserving control over contact permission, data quality, and outbound messaging.</a:t>
            </a:r>
            <a:endParaRPr sz="1400" b="0" i="0" u="none" strike="noStrike" cap="none">
              <a:solidFill>
                <a:srgbClr val="5F6368"/>
              </a:solidFill>
              <a:latin typeface="Open Sans"/>
              <a:ea typeface="Open Sans"/>
              <a:cs typeface="Open Sans"/>
              <a:sym typeface="Open Sans"/>
            </a:endParaRPr>
          </a:p>
          <a:p>
            <a:pPr marL="0" marR="0" lvl="0" indent="0" algn="l" rtl="0">
              <a:lnSpc>
                <a:spcPct val="150000"/>
              </a:lnSpc>
              <a:spcBef>
                <a:spcPts val="0"/>
              </a:spcBef>
              <a:spcAft>
                <a:spcPts val="0"/>
              </a:spcAft>
              <a:buClr>
                <a:srgbClr val="000000"/>
              </a:buClr>
              <a:buSzPts val="1400"/>
              <a:buFont typeface="Arial"/>
              <a:buNone/>
            </a:pPr>
            <a:endParaRPr sz="1400" b="0" i="0" u="none" strike="noStrike" cap="none">
              <a:solidFill>
                <a:srgbClr val="5F6368"/>
              </a:solidFill>
              <a:latin typeface="Open Sans"/>
              <a:ea typeface="Open Sans"/>
              <a:cs typeface="Open Sans"/>
              <a:sym typeface="Open Sans"/>
            </a:endParaRPr>
          </a:p>
          <a:p>
            <a:pPr marL="0" marR="0" lvl="0" indent="0" algn="l" rtl="0">
              <a:lnSpc>
                <a:spcPct val="150000"/>
              </a:lnSpc>
              <a:spcBef>
                <a:spcPts val="0"/>
              </a:spcBef>
              <a:spcAft>
                <a:spcPts val="0"/>
              </a:spcAft>
              <a:buClr>
                <a:srgbClr val="000000"/>
              </a:buClr>
              <a:buSzPts val="1400"/>
              <a:buFont typeface="Arial"/>
              <a:buNone/>
            </a:pPr>
            <a:endParaRPr sz="1400" b="0" i="0" u="none" strike="noStrike" cap="none">
              <a:solidFill>
                <a:srgbClr val="5F6368"/>
              </a:solidFill>
              <a:latin typeface="Open Sans"/>
              <a:ea typeface="Open Sans"/>
              <a:cs typeface="Open Sans"/>
              <a:sym typeface="Open Sans"/>
            </a:endParaRPr>
          </a:p>
          <a:p>
            <a:pPr marL="0" marR="0" lvl="0" indent="0" algn="l" rtl="0">
              <a:lnSpc>
                <a:spcPct val="15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 name="Rectangle 221"/>
          <p:cNvSpPr/>
          <p:nvPr/>
        </p:nvSpPr>
        <p:spPr>
          <a:xfrm>
            <a:off x="3703320" y="1097280"/>
            <a:ext cx="5266944" cy="3017520"/>
          </a:xfrm>
          <a:prstGeom prst="rect">
            <a:avLst/>
          </a:prstGeom>
          <a:solidFill>
            <a:srgbClr val="F8F9FA"/>
          </a:solidFill>
          <a:ln w="12700">
            <a:solidFill>
              <a:srgbClr val="DADCE0"/>
            </a:solidFill>
          </a:ln>
        </p:spPr>
        <p:style>
          <a:lnRef idx="1">
            <a:schemeClr val="accent1"/>
          </a:lnRef>
          <a:fillRef idx="3">
            <a:schemeClr val="accent1"/>
          </a:fillRef>
          <a:effectRef idx="2">
            <a:schemeClr val="accent1"/>
          </a:effectRef>
          <a:fontRef idx="minor">
            <a:schemeClr val="lt1"/>
          </a:fontRef>
        </p:style>
        <p:txBody>
          <a:bodyPr wrap="square" lIns="73152" tIns="48768" rIns="73152" bIns="48768" rtlCol="0" anchor="ctr"/>
          <a:lstStyle/>
          <a:p>
            <a:pPr algn="ctr"/>
            <a:endParaRPr/>
          </a:p>
        </p:txBody>
      </p:sp>
      <p:sp>
        <p:nvSpPr>
          <p:cNvPr id="223" name="Rounded Rectangle 222"/>
          <p:cNvSpPr/>
          <p:nvPr/>
        </p:nvSpPr>
        <p:spPr>
          <a:xfrm>
            <a:off x="3977639" y="1325880"/>
            <a:ext cx="1417320" cy="310896"/>
          </a:xfrm>
          <a:prstGeom prst="roundRect">
            <a:avLst/>
          </a:prstGeom>
          <a:solidFill>
            <a:srgbClr val="E8F0FE"/>
          </a:solidFill>
          <a:ln w="6350">
            <a:solidFill>
              <a:srgbClr val="E8F0FE"/>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900" b="1">
                <a:solidFill>
                  <a:srgbClr val="4285F4"/>
                </a:solidFill>
                <a:latin typeface="Arial"/>
              </a:rPr>
              <a:t>SYSTEM OWNER</a:t>
            </a:r>
          </a:p>
        </p:txBody>
      </p:sp>
      <p:sp>
        <p:nvSpPr>
          <p:cNvPr id="224" name="TextBox 223"/>
          <p:cNvSpPr txBox="1"/>
          <p:nvPr/>
        </p:nvSpPr>
        <p:spPr>
          <a:xfrm>
            <a:off x="3977639" y="1755648"/>
            <a:ext cx="4526280" cy="411480"/>
          </a:xfrm>
          <a:prstGeom prst="rect">
            <a:avLst/>
          </a:prstGeom>
          <a:noFill/>
        </p:spPr>
        <p:txBody>
          <a:bodyPr wrap="square" lIns="18288" tIns="18288" rIns="18288" bIns="18288" anchor="t">
            <a:spAutoFit/>
          </a:bodyPr>
          <a:lstStyle/>
          <a:p>
            <a:pPr algn="l"/>
            <a:r>
              <a:rPr sz="1800" b="1">
                <a:solidFill>
                  <a:srgbClr val="3C4043"/>
                </a:solidFill>
                <a:latin typeface="Arial"/>
              </a:rPr>
              <a:t>Sales Operations / SDR Lead</a:t>
            </a:r>
          </a:p>
        </p:txBody>
      </p:sp>
      <p:sp>
        <p:nvSpPr>
          <p:cNvPr id="225" name="TextBox 224"/>
          <p:cNvSpPr txBox="1"/>
          <p:nvPr/>
        </p:nvSpPr>
        <p:spPr>
          <a:xfrm>
            <a:off x="3977639" y="2212848"/>
            <a:ext cx="4480560" cy="320040"/>
          </a:xfrm>
          <a:prstGeom prst="rect">
            <a:avLst/>
          </a:prstGeom>
          <a:noFill/>
        </p:spPr>
        <p:txBody>
          <a:bodyPr wrap="square" lIns="18288" tIns="18288" rIns="18288" bIns="18288" anchor="t">
            <a:spAutoFit/>
          </a:bodyPr>
          <a:lstStyle/>
          <a:p>
            <a:pPr algn="l"/>
            <a:r>
              <a:rPr sz="1150" b="0">
                <a:solidFill>
                  <a:srgbClr val="5F6368"/>
                </a:solidFill>
                <a:latin typeface="Arial"/>
              </a:rPr>
              <a:t>Owns the qualification queue and outreach decision.</a:t>
            </a:r>
          </a:p>
        </p:txBody>
      </p:sp>
      <p:sp>
        <p:nvSpPr>
          <p:cNvPr id="226" name="Rounded Rectangle 225"/>
          <p:cNvSpPr/>
          <p:nvPr/>
        </p:nvSpPr>
        <p:spPr>
          <a:xfrm>
            <a:off x="3977639" y="2697480"/>
            <a:ext cx="2057400" cy="1051560"/>
          </a:xfrm>
          <a:prstGeom prst="roundRect">
            <a:avLst/>
          </a:prstGeom>
          <a:solidFill>
            <a:srgbClr val="FFFFFF"/>
          </a:solidFill>
          <a:ln w="12700">
            <a:solidFill>
              <a:srgbClr val="D2E3FC"/>
            </a:solidFill>
          </a:ln>
        </p:spPr>
        <p:style>
          <a:lnRef idx="1">
            <a:schemeClr val="accent1"/>
          </a:lnRef>
          <a:fillRef idx="3">
            <a:schemeClr val="accent1"/>
          </a:fillRef>
          <a:effectRef idx="2">
            <a:schemeClr val="accent1"/>
          </a:effectRef>
          <a:fontRef idx="minor">
            <a:schemeClr val="lt1"/>
          </a:fontRef>
        </p:style>
        <p:txBody>
          <a:bodyPr wrap="square" lIns="128016" tIns="85344" rIns="128016" bIns="85344" rtlCol="0" anchor="ctr"/>
          <a:lstStyle/>
          <a:p>
            <a:pPr algn="l"/>
            <a:r>
              <a:rPr sz="1000" b="0">
                <a:solidFill>
                  <a:srgbClr val="3C4043"/>
                </a:solidFill>
                <a:latin typeface="Arial"/>
              </a:rPr>
              <a:t>PRIMARY GOALS
Consistent scoring
Faster triage
Auditable handoff</a:t>
            </a:r>
          </a:p>
        </p:txBody>
      </p:sp>
      <p:sp>
        <p:nvSpPr>
          <p:cNvPr id="227" name="Rounded Rectangle 226"/>
          <p:cNvSpPr/>
          <p:nvPr/>
        </p:nvSpPr>
        <p:spPr>
          <a:xfrm>
            <a:off x="6263640" y="2697480"/>
            <a:ext cx="2377440" cy="1051560"/>
          </a:xfrm>
          <a:prstGeom prst="roundRect">
            <a:avLst/>
          </a:prstGeom>
          <a:solidFill>
            <a:srgbClr val="FFFFFF"/>
          </a:solidFill>
          <a:ln w="12700">
            <a:solidFill>
              <a:srgbClr val="CEEAD6"/>
            </a:solidFill>
          </a:ln>
        </p:spPr>
        <p:style>
          <a:lnRef idx="1">
            <a:schemeClr val="accent1"/>
          </a:lnRef>
          <a:fillRef idx="3">
            <a:schemeClr val="accent1"/>
          </a:fillRef>
          <a:effectRef idx="2">
            <a:schemeClr val="accent1"/>
          </a:effectRef>
          <a:fontRef idx="minor">
            <a:schemeClr val="lt1"/>
          </a:fontRef>
        </p:style>
        <p:txBody>
          <a:bodyPr wrap="square" lIns="128016" tIns="85344" rIns="128016" bIns="85344" rtlCol="0" anchor="ctr"/>
          <a:lstStyle/>
          <a:p>
            <a:pPr algn="l"/>
            <a:r>
              <a:rPr sz="1000" b="0">
                <a:solidFill>
                  <a:srgbClr val="3C4043"/>
                </a:solidFill>
                <a:latin typeface="Arial"/>
              </a:rPr>
              <a:t>CONTROL BOUNDARIES
Consent before AI
Human approval for HOT
No automatic email sending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48"/>
          <p:cNvSpPr txBox="1"/>
          <p:nvPr/>
        </p:nvSpPr>
        <p:spPr>
          <a:xfrm>
            <a:off x="517675" y="524350"/>
            <a:ext cx="6108600" cy="554100"/>
          </a:xfrm>
          <a:prstGeom prst="rect">
            <a:avLst/>
          </a:prstGeom>
          <a:noFill/>
          <a:ln>
            <a:noFill/>
          </a:ln>
        </p:spPr>
        <p:txBody>
          <a:bodyPr spcFirstLastPara="1" wrap="square" lIns="0"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200" b="0" i="0" u="none" strike="noStrike" cap="none">
                <a:solidFill>
                  <a:srgbClr val="3C4043"/>
                </a:solidFill>
                <a:latin typeface="Arial"/>
                <a:ea typeface="Open Sans"/>
                <a:cs typeface="Open Sans"/>
                <a:sym typeface="Open Sans"/>
              </a:rPr>
              <a:t>Lead-to-decision flow</a:t>
            </a:r>
            <a:endParaRPr sz="2400" b="0" i="0" u="none" strike="noStrike" cap="none">
              <a:solidFill>
                <a:srgbClr val="5F6368"/>
              </a:solidFill>
              <a:latin typeface="Open Sans"/>
              <a:ea typeface="Open Sans"/>
              <a:cs typeface="Open Sans"/>
              <a:sym typeface="Open Sans"/>
            </a:endParaRPr>
          </a:p>
        </p:txBody>
      </p:sp>
      <p:sp>
        <p:nvSpPr>
          <p:cNvPr id="227" name="Google Shape;227;p48"/>
          <p:cNvSpPr/>
          <p:nvPr/>
        </p:nvSpPr>
        <p:spPr>
          <a:xfrm>
            <a:off x="4211875" y="0"/>
            <a:ext cx="493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 name="Google Shape;228;p48"/>
          <p:cNvSpPr txBox="1"/>
          <p:nvPr/>
        </p:nvSpPr>
        <p:spPr>
          <a:xfrm>
            <a:off x="6011725" y="2294700"/>
            <a:ext cx="1332300" cy="554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5F6368"/>
              </a:solidFill>
              <a:latin typeface="Open Sans"/>
              <a:ea typeface="Open Sans"/>
              <a:cs typeface="Open Sans"/>
              <a:sym typeface="Open Sans"/>
            </a:endParaRPr>
          </a:p>
        </p:txBody>
      </p:sp>
      <p:sp>
        <p:nvSpPr>
          <p:cNvPr id="229" name="Google Shape;229;p48"/>
          <p:cNvSpPr txBox="1"/>
          <p:nvPr/>
        </p:nvSpPr>
        <p:spPr>
          <a:xfrm>
            <a:off x="517675" y="1522550"/>
            <a:ext cx="2421300" cy="723300"/>
          </a:xfrm>
          <a:prstGeom prst="rect">
            <a:avLst/>
          </a:prstGeom>
          <a:noFill/>
          <a:ln>
            <a:noFill/>
          </a:ln>
        </p:spPr>
        <p:txBody>
          <a:bodyPr spcFirstLastPara="1" wrap="square" lIns="0" tIns="91425" rIns="91425" bIns="91425" anchor="t" anchorCtr="0">
            <a:spAutoFit/>
          </a:bodyPr>
          <a:lstStyle/>
          <a:p>
            <a:pPr marL="0" marR="0" lvl="0" indent="0" algn="l" rtl="0">
              <a:lnSpc>
                <a:spcPct val="150000"/>
              </a:lnSpc>
              <a:spcBef>
                <a:spcPts val="0"/>
              </a:spcBef>
              <a:spcAft>
                <a:spcPts val="0"/>
              </a:spcAft>
              <a:buClr>
                <a:schemeClr val="dk1"/>
              </a:buClr>
              <a:buSzPts val="1100"/>
              <a:buFont typeface="Arial"/>
              <a:buNone/>
            </a:pPr>
            <a:r>
              <a:rPr lang="en" sz="1200" b="0" i="0" u="none" strike="noStrike" cap="none">
                <a:solidFill>
                  <a:srgbClr val="5F6368"/>
                </a:solidFill>
                <a:latin typeface="Arial"/>
                <a:ea typeface="Open Sans"/>
                <a:cs typeface="Open Sans"/>
                <a:sym typeface="Open Sans"/>
              </a:rPr>
              <a:t>The workflow uses explicit gates. Invalid records exit early, opt-outs suppress outreach, eligible leads receive a score and AI summary, and HOT leads move to human review.</a:t>
            </a:r>
            <a:endParaRPr sz="1400" b="0" i="0" u="none" strike="noStrike" cap="none">
              <a:solidFill>
                <a:srgbClr val="000000"/>
              </a:solidFill>
              <a:latin typeface="Arial"/>
              <a:ea typeface="Arial"/>
              <a:cs typeface="Arial"/>
              <a:sym typeface="Arial"/>
            </a:endParaRPr>
          </a:p>
        </p:txBody>
      </p:sp>
      <p:sp>
        <p:nvSpPr>
          <p:cNvPr id="230" name="Rounded Rectangle 229"/>
          <p:cNvSpPr/>
          <p:nvPr/>
        </p:nvSpPr>
        <p:spPr>
          <a:xfrm>
            <a:off x="4480560" y="576072"/>
            <a:ext cx="457200" cy="310896"/>
          </a:xfrm>
          <a:prstGeom prst="roundRect">
            <a:avLst/>
          </a:prstGeom>
          <a:solidFill>
            <a:srgbClr val="4285F4"/>
          </a:solidFill>
          <a:ln w="6350">
            <a:solidFill>
              <a:srgbClr val="4285F4"/>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900" b="1">
                <a:solidFill>
                  <a:srgbClr val="FFFFFF"/>
                </a:solidFill>
                <a:latin typeface="Arial"/>
              </a:rPr>
              <a:t>01</a:t>
            </a:r>
          </a:p>
        </p:txBody>
      </p:sp>
      <p:sp>
        <p:nvSpPr>
          <p:cNvPr id="231" name="Rounded Rectangle 230"/>
          <p:cNvSpPr/>
          <p:nvPr/>
        </p:nvSpPr>
        <p:spPr>
          <a:xfrm>
            <a:off x="5074920" y="502920"/>
            <a:ext cx="3611880" cy="658368"/>
          </a:xfrm>
          <a:prstGeom prst="round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wrap="square" lIns="128016" tIns="85344" rIns="128016" bIns="85344" rtlCol="0" anchor="ctr"/>
          <a:lstStyle/>
          <a:p>
            <a:pPr algn="l"/>
            <a:r>
              <a:rPr sz="1100" b="0">
                <a:solidFill>
                  <a:srgbClr val="3C4043"/>
                </a:solidFill>
                <a:latin typeface="Arial"/>
              </a:rPr>
              <a:t>INTAKE
Webhook / form</a:t>
            </a:r>
          </a:p>
        </p:txBody>
      </p:sp>
      <p:cxnSp>
        <p:nvCxnSpPr>
          <p:cNvPr id="232" name="Connector 231"/>
          <p:cNvCxnSpPr/>
          <p:nvPr/>
        </p:nvCxnSpPr>
        <p:spPr>
          <a:xfrm>
            <a:off x="6885432" y="1170432"/>
            <a:ext cx="0" cy="182880"/>
          </a:xfrm>
          <a:prstGeom prst="line">
            <a:avLst/>
          </a:prstGeom>
          <a:ln w="15240">
            <a:solidFill>
              <a:srgbClr val="9AA0A6"/>
            </a:solidFill>
          </a:ln>
        </p:spPr>
        <p:style>
          <a:lnRef idx="2">
            <a:schemeClr val="accent1"/>
          </a:lnRef>
          <a:fillRef idx="0">
            <a:schemeClr val="accent1"/>
          </a:fillRef>
          <a:effectRef idx="1">
            <a:schemeClr val="accent1"/>
          </a:effectRef>
          <a:fontRef idx="minor">
            <a:schemeClr val="tx1"/>
          </a:fontRef>
        </p:style>
      </p:cxnSp>
      <p:sp>
        <p:nvSpPr>
          <p:cNvPr id="233" name="Rounded Rectangle 232"/>
          <p:cNvSpPr/>
          <p:nvPr/>
        </p:nvSpPr>
        <p:spPr>
          <a:xfrm>
            <a:off x="4480560" y="1453896"/>
            <a:ext cx="457200" cy="310896"/>
          </a:xfrm>
          <a:prstGeom prst="roundRect">
            <a:avLst/>
          </a:prstGeom>
          <a:solidFill>
            <a:srgbClr val="4285F4"/>
          </a:solidFill>
          <a:ln w="6350">
            <a:solidFill>
              <a:srgbClr val="4285F4"/>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900" b="1">
                <a:solidFill>
                  <a:srgbClr val="FFFFFF"/>
                </a:solidFill>
                <a:latin typeface="Arial"/>
              </a:rPr>
              <a:t>02</a:t>
            </a:r>
          </a:p>
        </p:txBody>
      </p:sp>
      <p:sp>
        <p:nvSpPr>
          <p:cNvPr id="234" name="Rounded Rectangle 233"/>
          <p:cNvSpPr/>
          <p:nvPr/>
        </p:nvSpPr>
        <p:spPr>
          <a:xfrm>
            <a:off x="5074920" y="1380744"/>
            <a:ext cx="3611880" cy="658368"/>
          </a:xfrm>
          <a:prstGeom prst="round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wrap="square" lIns="128016" tIns="85344" rIns="128016" bIns="85344" rtlCol="0" anchor="ctr"/>
          <a:lstStyle/>
          <a:p>
            <a:pPr algn="l"/>
            <a:r>
              <a:rPr sz="1100" b="0">
                <a:solidFill>
                  <a:srgbClr val="3C4043"/>
                </a:solidFill>
                <a:latin typeface="Arial"/>
              </a:rPr>
              <a:t>VALIDATE
Normalize + dedupe</a:t>
            </a:r>
          </a:p>
        </p:txBody>
      </p:sp>
      <p:cxnSp>
        <p:nvCxnSpPr>
          <p:cNvPr id="235" name="Connector 234"/>
          <p:cNvCxnSpPr/>
          <p:nvPr/>
        </p:nvCxnSpPr>
        <p:spPr>
          <a:xfrm>
            <a:off x="6885432" y="2048256"/>
            <a:ext cx="0" cy="182880"/>
          </a:xfrm>
          <a:prstGeom prst="line">
            <a:avLst/>
          </a:prstGeom>
          <a:ln w="15240">
            <a:solidFill>
              <a:srgbClr val="9AA0A6"/>
            </a:solidFill>
          </a:ln>
        </p:spPr>
        <p:style>
          <a:lnRef idx="2">
            <a:schemeClr val="accent1"/>
          </a:lnRef>
          <a:fillRef idx="0">
            <a:schemeClr val="accent1"/>
          </a:fillRef>
          <a:effectRef idx="1">
            <a:schemeClr val="accent1"/>
          </a:effectRef>
          <a:fontRef idx="minor">
            <a:schemeClr val="tx1"/>
          </a:fontRef>
        </p:style>
      </p:cxnSp>
      <p:sp>
        <p:nvSpPr>
          <p:cNvPr id="236" name="Rounded Rectangle 235"/>
          <p:cNvSpPr/>
          <p:nvPr/>
        </p:nvSpPr>
        <p:spPr>
          <a:xfrm>
            <a:off x="4480560" y="2331720"/>
            <a:ext cx="457200" cy="310896"/>
          </a:xfrm>
          <a:prstGeom prst="roundRect">
            <a:avLst/>
          </a:prstGeom>
          <a:solidFill>
            <a:srgbClr val="EA4335"/>
          </a:solidFill>
          <a:ln w="6350">
            <a:solidFill>
              <a:srgbClr val="EA4335"/>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900" b="1">
                <a:solidFill>
                  <a:srgbClr val="FFFFFF"/>
                </a:solidFill>
                <a:latin typeface="Arial"/>
              </a:rPr>
              <a:t>03</a:t>
            </a:r>
          </a:p>
        </p:txBody>
      </p:sp>
      <p:sp>
        <p:nvSpPr>
          <p:cNvPr id="237" name="Rounded Rectangle 236"/>
          <p:cNvSpPr/>
          <p:nvPr/>
        </p:nvSpPr>
        <p:spPr>
          <a:xfrm>
            <a:off x="5074920" y="2258568"/>
            <a:ext cx="3611880" cy="658368"/>
          </a:xfrm>
          <a:prstGeom prst="roundRect">
            <a:avLst/>
          </a:prstGeom>
          <a:solidFill>
            <a:srgbClr val="FCE8E6"/>
          </a:solidFill>
          <a:ln w="12700">
            <a:solidFill>
              <a:srgbClr val="EA4335"/>
            </a:solidFill>
          </a:ln>
        </p:spPr>
        <p:style>
          <a:lnRef idx="1">
            <a:schemeClr val="accent1"/>
          </a:lnRef>
          <a:fillRef idx="3">
            <a:schemeClr val="accent1"/>
          </a:fillRef>
          <a:effectRef idx="2">
            <a:schemeClr val="accent1"/>
          </a:effectRef>
          <a:fontRef idx="minor">
            <a:schemeClr val="lt1"/>
          </a:fontRef>
        </p:style>
        <p:txBody>
          <a:bodyPr wrap="square" lIns="128016" tIns="85344" rIns="128016" bIns="85344" rtlCol="0" anchor="ctr"/>
          <a:lstStyle/>
          <a:p>
            <a:pPr algn="l"/>
            <a:r>
              <a:rPr sz="1100" b="0">
                <a:solidFill>
                  <a:srgbClr val="3C4043"/>
                </a:solidFill>
                <a:latin typeface="Arial"/>
              </a:rPr>
              <a:t>CONSENT
Stop or continue</a:t>
            </a:r>
          </a:p>
        </p:txBody>
      </p:sp>
      <p:cxnSp>
        <p:nvCxnSpPr>
          <p:cNvPr id="238" name="Connector 237"/>
          <p:cNvCxnSpPr/>
          <p:nvPr/>
        </p:nvCxnSpPr>
        <p:spPr>
          <a:xfrm>
            <a:off x="6885432" y="2926079"/>
            <a:ext cx="0" cy="182881"/>
          </a:xfrm>
          <a:prstGeom prst="line">
            <a:avLst/>
          </a:prstGeom>
          <a:ln w="15240">
            <a:solidFill>
              <a:srgbClr val="9AA0A6"/>
            </a:solidFill>
          </a:ln>
        </p:spPr>
        <p:style>
          <a:lnRef idx="2">
            <a:schemeClr val="accent1"/>
          </a:lnRef>
          <a:fillRef idx="0">
            <a:schemeClr val="accent1"/>
          </a:fillRef>
          <a:effectRef idx="1">
            <a:schemeClr val="accent1"/>
          </a:effectRef>
          <a:fontRef idx="minor">
            <a:schemeClr val="tx1"/>
          </a:fontRef>
        </p:style>
      </p:cxnSp>
      <p:sp>
        <p:nvSpPr>
          <p:cNvPr id="239" name="Rounded Rectangle 238"/>
          <p:cNvSpPr/>
          <p:nvPr/>
        </p:nvSpPr>
        <p:spPr>
          <a:xfrm>
            <a:off x="4480560" y="3209544"/>
            <a:ext cx="457200" cy="310896"/>
          </a:xfrm>
          <a:prstGeom prst="roundRect">
            <a:avLst/>
          </a:prstGeom>
          <a:solidFill>
            <a:srgbClr val="A56A00"/>
          </a:solidFill>
          <a:ln w="6350">
            <a:solidFill>
              <a:srgbClr val="A56A00"/>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900" b="1">
                <a:solidFill>
                  <a:srgbClr val="FFFFFF"/>
                </a:solidFill>
                <a:latin typeface="Arial"/>
              </a:rPr>
              <a:t>04</a:t>
            </a:r>
          </a:p>
        </p:txBody>
      </p:sp>
      <p:sp>
        <p:nvSpPr>
          <p:cNvPr id="240" name="Rounded Rectangle 239"/>
          <p:cNvSpPr/>
          <p:nvPr/>
        </p:nvSpPr>
        <p:spPr>
          <a:xfrm>
            <a:off x="5074920" y="3136391"/>
            <a:ext cx="3611880" cy="658368"/>
          </a:xfrm>
          <a:prstGeom prst="roundRect">
            <a:avLst/>
          </a:prstGeom>
          <a:solidFill>
            <a:srgbClr val="FEF7E0"/>
          </a:solidFill>
          <a:ln w="12700">
            <a:solidFill>
              <a:srgbClr val="A56A00"/>
            </a:solidFill>
          </a:ln>
        </p:spPr>
        <p:style>
          <a:lnRef idx="1">
            <a:schemeClr val="accent1"/>
          </a:lnRef>
          <a:fillRef idx="3">
            <a:schemeClr val="accent1"/>
          </a:fillRef>
          <a:effectRef idx="2">
            <a:schemeClr val="accent1"/>
          </a:effectRef>
          <a:fontRef idx="minor">
            <a:schemeClr val="lt1"/>
          </a:fontRef>
        </p:style>
        <p:txBody>
          <a:bodyPr wrap="square" lIns="128016" tIns="85344" rIns="128016" bIns="85344" rtlCol="0" anchor="ctr"/>
          <a:lstStyle/>
          <a:p>
            <a:pPr algn="l"/>
            <a:r>
              <a:rPr sz="1100" b="0">
                <a:solidFill>
                  <a:srgbClr val="3C4043"/>
                </a:solidFill>
                <a:latin typeface="Arial"/>
              </a:rPr>
              <a:t>QUALIFY
Score + AI summary</a:t>
            </a:r>
          </a:p>
        </p:txBody>
      </p:sp>
      <p:cxnSp>
        <p:nvCxnSpPr>
          <p:cNvPr id="241" name="Connector 240"/>
          <p:cNvCxnSpPr/>
          <p:nvPr/>
        </p:nvCxnSpPr>
        <p:spPr>
          <a:xfrm>
            <a:off x="6885432" y="3803904"/>
            <a:ext cx="0" cy="182879"/>
          </a:xfrm>
          <a:prstGeom prst="line">
            <a:avLst/>
          </a:prstGeom>
          <a:ln w="15240">
            <a:solidFill>
              <a:srgbClr val="9AA0A6"/>
            </a:solidFill>
          </a:ln>
        </p:spPr>
        <p:style>
          <a:lnRef idx="2">
            <a:schemeClr val="accent1"/>
          </a:lnRef>
          <a:fillRef idx="0">
            <a:schemeClr val="accent1"/>
          </a:fillRef>
          <a:effectRef idx="1">
            <a:schemeClr val="accent1"/>
          </a:effectRef>
          <a:fontRef idx="minor">
            <a:schemeClr val="tx1"/>
          </a:fontRef>
        </p:style>
      </p:cxnSp>
      <p:sp>
        <p:nvSpPr>
          <p:cNvPr id="242" name="Rounded Rectangle 241"/>
          <p:cNvSpPr/>
          <p:nvPr/>
        </p:nvSpPr>
        <p:spPr>
          <a:xfrm>
            <a:off x="4480560" y="4087368"/>
            <a:ext cx="457200" cy="310896"/>
          </a:xfrm>
          <a:prstGeom prst="roundRect">
            <a:avLst/>
          </a:prstGeom>
          <a:solidFill>
            <a:srgbClr val="34A853"/>
          </a:solidFill>
          <a:ln w="6350">
            <a:solidFill>
              <a:srgbClr val="34A853"/>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900" b="1">
                <a:solidFill>
                  <a:srgbClr val="FFFFFF"/>
                </a:solidFill>
                <a:latin typeface="Arial"/>
              </a:rPr>
              <a:t>05</a:t>
            </a:r>
          </a:p>
        </p:txBody>
      </p:sp>
      <p:sp>
        <p:nvSpPr>
          <p:cNvPr id="243" name="Rounded Rectangle 242"/>
          <p:cNvSpPr/>
          <p:nvPr/>
        </p:nvSpPr>
        <p:spPr>
          <a:xfrm>
            <a:off x="5074920" y="4014215"/>
            <a:ext cx="3611880" cy="658368"/>
          </a:xfrm>
          <a:prstGeom prst="roundRect">
            <a:avLst/>
          </a:prstGeom>
          <a:solidFill>
            <a:srgbClr val="E6F4EA"/>
          </a:solidFill>
          <a:ln w="12700">
            <a:solidFill>
              <a:srgbClr val="34A853"/>
            </a:solidFill>
          </a:ln>
        </p:spPr>
        <p:style>
          <a:lnRef idx="1">
            <a:schemeClr val="accent1"/>
          </a:lnRef>
          <a:fillRef idx="3">
            <a:schemeClr val="accent1"/>
          </a:fillRef>
          <a:effectRef idx="2">
            <a:schemeClr val="accent1"/>
          </a:effectRef>
          <a:fontRef idx="minor">
            <a:schemeClr val="lt1"/>
          </a:fontRef>
        </p:style>
        <p:txBody>
          <a:bodyPr wrap="square" lIns="128016" tIns="85344" rIns="128016" bIns="85344" rtlCol="0" anchor="ctr"/>
          <a:lstStyle/>
          <a:p>
            <a:pPr algn="l"/>
            <a:r>
              <a:rPr sz="1100" b="0">
                <a:solidFill>
                  <a:srgbClr val="3C4043"/>
                </a:solidFill>
                <a:latin typeface="Arial"/>
              </a:rPr>
              <a:t>ROUTE
Review / nurture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9900"/>
        </a:solidFill>
        <a:effectLst/>
      </p:bgPr>
    </p:bg>
    <p:spTree>
      <p:nvGrpSpPr>
        <p:cNvPr id="1" name="Shape 233"/>
        <p:cNvGrpSpPr/>
        <p:nvPr/>
      </p:nvGrpSpPr>
      <p:grpSpPr>
        <a:xfrm>
          <a:off x="0" y="0"/>
          <a:ext cx="0" cy="0"/>
          <a:chOff x="0" y="0"/>
          <a:chExt cx="0" cy="0"/>
        </a:xfrm>
      </p:grpSpPr>
      <p:sp>
        <p:nvSpPr>
          <p:cNvPr id="234" name="Google Shape;234;p49"/>
          <p:cNvSpPr txBox="1"/>
          <p:nvPr/>
        </p:nvSpPr>
        <p:spPr>
          <a:xfrm>
            <a:off x="3721275" y="1886850"/>
            <a:ext cx="6302100" cy="1369800"/>
          </a:xfrm>
          <a:prstGeom prst="rect">
            <a:avLst/>
          </a:prstGeom>
          <a:noFill/>
          <a:ln>
            <a:noFill/>
          </a:ln>
        </p:spPr>
        <p:txBody>
          <a:bodyPr spcFirstLastPara="1" wrap="square" lIns="91425" tIns="91425" rIns="91425" bIns="91425" anchor="t" anchorCtr="0">
            <a:spAutoFit/>
          </a:bodyPr>
          <a:lstStyle/>
          <a:p>
            <a:pPr marL="457200" marR="0" lvl="0" indent="-317500" algn="l" rtl="0">
              <a:lnSpc>
                <a:spcPct val="150000"/>
              </a:lnSpc>
              <a:spcBef>
                <a:spcPts val="0"/>
              </a:spcBef>
              <a:spcAft>
                <a:spcPts val="0"/>
              </a:spcAft>
              <a:buClr>
                <a:srgbClr val="FFFFFF"/>
              </a:buClr>
              <a:buSzPts val="1400"/>
              <a:buFont typeface="Open Sans"/>
              <a:buChar char="●"/>
            </a:pPr>
            <a:r>
              <a:rPr lang="en" sz="1400" b="0" i="0" u="none" strike="noStrike" cap="none">
                <a:solidFill>
                  <a:srgbClr val="FFFFFF"/>
                </a:solidFill>
                <a:latin typeface="Arial"/>
                <a:ea typeface="Open Sans"/>
                <a:cs typeface="Open Sans"/>
                <a:sym typeface="Open Sans"/>
              </a:rPr>
              <a:t>Input contract</a:t>
            </a:r>
            <a:endParaRPr sz="1400" b="0" i="0" u="none" strike="noStrike" cap="none">
              <a:solidFill>
                <a:srgbClr val="FFFFFF"/>
              </a:solidFill>
              <a:latin typeface="Open Sans"/>
              <a:ea typeface="Open Sans"/>
              <a:cs typeface="Open Sans"/>
              <a:sym typeface="Open Sans"/>
            </a:endParaRPr>
          </a:p>
          <a:p>
            <a:pPr marL="457200" marR="0" lvl="0" indent="-317500" algn="l" rtl="0">
              <a:lnSpc>
                <a:spcPct val="150000"/>
              </a:lnSpc>
              <a:spcBef>
                <a:spcPts val="0"/>
              </a:spcBef>
              <a:spcAft>
                <a:spcPts val="0"/>
              </a:spcAft>
              <a:buClr>
                <a:srgbClr val="FFFFFF"/>
              </a:buClr>
              <a:buSzPts val="1400"/>
              <a:buFont typeface="Open Sans"/>
              <a:buChar char="●"/>
            </a:pPr>
            <a:r>
              <a:rPr lang="en" sz="1400" b="0" i="0" u="none" strike="noStrike" cap="none">
                <a:solidFill>
                  <a:srgbClr val="FFFFFF"/>
                </a:solidFill>
                <a:latin typeface="Arial"/>
                <a:ea typeface="Open Sans"/>
                <a:cs typeface="Open Sans"/>
                <a:sym typeface="Open Sans"/>
              </a:rPr>
              <a:t>Native-node pipeline</a:t>
            </a:r>
            <a:endParaRPr sz="1400" b="0" i="0" u="none" strike="noStrike" cap="none">
              <a:solidFill>
                <a:srgbClr val="FFFFFF"/>
              </a:solidFill>
              <a:latin typeface="Open Sans"/>
              <a:ea typeface="Open Sans"/>
              <a:cs typeface="Open Sans"/>
              <a:sym typeface="Open Sans"/>
            </a:endParaRPr>
          </a:p>
          <a:p>
            <a:pPr marL="457200" marR="0" lvl="0" indent="-317500" algn="l" rtl="0">
              <a:lnSpc>
                <a:spcPct val="150000"/>
              </a:lnSpc>
              <a:spcBef>
                <a:spcPts val="0"/>
              </a:spcBef>
              <a:spcAft>
                <a:spcPts val="0"/>
              </a:spcAft>
              <a:buClr>
                <a:srgbClr val="FFFFFF"/>
              </a:buClr>
              <a:buSzPts val="1400"/>
              <a:buFont typeface="Open Sans"/>
              <a:buChar char="●"/>
            </a:pPr>
            <a:r>
              <a:rPr lang="en" sz="1400" b="0" i="0" u="none" strike="noStrike" cap="none">
                <a:solidFill>
                  <a:srgbClr val="FFFFFF"/>
                </a:solidFill>
                <a:latin typeface="Arial"/>
                <a:ea typeface="Open Sans"/>
                <a:cs typeface="Open Sans"/>
                <a:sym typeface="Open Sans"/>
              </a:rPr>
              <a:t>AI-assisted qualification</a:t>
            </a:r>
            <a:endParaRPr sz="1400" b="0" i="0" u="none" strike="noStrike" cap="none">
              <a:solidFill>
                <a:srgbClr val="FFFFFF"/>
              </a:solidFill>
              <a:latin typeface="Open Sans"/>
              <a:ea typeface="Open Sans"/>
              <a:cs typeface="Open Sans"/>
              <a:sym typeface="Open Sans"/>
            </a:endParaRPr>
          </a:p>
          <a:p>
            <a:pPr marL="457200" marR="0" lvl="0" indent="-317500" algn="l" rtl="0">
              <a:lnSpc>
                <a:spcPct val="150000"/>
              </a:lnSpc>
              <a:spcBef>
                <a:spcPts val="0"/>
              </a:spcBef>
              <a:spcAft>
                <a:spcPts val="0"/>
              </a:spcAft>
              <a:buClr>
                <a:srgbClr val="FFFFFF"/>
              </a:buClr>
              <a:buSzPts val="1400"/>
              <a:buFont typeface="Open Sans"/>
              <a:buChar char="●"/>
            </a:pPr>
            <a:r>
              <a:rPr lang="en" sz="1400" b="0" i="0" u="none" strike="noStrike" cap="none">
                <a:solidFill>
                  <a:srgbClr val="FFFFFF"/>
                </a:solidFill>
                <a:latin typeface="Arial"/>
                <a:ea typeface="Open Sans"/>
                <a:cs typeface="Open Sans"/>
                <a:sym typeface="Open Sans"/>
              </a:rPr>
              <a:t>Synthetic test scenarios</a:t>
            </a:r>
            <a:endParaRPr sz="1400" b="0" i="0" u="none" strike="noStrike" cap="none">
              <a:solidFill>
                <a:srgbClr val="FFFFFF"/>
              </a:solidFill>
              <a:latin typeface="Open Sans"/>
              <a:ea typeface="Open Sans"/>
              <a:cs typeface="Open Sans"/>
              <a:sym typeface="Open Sans"/>
            </a:endParaRPr>
          </a:p>
        </p:txBody>
      </p:sp>
      <p:sp>
        <p:nvSpPr>
          <p:cNvPr id="235" name="Google Shape;235;p49"/>
          <p:cNvSpPr txBox="1"/>
          <p:nvPr/>
        </p:nvSpPr>
        <p:spPr>
          <a:xfrm>
            <a:off x="228600" y="1938528"/>
            <a:ext cx="2926080" cy="1261872"/>
          </a:xfrm>
          <a:prstGeom prst="rect">
            <a:avLst/>
          </a:prstGeom>
          <a:noFill/>
          <a:ln>
            <a:noFill/>
          </a:ln>
        </p:spPr>
        <p:txBody>
          <a:bodyPr spcFirstLastPara="1" wrap="square" lIns="18288" tIns="18288" rIns="18288" bIns="18288" anchor="ctr" anchorCtr="0">
            <a:spAutoFit/>
          </a:bodyPr>
          <a:lstStyle/>
          <a:p>
            <a:pPr marL="0" marR="0" lvl="0" indent="0" algn="ctr" rtl="0">
              <a:lnSpc>
                <a:spcPct val="115000"/>
              </a:lnSpc>
              <a:spcBef>
                <a:spcPts val="0"/>
              </a:spcBef>
              <a:spcAft>
                <a:spcPts val="0"/>
              </a:spcAft>
              <a:buClr>
                <a:schemeClr val="dk1"/>
              </a:buClr>
              <a:buSzPts val="1100"/>
              <a:buFont typeface="Arial"/>
              <a:buNone/>
            </a:pPr>
            <a:r>
              <a:rPr sz="2400">
                <a:solidFill>
                  <a:srgbClr val="FFFFFF"/>
                </a:solidFill>
                <a:latin typeface="Arial"/>
              </a:rPr>
              <a:t>Build</a:t>
            </a:r>
            <a:endParaRPr sz="2400" b="0" i="0" u="none" strike="noStrike" cap="none">
              <a:solidFill>
                <a:srgbClr val="FFFFFF"/>
              </a:solidFill>
              <a:latin typeface="Open Sans"/>
              <a:ea typeface="Open Sans"/>
              <a:cs typeface="Open Sans"/>
              <a:sym typeface="Open Sans"/>
            </a:endParaRPr>
          </a:p>
          <a:p>
            <a:pPr algn="ctr">
              <a:spcBef>
                <a:spcPts val="0"/>
              </a:spcBef>
              <a:spcAft>
                <a:spcPts val="0"/>
              </a:spcAft>
            </a:pPr>
            <a:r>
              <a:rPr sz="2400">
                <a:solidFill>
                  <a:srgbClr val="FFFFFF"/>
                </a:solidFill>
                <a:latin typeface="Arial"/>
              </a:rPr>
              <a:t>the agent</a:t>
            </a:r>
          </a:p>
        </p:txBody>
      </p:sp>
      <p:cxnSp>
        <p:nvCxnSpPr>
          <p:cNvPr id="236" name="Google Shape;236;p49"/>
          <p:cNvCxnSpPr/>
          <p:nvPr/>
        </p:nvCxnSpPr>
        <p:spPr>
          <a:xfrm>
            <a:off x="3460100" y="1032150"/>
            <a:ext cx="36600" cy="3079200"/>
          </a:xfrm>
          <a:prstGeom prst="straightConnector1">
            <a:avLst/>
          </a:prstGeom>
          <a:noFill/>
          <a:ln w="19050" cap="flat" cmpd="sng">
            <a:solidFill>
              <a:srgbClr val="FFFFFF"/>
            </a:solidFill>
            <a:prstDash val="solid"/>
            <a:round/>
            <a:headEnd type="none" w="sm" len="sm"/>
            <a:tailEnd type="none" w="sm" len="sm"/>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50"/>
          <p:cNvSpPr/>
          <p:nvPr/>
        </p:nvSpPr>
        <p:spPr>
          <a:xfrm>
            <a:off x="4211875" y="0"/>
            <a:ext cx="493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 name="Google Shape;242;p50"/>
          <p:cNvSpPr txBox="1"/>
          <p:nvPr/>
        </p:nvSpPr>
        <p:spPr>
          <a:xfrm>
            <a:off x="517675" y="524350"/>
            <a:ext cx="7000800" cy="554100"/>
          </a:xfrm>
          <a:prstGeom prst="rect">
            <a:avLst/>
          </a:prstGeom>
          <a:noFill/>
          <a:ln>
            <a:noFill/>
          </a:ln>
        </p:spPr>
        <p:txBody>
          <a:bodyPr spcFirstLastPara="1" wrap="square" lIns="0"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200" b="0" i="0" u="none" strike="noStrike" cap="none">
                <a:solidFill>
                  <a:srgbClr val="3C4043"/>
                </a:solidFill>
                <a:latin typeface="Arial"/>
                <a:ea typeface="Open Sans"/>
                <a:cs typeface="Open Sans"/>
                <a:sym typeface="Open Sans"/>
              </a:rPr>
              <a:t>Input contract &amp; validation</a:t>
            </a:r>
            <a:endParaRPr sz="2400" b="0" i="0" u="none" strike="noStrike" cap="none">
              <a:solidFill>
                <a:srgbClr val="5F6368"/>
              </a:solidFill>
              <a:latin typeface="Open Sans"/>
              <a:ea typeface="Open Sans"/>
              <a:cs typeface="Open Sans"/>
              <a:sym typeface="Open Sans"/>
            </a:endParaRPr>
          </a:p>
        </p:txBody>
      </p:sp>
      <p:sp>
        <p:nvSpPr>
          <p:cNvPr id="243" name="Google Shape;243;p50"/>
          <p:cNvSpPr txBox="1"/>
          <p:nvPr/>
        </p:nvSpPr>
        <p:spPr>
          <a:xfrm>
            <a:off x="517675" y="1522550"/>
            <a:ext cx="2421300" cy="723300"/>
          </a:xfrm>
          <a:prstGeom prst="rect">
            <a:avLst/>
          </a:prstGeom>
          <a:noFill/>
          <a:ln>
            <a:noFill/>
          </a:ln>
        </p:spPr>
        <p:txBody>
          <a:bodyPr spcFirstLastPara="1" wrap="square" lIns="0" tIns="91425" rIns="91425" bIns="91425" anchor="t" anchorCtr="0">
            <a:spAutoFit/>
          </a:bodyPr>
          <a:lstStyle/>
          <a:p>
            <a:pPr marL="0" marR="0" lvl="0" indent="0" algn="l" rtl="0">
              <a:lnSpc>
                <a:spcPct val="150000"/>
              </a:lnSpc>
              <a:spcBef>
                <a:spcPts val="0"/>
              </a:spcBef>
              <a:spcAft>
                <a:spcPts val="0"/>
              </a:spcAft>
              <a:buClr>
                <a:schemeClr val="dk1"/>
              </a:buClr>
              <a:buSzPts val="1100"/>
              <a:buFont typeface="Arial"/>
              <a:buNone/>
            </a:pPr>
            <a:r>
              <a:rPr lang="en" sz="1200" b="0" i="0" u="none" strike="noStrike" cap="none">
                <a:solidFill>
                  <a:srgbClr val="5F6368"/>
                </a:solidFill>
                <a:latin typeface="Arial"/>
                <a:ea typeface="Open Sans"/>
                <a:cs typeface="Open Sans"/>
                <a:sym typeface="Open Sans"/>
              </a:rPr>
              <a:t>Define what can enter the workflow before enabling AI. Email and an explicit consent choice are required for intake; other qualification fields may remain blank so opt-out requests can still be processed safely.</a:t>
            </a:r>
            <a:endParaRPr sz="1400" b="0" i="0" u="none" strike="noStrike" cap="none">
              <a:solidFill>
                <a:srgbClr val="000000"/>
              </a:solidFill>
              <a:latin typeface="Arial"/>
              <a:ea typeface="Arial"/>
              <a:cs typeface="Arial"/>
              <a:sym typeface="Arial"/>
            </a:endParaRPr>
          </a:p>
        </p:txBody>
      </p:sp>
      <p:sp>
        <p:nvSpPr>
          <p:cNvPr id="244" name="Google Shape;244;p50"/>
          <p:cNvSpPr txBox="1"/>
          <p:nvPr/>
        </p:nvSpPr>
        <p:spPr>
          <a:xfrm>
            <a:off x="5830075" y="1833000"/>
            <a:ext cx="1695600" cy="1477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5F6368"/>
              </a:solidFill>
              <a:latin typeface="Open Sans"/>
              <a:ea typeface="Open Sans"/>
              <a:cs typeface="Open Sans"/>
              <a:sym typeface="Open Sans"/>
            </a:endParaRPr>
          </a:p>
        </p:txBody>
      </p:sp>
      <p:sp>
        <p:nvSpPr>
          <p:cNvPr id="245" name="Rectangle 244"/>
          <p:cNvSpPr/>
          <p:nvPr/>
        </p:nvSpPr>
        <p:spPr>
          <a:xfrm>
            <a:off x="4416552" y="502920"/>
            <a:ext cx="4389120" cy="4343400"/>
          </a:xfrm>
          <a:prstGeom prst="rect">
            <a:avLst/>
          </a:prstGeom>
          <a:solidFill>
            <a:srgbClr val="FFFFFF"/>
          </a:solidFill>
          <a:ln w="12700">
            <a:solidFill>
              <a:srgbClr val="DADCE0"/>
            </a:solidFill>
          </a:ln>
        </p:spPr>
        <p:style>
          <a:lnRef idx="1">
            <a:schemeClr val="accent1"/>
          </a:lnRef>
          <a:fillRef idx="3">
            <a:schemeClr val="accent1"/>
          </a:fillRef>
          <a:effectRef idx="2">
            <a:schemeClr val="accent1"/>
          </a:effectRef>
          <a:fontRef idx="minor">
            <a:schemeClr val="lt1"/>
          </a:fontRef>
        </p:style>
        <p:txBody>
          <a:bodyPr wrap="square" lIns="73152" tIns="48768" rIns="73152" bIns="48768" rtlCol="0" anchor="ctr"/>
          <a:lstStyle/>
          <a:p>
            <a:pPr algn="ctr"/>
            <a:endParaRPr/>
          </a:p>
        </p:txBody>
      </p:sp>
      <p:sp>
        <p:nvSpPr>
          <p:cNvPr id="246" name="TextBox 245"/>
          <p:cNvSpPr txBox="1"/>
          <p:nvPr/>
        </p:nvSpPr>
        <p:spPr>
          <a:xfrm>
            <a:off x="4681728" y="713232"/>
            <a:ext cx="3840480" cy="320040"/>
          </a:xfrm>
          <a:prstGeom prst="rect">
            <a:avLst/>
          </a:prstGeom>
          <a:noFill/>
        </p:spPr>
        <p:txBody>
          <a:bodyPr wrap="square" lIns="18288" tIns="18288" rIns="18288" bIns="18288" anchor="t">
            <a:spAutoFit/>
          </a:bodyPr>
          <a:lstStyle/>
          <a:p>
            <a:pPr algn="l"/>
            <a:r>
              <a:rPr sz="1400" b="1">
                <a:solidFill>
                  <a:srgbClr val="4285F4"/>
                </a:solidFill>
                <a:latin typeface="Arial"/>
              </a:rPr>
              <a:t>LEAD PAYLOAD CONTRACT</a:t>
            </a:r>
          </a:p>
        </p:txBody>
      </p:sp>
      <p:sp>
        <p:nvSpPr>
          <p:cNvPr id="247" name="Rounded Rectangle 246"/>
          <p:cNvSpPr/>
          <p:nvPr/>
        </p:nvSpPr>
        <p:spPr>
          <a:xfrm>
            <a:off x="4681728" y="1152144"/>
            <a:ext cx="1143000" cy="393192"/>
          </a:xfrm>
          <a:prstGeom prst="roundRect">
            <a:avLst/>
          </a:prstGeom>
          <a:solidFill>
            <a:srgbClr val="E8F0FE"/>
          </a:solidFill>
          <a:ln w="12700">
            <a:solidFill>
              <a:srgbClr val="DADCE0"/>
            </a:solidFill>
          </a:ln>
        </p:spPr>
        <p:style>
          <a:lnRef idx="1">
            <a:schemeClr val="accent1"/>
          </a:lnRef>
          <a:fillRef idx="3">
            <a:schemeClr val="accent1"/>
          </a:fillRef>
          <a:effectRef idx="2">
            <a:schemeClr val="accent1"/>
          </a:effectRef>
          <a:fontRef idx="minor">
            <a:schemeClr val="lt1"/>
          </a:fontRef>
        </p:style>
        <p:txBody>
          <a:bodyPr wrap="square" lIns="73152" tIns="48768" rIns="73152" bIns="48768" rtlCol="0" anchor="ctr"/>
          <a:lstStyle/>
          <a:p>
            <a:pPr algn="l"/>
            <a:r>
              <a:rPr sz="1000" b="1">
                <a:solidFill>
                  <a:srgbClr val="3C4043"/>
                </a:solidFill>
                <a:latin typeface="Arial"/>
              </a:rPr>
              <a:t>email</a:t>
            </a:r>
          </a:p>
        </p:txBody>
      </p:sp>
      <p:sp>
        <p:nvSpPr>
          <p:cNvPr id="248" name="Rounded Rectangle 247"/>
          <p:cNvSpPr/>
          <p:nvPr/>
        </p:nvSpPr>
        <p:spPr>
          <a:xfrm>
            <a:off x="5925312" y="1152144"/>
            <a:ext cx="1042415" cy="393192"/>
          </a:xfrm>
          <a:prstGeom prst="roundRect">
            <a:avLst/>
          </a:prstGeom>
          <a:solidFill>
            <a:srgbClr val="FFFFFF"/>
          </a:solidFill>
          <a:ln w="12700">
            <a:solidFill>
              <a:srgbClr val="DADCE0"/>
            </a:solidFill>
          </a:ln>
        </p:spPr>
        <p:style>
          <a:lnRef idx="1">
            <a:schemeClr val="accent1"/>
          </a:lnRef>
          <a:fillRef idx="3">
            <a:schemeClr val="accent1"/>
          </a:fillRef>
          <a:effectRef idx="2">
            <a:schemeClr val="accent1"/>
          </a:effectRef>
          <a:fontRef idx="minor">
            <a:schemeClr val="lt1"/>
          </a:fontRef>
        </p:style>
        <p:txBody>
          <a:bodyPr wrap="square" lIns="73152" tIns="48768" rIns="73152" bIns="48768" rtlCol="0" anchor="ctr"/>
          <a:lstStyle/>
          <a:p>
            <a:pPr algn="ctr"/>
            <a:r>
              <a:rPr sz="900" b="1">
                <a:solidFill>
                  <a:srgbClr val="4285F4"/>
                </a:solidFill>
                <a:latin typeface="Arial"/>
              </a:rPr>
              <a:t>Required</a:t>
            </a:r>
          </a:p>
        </p:txBody>
      </p:sp>
      <p:sp>
        <p:nvSpPr>
          <p:cNvPr id="249" name="TextBox 248"/>
          <p:cNvSpPr txBox="1"/>
          <p:nvPr/>
        </p:nvSpPr>
        <p:spPr>
          <a:xfrm>
            <a:off x="7077456" y="1170432"/>
            <a:ext cx="1481328" cy="356616"/>
          </a:xfrm>
          <a:prstGeom prst="rect">
            <a:avLst/>
          </a:prstGeom>
          <a:noFill/>
        </p:spPr>
        <p:txBody>
          <a:bodyPr wrap="square" lIns="18288" tIns="18288" rIns="18288" bIns="18288" anchor="ctr">
            <a:spAutoFit/>
          </a:bodyPr>
          <a:lstStyle/>
          <a:p>
            <a:pPr algn="l"/>
            <a:r>
              <a:rPr sz="880" b="0">
                <a:solidFill>
                  <a:srgbClr val="5F6368"/>
                </a:solidFill>
                <a:latin typeface="Arial"/>
              </a:rPr>
              <a:t>Normalized for exact dedupe</a:t>
            </a:r>
          </a:p>
        </p:txBody>
      </p:sp>
      <p:sp>
        <p:nvSpPr>
          <p:cNvPr id="250" name="Rounded Rectangle 249"/>
          <p:cNvSpPr/>
          <p:nvPr/>
        </p:nvSpPr>
        <p:spPr>
          <a:xfrm>
            <a:off x="4681728" y="1682495"/>
            <a:ext cx="1143000" cy="393192"/>
          </a:xfrm>
          <a:prstGeom prst="roundRect">
            <a:avLst/>
          </a:prstGeom>
          <a:solidFill>
            <a:srgbClr val="E8F0FE"/>
          </a:solidFill>
          <a:ln w="12700">
            <a:solidFill>
              <a:srgbClr val="DADCE0"/>
            </a:solidFill>
          </a:ln>
        </p:spPr>
        <p:style>
          <a:lnRef idx="1">
            <a:schemeClr val="accent1"/>
          </a:lnRef>
          <a:fillRef idx="3">
            <a:schemeClr val="accent1"/>
          </a:fillRef>
          <a:effectRef idx="2">
            <a:schemeClr val="accent1"/>
          </a:effectRef>
          <a:fontRef idx="minor">
            <a:schemeClr val="lt1"/>
          </a:fontRef>
        </p:style>
        <p:txBody>
          <a:bodyPr wrap="square" lIns="73152" tIns="48768" rIns="73152" bIns="48768" rtlCol="0" anchor="ctr"/>
          <a:lstStyle/>
          <a:p>
            <a:pPr algn="l"/>
            <a:r>
              <a:rPr sz="1000" b="1">
                <a:solidFill>
                  <a:srgbClr val="3C4043"/>
                </a:solidFill>
                <a:latin typeface="Arial"/>
              </a:rPr>
              <a:t>consent</a:t>
            </a:r>
          </a:p>
        </p:txBody>
      </p:sp>
      <p:sp>
        <p:nvSpPr>
          <p:cNvPr id="251" name="Rounded Rectangle 250"/>
          <p:cNvSpPr/>
          <p:nvPr/>
        </p:nvSpPr>
        <p:spPr>
          <a:xfrm>
            <a:off x="5925312" y="1682495"/>
            <a:ext cx="1042415" cy="393192"/>
          </a:xfrm>
          <a:prstGeom prst="roundRect">
            <a:avLst/>
          </a:prstGeom>
          <a:solidFill>
            <a:srgbClr val="FFFFFF"/>
          </a:solidFill>
          <a:ln w="12700">
            <a:solidFill>
              <a:srgbClr val="DADCE0"/>
            </a:solidFill>
          </a:ln>
        </p:spPr>
        <p:style>
          <a:lnRef idx="1">
            <a:schemeClr val="accent1"/>
          </a:lnRef>
          <a:fillRef idx="3">
            <a:schemeClr val="accent1"/>
          </a:fillRef>
          <a:effectRef idx="2">
            <a:schemeClr val="accent1"/>
          </a:effectRef>
          <a:fontRef idx="minor">
            <a:schemeClr val="lt1"/>
          </a:fontRef>
        </p:style>
        <p:txBody>
          <a:bodyPr wrap="square" lIns="73152" tIns="48768" rIns="73152" bIns="48768" rtlCol="0" anchor="ctr"/>
          <a:lstStyle/>
          <a:p>
            <a:pPr algn="ctr"/>
            <a:r>
              <a:rPr sz="900" b="1">
                <a:solidFill>
                  <a:srgbClr val="4285F4"/>
                </a:solidFill>
                <a:latin typeface="Arial"/>
              </a:rPr>
              <a:t>Required</a:t>
            </a:r>
          </a:p>
        </p:txBody>
      </p:sp>
      <p:sp>
        <p:nvSpPr>
          <p:cNvPr id="252" name="TextBox 251"/>
          <p:cNvSpPr txBox="1"/>
          <p:nvPr/>
        </p:nvSpPr>
        <p:spPr>
          <a:xfrm>
            <a:off x="7077456" y="1700784"/>
            <a:ext cx="1481328" cy="356616"/>
          </a:xfrm>
          <a:prstGeom prst="rect">
            <a:avLst/>
          </a:prstGeom>
          <a:noFill/>
        </p:spPr>
        <p:txBody>
          <a:bodyPr wrap="square" lIns="18288" tIns="18288" rIns="18288" bIns="18288" anchor="ctr">
            <a:spAutoFit/>
          </a:bodyPr>
          <a:lstStyle/>
          <a:p>
            <a:pPr algn="l"/>
            <a:r>
              <a:rPr sz="880" b="0">
                <a:solidFill>
                  <a:srgbClr val="5F6368"/>
                </a:solidFill>
                <a:latin typeface="Arial"/>
              </a:rPr>
              <a:t>Yes / No; No routes to suppression</a:t>
            </a:r>
          </a:p>
        </p:txBody>
      </p:sp>
      <p:sp>
        <p:nvSpPr>
          <p:cNvPr id="253" name="Rounded Rectangle 252"/>
          <p:cNvSpPr/>
          <p:nvPr/>
        </p:nvSpPr>
        <p:spPr>
          <a:xfrm>
            <a:off x="4681728" y="2212848"/>
            <a:ext cx="1143000" cy="393192"/>
          </a:xfrm>
          <a:prstGeom prst="roundRect">
            <a:avLst/>
          </a:prstGeom>
          <a:solidFill>
            <a:srgbClr val="F8F9FA"/>
          </a:solidFill>
          <a:ln w="12700">
            <a:solidFill>
              <a:srgbClr val="DADCE0"/>
            </a:solidFill>
          </a:ln>
        </p:spPr>
        <p:style>
          <a:lnRef idx="1">
            <a:schemeClr val="accent1"/>
          </a:lnRef>
          <a:fillRef idx="3">
            <a:schemeClr val="accent1"/>
          </a:fillRef>
          <a:effectRef idx="2">
            <a:schemeClr val="accent1"/>
          </a:effectRef>
          <a:fontRef idx="minor">
            <a:schemeClr val="lt1"/>
          </a:fontRef>
        </p:style>
        <p:txBody>
          <a:bodyPr wrap="square" lIns="73152" tIns="48768" rIns="73152" bIns="48768" rtlCol="0" anchor="ctr"/>
          <a:lstStyle/>
          <a:p>
            <a:pPr algn="l"/>
            <a:r>
              <a:rPr sz="1000" b="1">
                <a:solidFill>
                  <a:srgbClr val="3C4043"/>
                </a:solidFill>
                <a:latin typeface="Arial"/>
              </a:rPr>
              <a:t>name + company</a:t>
            </a:r>
          </a:p>
        </p:txBody>
      </p:sp>
      <p:sp>
        <p:nvSpPr>
          <p:cNvPr id="254" name="Rounded Rectangle 253"/>
          <p:cNvSpPr/>
          <p:nvPr/>
        </p:nvSpPr>
        <p:spPr>
          <a:xfrm>
            <a:off x="5925312" y="2212848"/>
            <a:ext cx="1042415" cy="393192"/>
          </a:xfrm>
          <a:prstGeom prst="roundRect">
            <a:avLst/>
          </a:prstGeom>
          <a:solidFill>
            <a:srgbClr val="FFFFFF"/>
          </a:solidFill>
          <a:ln w="12700">
            <a:solidFill>
              <a:srgbClr val="DADCE0"/>
            </a:solidFill>
          </a:ln>
        </p:spPr>
        <p:style>
          <a:lnRef idx="1">
            <a:schemeClr val="accent1"/>
          </a:lnRef>
          <a:fillRef idx="3">
            <a:schemeClr val="accent1"/>
          </a:fillRef>
          <a:effectRef idx="2">
            <a:schemeClr val="accent1"/>
          </a:effectRef>
          <a:fontRef idx="minor">
            <a:schemeClr val="lt1"/>
          </a:fontRef>
        </p:style>
        <p:txBody>
          <a:bodyPr wrap="square" lIns="73152" tIns="48768" rIns="73152" bIns="48768" rtlCol="0" anchor="ctr"/>
          <a:lstStyle/>
          <a:p>
            <a:pPr algn="ctr"/>
            <a:r>
              <a:rPr sz="900" b="1">
                <a:solidFill>
                  <a:srgbClr val="5F6368"/>
                </a:solidFill>
                <a:latin typeface="Arial"/>
              </a:rPr>
              <a:t>Qualification</a:t>
            </a:r>
          </a:p>
        </p:txBody>
      </p:sp>
      <p:sp>
        <p:nvSpPr>
          <p:cNvPr id="255" name="TextBox 254"/>
          <p:cNvSpPr txBox="1"/>
          <p:nvPr/>
        </p:nvSpPr>
        <p:spPr>
          <a:xfrm>
            <a:off x="7077456" y="2231136"/>
            <a:ext cx="1481328" cy="356616"/>
          </a:xfrm>
          <a:prstGeom prst="rect">
            <a:avLst/>
          </a:prstGeom>
          <a:noFill/>
        </p:spPr>
        <p:txBody>
          <a:bodyPr wrap="square" lIns="18288" tIns="18288" rIns="18288" bIns="18288" anchor="ctr">
            <a:spAutoFit/>
          </a:bodyPr>
          <a:lstStyle/>
          <a:p>
            <a:pPr algn="l"/>
            <a:r>
              <a:rPr sz="880" b="0">
                <a:solidFill>
                  <a:srgbClr val="5F6368"/>
                </a:solidFill>
                <a:latin typeface="Arial"/>
              </a:rPr>
              <a:t>Required for full qualification</a:t>
            </a:r>
          </a:p>
        </p:txBody>
      </p:sp>
      <p:sp>
        <p:nvSpPr>
          <p:cNvPr id="256" name="Rounded Rectangle 255"/>
          <p:cNvSpPr/>
          <p:nvPr/>
        </p:nvSpPr>
        <p:spPr>
          <a:xfrm>
            <a:off x="4681728" y="2743200"/>
            <a:ext cx="1143000" cy="393192"/>
          </a:xfrm>
          <a:prstGeom prst="roundRect">
            <a:avLst/>
          </a:prstGeom>
          <a:solidFill>
            <a:srgbClr val="FFFFFF"/>
          </a:solidFill>
          <a:ln w="12700">
            <a:solidFill>
              <a:srgbClr val="DADCE0"/>
            </a:solidFill>
          </a:ln>
        </p:spPr>
        <p:style>
          <a:lnRef idx="1">
            <a:schemeClr val="accent1"/>
          </a:lnRef>
          <a:fillRef idx="3">
            <a:schemeClr val="accent1"/>
          </a:fillRef>
          <a:effectRef idx="2">
            <a:schemeClr val="accent1"/>
          </a:effectRef>
          <a:fontRef idx="minor">
            <a:schemeClr val="lt1"/>
          </a:fontRef>
        </p:style>
        <p:txBody>
          <a:bodyPr wrap="square" lIns="73152" tIns="48768" rIns="73152" bIns="48768" rtlCol="0" anchor="ctr"/>
          <a:lstStyle/>
          <a:p>
            <a:pPr algn="l"/>
            <a:r>
              <a:rPr sz="1000" b="1">
                <a:solidFill>
                  <a:srgbClr val="3C4043"/>
                </a:solidFill>
                <a:latin typeface="Arial"/>
              </a:rPr>
              <a:t>need + industry</a:t>
            </a:r>
          </a:p>
        </p:txBody>
      </p:sp>
      <p:sp>
        <p:nvSpPr>
          <p:cNvPr id="257" name="Rounded Rectangle 256"/>
          <p:cNvSpPr/>
          <p:nvPr/>
        </p:nvSpPr>
        <p:spPr>
          <a:xfrm>
            <a:off x="5925312" y="2743200"/>
            <a:ext cx="1042415" cy="393192"/>
          </a:xfrm>
          <a:prstGeom prst="roundRect">
            <a:avLst/>
          </a:prstGeom>
          <a:solidFill>
            <a:srgbClr val="FFFFFF"/>
          </a:solidFill>
          <a:ln w="12700">
            <a:solidFill>
              <a:srgbClr val="DADCE0"/>
            </a:solidFill>
          </a:ln>
        </p:spPr>
        <p:style>
          <a:lnRef idx="1">
            <a:schemeClr val="accent1"/>
          </a:lnRef>
          <a:fillRef idx="3">
            <a:schemeClr val="accent1"/>
          </a:fillRef>
          <a:effectRef idx="2">
            <a:schemeClr val="accent1"/>
          </a:effectRef>
          <a:fontRef idx="minor">
            <a:schemeClr val="lt1"/>
          </a:fontRef>
        </p:style>
        <p:txBody>
          <a:bodyPr wrap="square" lIns="73152" tIns="48768" rIns="73152" bIns="48768" rtlCol="0" anchor="ctr"/>
          <a:lstStyle/>
          <a:p>
            <a:pPr algn="ctr"/>
            <a:r>
              <a:rPr sz="900" b="1">
                <a:solidFill>
                  <a:srgbClr val="5F6368"/>
                </a:solidFill>
                <a:latin typeface="Arial"/>
              </a:rPr>
              <a:t>Qualification</a:t>
            </a:r>
          </a:p>
        </p:txBody>
      </p:sp>
      <p:sp>
        <p:nvSpPr>
          <p:cNvPr id="258" name="TextBox 257"/>
          <p:cNvSpPr txBox="1"/>
          <p:nvPr/>
        </p:nvSpPr>
        <p:spPr>
          <a:xfrm>
            <a:off x="7077456" y="2761488"/>
            <a:ext cx="1481328" cy="356616"/>
          </a:xfrm>
          <a:prstGeom prst="rect">
            <a:avLst/>
          </a:prstGeom>
          <a:noFill/>
        </p:spPr>
        <p:txBody>
          <a:bodyPr wrap="square" lIns="18288" tIns="18288" rIns="18288" bIns="18288" anchor="ctr">
            <a:spAutoFit/>
          </a:bodyPr>
          <a:lstStyle/>
          <a:p>
            <a:pPr algn="l"/>
            <a:r>
              <a:rPr sz="880" b="0">
                <a:solidFill>
                  <a:srgbClr val="5F6368"/>
                </a:solidFill>
                <a:latin typeface="Arial"/>
              </a:rPr>
              <a:t>Supports fit and intent</a:t>
            </a:r>
          </a:p>
        </p:txBody>
      </p:sp>
      <p:sp>
        <p:nvSpPr>
          <p:cNvPr id="259" name="Rounded Rectangle 258"/>
          <p:cNvSpPr/>
          <p:nvPr/>
        </p:nvSpPr>
        <p:spPr>
          <a:xfrm>
            <a:off x="4681728" y="3273552"/>
            <a:ext cx="1143000" cy="393192"/>
          </a:xfrm>
          <a:prstGeom prst="roundRect">
            <a:avLst/>
          </a:prstGeom>
          <a:solidFill>
            <a:srgbClr val="F8F9FA"/>
          </a:solidFill>
          <a:ln w="12700">
            <a:solidFill>
              <a:srgbClr val="DADCE0"/>
            </a:solidFill>
          </a:ln>
        </p:spPr>
        <p:style>
          <a:lnRef idx="1">
            <a:schemeClr val="accent1"/>
          </a:lnRef>
          <a:fillRef idx="3">
            <a:schemeClr val="accent1"/>
          </a:fillRef>
          <a:effectRef idx="2">
            <a:schemeClr val="accent1"/>
          </a:effectRef>
          <a:fontRef idx="minor">
            <a:schemeClr val="lt1"/>
          </a:fontRef>
        </p:style>
        <p:txBody>
          <a:bodyPr wrap="square" lIns="73152" tIns="48768" rIns="73152" bIns="48768" rtlCol="0" anchor="ctr"/>
          <a:lstStyle/>
          <a:p>
            <a:pPr algn="l"/>
            <a:r>
              <a:rPr sz="1000" b="1">
                <a:solidFill>
                  <a:srgbClr val="3C4043"/>
                </a:solidFill>
                <a:latin typeface="Arial"/>
              </a:rPr>
              <a:t>timeline + decision-maker</a:t>
            </a:r>
          </a:p>
        </p:txBody>
      </p:sp>
      <p:sp>
        <p:nvSpPr>
          <p:cNvPr id="260" name="Rounded Rectangle 259"/>
          <p:cNvSpPr/>
          <p:nvPr/>
        </p:nvSpPr>
        <p:spPr>
          <a:xfrm>
            <a:off x="5925312" y="3273552"/>
            <a:ext cx="1042415" cy="393192"/>
          </a:xfrm>
          <a:prstGeom prst="roundRect">
            <a:avLst/>
          </a:prstGeom>
          <a:solidFill>
            <a:srgbClr val="FFFFFF"/>
          </a:solidFill>
          <a:ln w="12700">
            <a:solidFill>
              <a:srgbClr val="DADCE0"/>
            </a:solidFill>
          </a:ln>
        </p:spPr>
        <p:style>
          <a:lnRef idx="1">
            <a:schemeClr val="accent1"/>
          </a:lnRef>
          <a:fillRef idx="3">
            <a:schemeClr val="accent1"/>
          </a:fillRef>
          <a:effectRef idx="2">
            <a:schemeClr val="accent1"/>
          </a:effectRef>
          <a:fontRef idx="minor">
            <a:schemeClr val="lt1"/>
          </a:fontRef>
        </p:style>
        <p:txBody>
          <a:bodyPr wrap="square" lIns="73152" tIns="48768" rIns="73152" bIns="48768" rtlCol="0" anchor="ctr"/>
          <a:lstStyle/>
          <a:p>
            <a:pPr algn="ctr"/>
            <a:r>
              <a:rPr sz="900" b="1">
                <a:solidFill>
                  <a:srgbClr val="5F6368"/>
                </a:solidFill>
                <a:latin typeface="Arial"/>
              </a:rPr>
              <a:t>Qualification</a:t>
            </a:r>
          </a:p>
        </p:txBody>
      </p:sp>
      <p:sp>
        <p:nvSpPr>
          <p:cNvPr id="261" name="TextBox 260"/>
          <p:cNvSpPr txBox="1"/>
          <p:nvPr/>
        </p:nvSpPr>
        <p:spPr>
          <a:xfrm>
            <a:off x="7077456" y="3291840"/>
            <a:ext cx="1481328" cy="356616"/>
          </a:xfrm>
          <a:prstGeom prst="rect">
            <a:avLst/>
          </a:prstGeom>
          <a:noFill/>
        </p:spPr>
        <p:txBody>
          <a:bodyPr wrap="square" lIns="18288" tIns="18288" rIns="18288" bIns="18288" anchor="ctr">
            <a:spAutoFit/>
          </a:bodyPr>
          <a:lstStyle/>
          <a:p>
            <a:pPr algn="l"/>
            <a:r>
              <a:rPr sz="880" b="0">
                <a:solidFill>
                  <a:srgbClr val="5F6368"/>
                </a:solidFill>
                <a:latin typeface="Arial"/>
              </a:rPr>
              <a:t>Supports urgency and authority</a:t>
            </a:r>
          </a:p>
        </p:txBody>
      </p:sp>
      <p:sp>
        <p:nvSpPr>
          <p:cNvPr id="262" name="Rounded Rectangle 261"/>
          <p:cNvSpPr/>
          <p:nvPr/>
        </p:nvSpPr>
        <p:spPr>
          <a:xfrm>
            <a:off x="4681728" y="3803904"/>
            <a:ext cx="1143000" cy="393192"/>
          </a:xfrm>
          <a:prstGeom prst="roundRect">
            <a:avLst/>
          </a:prstGeom>
          <a:solidFill>
            <a:srgbClr val="FFFFFF"/>
          </a:solidFill>
          <a:ln w="12700">
            <a:solidFill>
              <a:srgbClr val="DADCE0"/>
            </a:solidFill>
          </a:ln>
        </p:spPr>
        <p:style>
          <a:lnRef idx="1">
            <a:schemeClr val="accent1"/>
          </a:lnRef>
          <a:fillRef idx="3">
            <a:schemeClr val="accent1"/>
          </a:fillRef>
          <a:effectRef idx="2">
            <a:schemeClr val="accent1"/>
          </a:effectRef>
          <a:fontRef idx="minor">
            <a:schemeClr val="lt1"/>
          </a:fontRef>
        </p:style>
        <p:txBody>
          <a:bodyPr wrap="square" lIns="73152" tIns="48768" rIns="73152" bIns="48768" rtlCol="0" anchor="ctr"/>
          <a:lstStyle/>
          <a:p>
            <a:pPr algn="l"/>
            <a:r>
              <a:rPr sz="1000" b="1">
                <a:solidFill>
                  <a:srgbClr val="3C4043"/>
                </a:solidFill>
                <a:latin typeface="Arial"/>
              </a:rPr>
              <a:t>source + budget</a:t>
            </a:r>
          </a:p>
        </p:txBody>
      </p:sp>
      <p:sp>
        <p:nvSpPr>
          <p:cNvPr id="263" name="Rounded Rectangle 262"/>
          <p:cNvSpPr/>
          <p:nvPr/>
        </p:nvSpPr>
        <p:spPr>
          <a:xfrm>
            <a:off x="5925312" y="3803904"/>
            <a:ext cx="1042415" cy="393192"/>
          </a:xfrm>
          <a:prstGeom prst="roundRect">
            <a:avLst/>
          </a:prstGeom>
          <a:solidFill>
            <a:srgbClr val="FFFFFF"/>
          </a:solidFill>
          <a:ln w="12700">
            <a:solidFill>
              <a:srgbClr val="DADCE0"/>
            </a:solidFill>
          </a:ln>
        </p:spPr>
        <p:style>
          <a:lnRef idx="1">
            <a:schemeClr val="accent1"/>
          </a:lnRef>
          <a:fillRef idx="3">
            <a:schemeClr val="accent1"/>
          </a:fillRef>
          <a:effectRef idx="2">
            <a:schemeClr val="accent1"/>
          </a:effectRef>
          <a:fontRef idx="minor">
            <a:schemeClr val="lt1"/>
          </a:fontRef>
        </p:style>
        <p:txBody>
          <a:bodyPr wrap="square" lIns="73152" tIns="48768" rIns="73152" bIns="48768" rtlCol="0" anchor="ctr"/>
          <a:lstStyle/>
          <a:p>
            <a:pPr algn="ctr"/>
            <a:r>
              <a:rPr sz="900" b="1">
                <a:solidFill>
                  <a:srgbClr val="5F6368"/>
                </a:solidFill>
                <a:latin typeface="Arial"/>
              </a:rPr>
              <a:t>Qualification</a:t>
            </a:r>
          </a:p>
        </p:txBody>
      </p:sp>
      <p:sp>
        <p:nvSpPr>
          <p:cNvPr id="264" name="TextBox 263"/>
          <p:cNvSpPr txBox="1"/>
          <p:nvPr/>
        </p:nvSpPr>
        <p:spPr>
          <a:xfrm>
            <a:off x="7077456" y="3822191"/>
            <a:ext cx="1481328" cy="356616"/>
          </a:xfrm>
          <a:prstGeom prst="rect">
            <a:avLst/>
          </a:prstGeom>
          <a:noFill/>
        </p:spPr>
        <p:txBody>
          <a:bodyPr wrap="square" lIns="18288" tIns="18288" rIns="18288" bIns="18288" anchor="ctr">
            <a:spAutoFit/>
          </a:bodyPr>
          <a:lstStyle/>
          <a:p>
            <a:pPr algn="l"/>
            <a:r>
              <a:rPr sz="880" b="0">
                <a:solidFill>
                  <a:srgbClr val="5F6368"/>
                </a:solidFill>
                <a:latin typeface="Arial"/>
              </a:rPr>
              <a:t>Provenance and scoring context</a:t>
            </a:r>
          </a:p>
        </p:txBody>
      </p:sp>
      <p:sp>
        <p:nvSpPr>
          <p:cNvPr id="265" name="TextBox 264"/>
          <p:cNvSpPr txBox="1"/>
          <p:nvPr/>
        </p:nvSpPr>
        <p:spPr>
          <a:xfrm>
            <a:off x="4681728" y="4462272"/>
            <a:ext cx="3840480" cy="201168"/>
          </a:xfrm>
          <a:prstGeom prst="rect">
            <a:avLst/>
          </a:prstGeom>
          <a:noFill/>
        </p:spPr>
        <p:txBody>
          <a:bodyPr wrap="square" lIns="18288" tIns="18288" rIns="18288" bIns="18288" anchor="t">
            <a:spAutoFit/>
          </a:bodyPr>
          <a:lstStyle/>
          <a:p>
            <a:pPr algn="l"/>
            <a:r>
              <a:rPr sz="900" b="1">
                <a:solidFill>
                  <a:srgbClr val="EA4335"/>
                </a:solidFill>
                <a:latin typeface="Arial"/>
              </a:rPr>
              <a:t>Validation gate runs before scoring or AI generation.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51"/>
          <p:cNvSpPr txBox="1"/>
          <p:nvPr/>
        </p:nvSpPr>
        <p:spPr>
          <a:xfrm>
            <a:off x="517675" y="524350"/>
            <a:ext cx="7000800" cy="554100"/>
          </a:xfrm>
          <a:prstGeom prst="rect">
            <a:avLst/>
          </a:prstGeom>
          <a:noFill/>
          <a:ln>
            <a:noFill/>
          </a:ln>
        </p:spPr>
        <p:txBody>
          <a:bodyPr spcFirstLastPara="1" wrap="square" lIns="0"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200" b="0" i="0" u="none" strike="noStrike" cap="none">
                <a:solidFill>
                  <a:srgbClr val="3C4043"/>
                </a:solidFill>
                <a:latin typeface="Arial"/>
                <a:ea typeface="Open Sans"/>
                <a:cs typeface="Open Sans"/>
                <a:sym typeface="Open Sans"/>
              </a:rPr>
              <a:t>Transparent qualification scoring</a:t>
            </a:r>
            <a:endParaRPr sz="2400" b="0" i="0" u="none" strike="noStrike" cap="none">
              <a:solidFill>
                <a:srgbClr val="5F6368"/>
              </a:solidFill>
              <a:latin typeface="Open Sans"/>
              <a:ea typeface="Open Sans"/>
              <a:cs typeface="Open Sans"/>
              <a:sym typeface="Open Sans"/>
            </a:endParaRPr>
          </a:p>
        </p:txBody>
      </p:sp>
      <p:sp>
        <p:nvSpPr>
          <p:cNvPr id="250" name="Google Shape;250;p51"/>
          <p:cNvSpPr txBox="1"/>
          <p:nvPr/>
        </p:nvSpPr>
        <p:spPr>
          <a:xfrm>
            <a:off x="517675" y="1522550"/>
            <a:ext cx="2421300" cy="723300"/>
          </a:xfrm>
          <a:prstGeom prst="rect">
            <a:avLst/>
          </a:prstGeom>
          <a:noFill/>
          <a:ln>
            <a:noFill/>
          </a:ln>
        </p:spPr>
        <p:txBody>
          <a:bodyPr spcFirstLastPara="1" wrap="square" lIns="0" tIns="91425" rIns="91425" bIns="91425" anchor="t" anchorCtr="0">
            <a:spAutoFit/>
          </a:bodyPr>
          <a:lstStyle/>
          <a:p>
            <a:pPr marL="0" marR="0" lvl="0" indent="0" algn="l" rtl="0">
              <a:lnSpc>
                <a:spcPct val="150000"/>
              </a:lnSpc>
              <a:spcBef>
                <a:spcPts val="0"/>
              </a:spcBef>
              <a:spcAft>
                <a:spcPts val="0"/>
              </a:spcAft>
              <a:buClr>
                <a:schemeClr val="dk1"/>
              </a:buClr>
              <a:buSzPts val="1100"/>
              <a:buFont typeface="Arial"/>
              <a:buNone/>
            </a:pPr>
            <a:r>
              <a:rPr lang="en" sz="1200" b="0" i="0" u="none" strike="noStrike" cap="none">
                <a:solidFill>
                  <a:srgbClr val="5F6368"/>
                </a:solidFill>
                <a:latin typeface="Arial"/>
                <a:ea typeface="Open Sans"/>
                <a:cs typeface="Open Sans"/>
                <a:sym typeface="Open Sans"/>
              </a:rPr>
              <a:t>A deterministic 100-point rubric keeps business decisions inspectable. Fit, need, timeline, authority, and budget contribute to the score; missing information remains explicit rather than silently treated as fact.</a:t>
            </a:r>
            <a:endParaRPr sz="1400" b="0" i="0" u="none" strike="noStrike" cap="none">
              <a:solidFill>
                <a:srgbClr val="000000"/>
              </a:solidFill>
              <a:latin typeface="Arial"/>
              <a:ea typeface="Arial"/>
              <a:cs typeface="Arial"/>
              <a:sym typeface="Arial"/>
            </a:endParaRPr>
          </a:p>
        </p:txBody>
      </p:sp>
      <p:sp>
        <p:nvSpPr>
          <p:cNvPr id="251" name="Google Shape;251;p51"/>
          <p:cNvSpPr/>
          <p:nvPr/>
        </p:nvSpPr>
        <p:spPr>
          <a:xfrm>
            <a:off x="5092825" y="984600"/>
            <a:ext cx="2421300" cy="3958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52" name="Google Shape;252;p51"/>
          <p:cNvCxnSpPr/>
          <p:nvPr/>
        </p:nvCxnSpPr>
        <p:spPr>
          <a:xfrm>
            <a:off x="4565525" y="1608925"/>
            <a:ext cx="918900" cy="0"/>
          </a:xfrm>
          <a:prstGeom prst="straightConnector1">
            <a:avLst/>
          </a:prstGeom>
          <a:noFill/>
          <a:ln w="19050" cap="flat" cmpd="sng">
            <a:solidFill>
              <a:srgbClr val="FBBC04"/>
            </a:solidFill>
            <a:prstDash val="solid"/>
            <a:round/>
            <a:headEnd type="none" w="sm" len="sm"/>
            <a:tailEnd type="triangle" w="med" len="med"/>
          </a:ln>
        </p:spPr>
      </p:cxnSp>
      <p:sp>
        <p:nvSpPr>
          <p:cNvPr id="253" name="Google Shape;253;p51"/>
          <p:cNvSpPr txBox="1"/>
          <p:nvPr/>
        </p:nvSpPr>
        <p:spPr>
          <a:xfrm>
            <a:off x="3506850" y="1208725"/>
            <a:ext cx="1100400" cy="800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rgbClr val="5F6368"/>
              </a:solidFill>
              <a:latin typeface="Open Sans"/>
              <a:ea typeface="Open Sans"/>
              <a:cs typeface="Open Sans"/>
              <a:sym typeface="Open Sans"/>
            </a:endParaRPr>
          </a:p>
        </p:txBody>
      </p:sp>
      <p:cxnSp>
        <p:nvCxnSpPr>
          <p:cNvPr id="254" name="Google Shape;254;p51"/>
          <p:cNvCxnSpPr/>
          <p:nvPr/>
        </p:nvCxnSpPr>
        <p:spPr>
          <a:xfrm rot="10800000">
            <a:off x="7096000" y="2920200"/>
            <a:ext cx="918000" cy="0"/>
          </a:xfrm>
          <a:prstGeom prst="straightConnector1">
            <a:avLst/>
          </a:prstGeom>
          <a:noFill/>
          <a:ln w="19050" cap="flat" cmpd="sng">
            <a:solidFill>
              <a:srgbClr val="FBBC04"/>
            </a:solidFill>
            <a:prstDash val="solid"/>
            <a:round/>
            <a:headEnd type="none" w="sm" len="sm"/>
            <a:tailEnd type="triangle" w="med" len="med"/>
          </a:ln>
        </p:spPr>
      </p:cxnSp>
      <p:sp>
        <p:nvSpPr>
          <p:cNvPr id="255" name="Google Shape;255;p51"/>
          <p:cNvSpPr txBox="1"/>
          <p:nvPr/>
        </p:nvSpPr>
        <p:spPr>
          <a:xfrm>
            <a:off x="5363575" y="1833000"/>
            <a:ext cx="1892400" cy="1108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5F6368"/>
              </a:solidFill>
              <a:latin typeface="Open Sans"/>
              <a:ea typeface="Open Sans"/>
              <a:cs typeface="Open Sans"/>
              <a:sym typeface="Open Sans"/>
            </a:endParaRPr>
          </a:p>
        </p:txBody>
      </p:sp>
      <p:sp>
        <p:nvSpPr>
          <p:cNvPr id="256" name="Google Shape;256;p51"/>
          <p:cNvSpPr txBox="1"/>
          <p:nvPr/>
        </p:nvSpPr>
        <p:spPr>
          <a:xfrm>
            <a:off x="8030375" y="2520000"/>
            <a:ext cx="1100400" cy="800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rgbClr val="5F6368"/>
              </a:solidFill>
              <a:latin typeface="Open Sans"/>
              <a:ea typeface="Open Sans"/>
              <a:cs typeface="Open Sans"/>
              <a:sym typeface="Open Sans"/>
            </a:endParaRPr>
          </a:p>
        </p:txBody>
      </p:sp>
      <p:sp>
        <p:nvSpPr>
          <p:cNvPr id="257" name="Rectangle 256"/>
          <p:cNvSpPr/>
          <p:nvPr/>
        </p:nvSpPr>
        <p:spPr>
          <a:xfrm>
            <a:off x="3017520" y="1051560"/>
            <a:ext cx="6080760" cy="3703320"/>
          </a:xfrm>
          <a:prstGeom prst="rect">
            <a:avLst/>
          </a:prstGeom>
          <a:solidFill>
            <a:srgbClr val="F8F9FA"/>
          </a:solidFill>
          <a:ln w="12700">
            <a:solidFill>
              <a:srgbClr val="DADCE0"/>
            </a:solidFill>
          </a:ln>
        </p:spPr>
        <p:style>
          <a:lnRef idx="1">
            <a:schemeClr val="accent1"/>
          </a:lnRef>
          <a:fillRef idx="3">
            <a:schemeClr val="accent1"/>
          </a:fillRef>
          <a:effectRef idx="2">
            <a:schemeClr val="accent1"/>
          </a:effectRef>
          <a:fontRef idx="minor">
            <a:schemeClr val="lt1"/>
          </a:fontRef>
        </p:style>
        <p:txBody>
          <a:bodyPr wrap="square" lIns="73152" tIns="48768" rIns="73152" bIns="48768" rtlCol="0" anchor="ctr"/>
          <a:lstStyle/>
          <a:p>
            <a:pPr algn="ctr"/>
            <a:endParaRPr/>
          </a:p>
        </p:txBody>
      </p:sp>
      <p:sp>
        <p:nvSpPr>
          <p:cNvPr id="258" name="TextBox 257"/>
          <p:cNvSpPr txBox="1"/>
          <p:nvPr/>
        </p:nvSpPr>
        <p:spPr>
          <a:xfrm>
            <a:off x="3429000" y="1261872"/>
            <a:ext cx="3657600" cy="274320"/>
          </a:xfrm>
          <a:prstGeom prst="rect">
            <a:avLst/>
          </a:prstGeom>
          <a:noFill/>
        </p:spPr>
        <p:txBody>
          <a:bodyPr wrap="square" lIns="18288" tIns="18288" rIns="18288" bIns="18288" anchor="t">
            <a:spAutoFit/>
          </a:bodyPr>
          <a:lstStyle/>
          <a:p>
            <a:pPr algn="l"/>
            <a:r>
              <a:rPr sz="1300" b="1">
                <a:solidFill>
                  <a:srgbClr val="3C4043"/>
                </a:solidFill>
                <a:latin typeface="Arial"/>
              </a:rPr>
              <a:t>100-POINT QUALIFICATION RUBRIC</a:t>
            </a:r>
          </a:p>
        </p:txBody>
      </p:sp>
      <p:sp>
        <p:nvSpPr>
          <p:cNvPr id="259" name="TextBox 258"/>
          <p:cNvSpPr txBox="1"/>
          <p:nvPr/>
        </p:nvSpPr>
        <p:spPr>
          <a:xfrm>
            <a:off x="3456432" y="1719072"/>
            <a:ext cx="1417320" cy="256032"/>
          </a:xfrm>
          <a:prstGeom prst="rect">
            <a:avLst/>
          </a:prstGeom>
          <a:noFill/>
        </p:spPr>
        <p:txBody>
          <a:bodyPr wrap="square" lIns="18288" tIns="18288" rIns="18288" bIns="18288" anchor="ctr">
            <a:spAutoFit/>
          </a:bodyPr>
          <a:lstStyle/>
          <a:p>
            <a:pPr algn="l"/>
            <a:r>
              <a:rPr sz="1000" b="1">
                <a:solidFill>
                  <a:srgbClr val="3C4043"/>
                </a:solidFill>
                <a:latin typeface="Arial"/>
              </a:rPr>
              <a:t>Fit</a:t>
            </a:r>
          </a:p>
        </p:txBody>
      </p:sp>
      <p:sp>
        <p:nvSpPr>
          <p:cNvPr id="260" name="Rounded Rectangle 259"/>
          <p:cNvSpPr/>
          <p:nvPr/>
        </p:nvSpPr>
        <p:spPr>
          <a:xfrm>
            <a:off x="4892040" y="1737360"/>
            <a:ext cx="2880360" cy="201168"/>
          </a:xfrm>
          <a:prstGeom prst="roundRect">
            <a:avLst/>
          </a:prstGeom>
          <a:solidFill>
            <a:srgbClr val="E8EAED"/>
          </a:solidFill>
          <a:ln w="12700">
            <a:solidFill>
              <a:srgbClr val="E8EAED"/>
            </a:solidFill>
          </a:ln>
        </p:spPr>
        <p:style>
          <a:lnRef idx="1">
            <a:schemeClr val="accent1"/>
          </a:lnRef>
          <a:fillRef idx="3">
            <a:schemeClr val="accent1"/>
          </a:fillRef>
          <a:effectRef idx="2">
            <a:schemeClr val="accent1"/>
          </a:effectRef>
          <a:fontRef idx="minor">
            <a:schemeClr val="lt1"/>
          </a:fontRef>
        </p:style>
        <p:txBody>
          <a:bodyPr wrap="square" lIns="9144" tIns="6096" rIns="9144" bIns="6096" rtlCol="0" anchor="ctr"/>
          <a:lstStyle/>
          <a:p>
            <a:pPr algn="ctr"/>
            <a:endParaRPr/>
          </a:p>
        </p:txBody>
      </p:sp>
      <p:sp>
        <p:nvSpPr>
          <p:cNvPr id="261" name="Rounded Rectangle 260"/>
          <p:cNvSpPr/>
          <p:nvPr/>
        </p:nvSpPr>
        <p:spPr>
          <a:xfrm>
            <a:off x="4892040" y="1737360"/>
            <a:ext cx="2880360" cy="201168"/>
          </a:xfrm>
          <a:prstGeom prst="roundRect">
            <a:avLst/>
          </a:prstGeom>
          <a:solidFill>
            <a:srgbClr val="4285F4"/>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wrap="square" lIns="9144" tIns="6096" rIns="9144" bIns="6096" rtlCol="0" anchor="ctr"/>
          <a:lstStyle/>
          <a:p>
            <a:pPr algn="ctr"/>
            <a:endParaRPr/>
          </a:p>
        </p:txBody>
      </p:sp>
      <p:sp>
        <p:nvSpPr>
          <p:cNvPr id="262" name="TextBox 261"/>
          <p:cNvSpPr txBox="1"/>
          <p:nvPr/>
        </p:nvSpPr>
        <p:spPr>
          <a:xfrm>
            <a:off x="7882127" y="1719072"/>
            <a:ext cx="411480" cy="237744"/>
          </a:xfrm>
          <a:prstGeom prst="rect">
            <a:avLst/>
          </a:prstGeom>
          <a:noFill/>
        </p:spPr>
        <p:txBody>
          <a:bodyPr wrap="square" lIns="18288" tIns="18288" rIns="18288" bIns="18288" anchor="ctr">
            <a:spAutoFit/>
          </a:bodyPr>
          <a:lstStyle/>
          <a:p>
            <a:pPr algn="r"/>
            <a:r>
              <a:rPr sz="1000" b="1">
                <a:solidFill>
                  <a:srgbClr val="3C4043"/>
                </a:solidFill>
                <a:latin typeface="Arial"/>
              </a:rPr>
              <a:t>25</a:t>
            </a:r>
          </a:p>
        </p:txBody>
      </p:sp>
      <p:sp>
        <p:nvSpPr>
          <p:cNvPr id="263" name="TextBox 262"/>
          <p:cNvSpPr txBox="1"/>
          <p:nvPr/>
        </p:nvSpPr>
        <p:spPr>
          <a:xfrm>
            <a:off x="3456432" y="2203704"/>
            <a:ext cx="1417320" cy="256032"/>
          </a:xfrm>
          <a:prstGeom prst="rect">
            <a:avLst/>
          </a:prstGeom>
          <a:noFill/>
        </p:spPr>
        <p:txBody>
          <a:bodyPr wrap="square" lIns="18288" tIns="18288" rIns="18288" bIns="18288" anchor="ctr">
            <a:spAutoFit/>
          </a:bodyPr>
          <a:lstStyle/>
          <a:p>
            <a:pPr algn="l"/>
            <a:r>
              <a:rPr sz="1000" b="1">
                <a:solidFill>
                  <a:srgbClr val="3C4043"/>
                </a:solidFill>
                <a:latin typeface="Arial"/>
              </a:rPr>
              <a:t>Need / intent</a:t>
            </a:r>
          </a:p>
        </p:txBody>
      </p:sp>
      <p:sp>
        <p:nvSpPr>
          <p:cNvPr id="264" name="Rounded Rectangle 263"/>
          <p:cNvSpPr/>
          <p:nvPr/>
        </p:nvSpPr>
        <p:spPr>
          <a:xfrm>
            <a:off x="4892040" y="2221992"/>
            <a:ext cx="2880360" cy="201168"/>
          </a:xfrm>
          <a:prstGeom prst="roundRect">
            <a:avLst/>
          </a:prstGeom>
          <a:solidFill>
            <a:srgbClr val="E8EAED"/>
          </a:solidFill>
          <a:ln w="12700">
            <a:solidFill>
              <a:srgbClr val="E8EAED"/>
            </a:solidFill>
          </a:ln>
        </p:spPr>
        <p:style>
          <a:lnRef idx="1">
            <a:schemeClr val="accent1"/>
          </a:lnRef>
          <a:fillRef idx="3">
            <a:schemeClr val="accent1"/>
          </a:fillRef>
          <a:effectRef idx="2">
            <a:schemeClr val="accent1"/>
          </a:effectRef>
          <a:fontRef idx="minor">
            <a:schemeClr val="lt1"/>
          </a:fontRef>
        </p:style>
        <p:txBody>
          <a:bodyPr wrap="square" lIns="9144" tIns="6096" rIns="9144" bIns="6096" rtlCol="0" anchor="ctr"/>
          <a:lstStyle/>
          <a:p>
            <a:pPr algn="ctr"/>
            <a:endParaRPr/>
          </a:p>
        </p:txBody>
      </p:sp>
      <p:sp>
        <p:nvSpPr>
          <p:cNvPr id="265" name="Rounded Rectangle 264"/>
          <p:cNvSpPr/>
          <p:nvPr/>
        </p:nvSpPr>
        <p:spPr>
          <a:xfrm>
            <a:off x="4892040" y="2221992"/>
            <a:ext cx="2880360" cy="201168"/>
          </a:xfrm>
          <a:prstGeom prst="roundRect">
            <a:avLst/>
          </a:prstGeom>
          <a:solidFill>
            <a:srgbClr val="34A853"/>
          </a:solidFill>
          <a:ln w="12700">
            <a:solidFill>
              <a:srgbClr val="34A853"/>
            </a:solidFill>
          </a:ln>
        </p:spPr>
        <p:style>
          <a:lnRef idx="1">
            <a:schemeClr val="accent1"/>
          </a:lnRef>
          <a:fillRef idx="3">
            <a:schemeClr val="accent1"/>
          </a:fillRef>
          <a:effectRef idx="2">
            <a:schemeClr val="accent1"/>
          </a:effectRef>
          <a:fontRef idx="minor">
            <a:schemeClr val="lt1"/>
          </a:fontRef>
        </p:style>
        <p:txBody>
          <a:bodyPr wrap="square" lIns="9144" tIns="6096" rIns="9144" bIns="6096" rtlCol="0" anchor="ctr"/>
          <a:lstStyle/>
          <a:p>
            <a:pPr algn="ctr"/>
            <a:endParaRPr/>
          </a:p>
        </p:txBody>
      </p:sp>
      <p:sp>
        <p:nvSpPr>
          <p:cNvPr id="266" name="TextBox 265"/>
          <p:cNvSpPr txBox="1"/>
          <p:nvPr/>
        </p:nvSpPr>
        <p:spPr>
          <a:xfrm>
            <a:off x="7882127" y="2203704"/>
            <a:ext cx="411480" cy="237744"/>
          </a:xfrm>
          <a:prstGeom prst="rect">
            <a:avLst/>
          </a:prstGeom>
          <a:noFill/>
        </p:spPr>
        <p:txBody>
          <a:bodyPr wrap="square" lIns="18288" tIns="18288" rIns="18288" bIns="18288" anchor="ctr">
            <a:spAutoFit/>
          </a:bodyPr>
          <a:lstStyle/>
          <a:p>
            <a:pPr algn="r"/>
            <a:r>
              <a:rPr sz="1000" b="1">
                <a:solidFill>
                  <a:srgbClr val="3C4043"/>
                </a:solidFill>
                <a:latin typeface="Arial"/>
              </a:rPr>
              <a:t>25</a:t>
            </a:r>
          </a:p>
        </p:txBody>
      </p:sp>
      <p:sp>
        <p:nvSpPr>
          <p:cNvPr id="267" name="TextBox 266"/>
          <p:cNvSpPr txBox="1"/>
          <p:nvPr/>
        </p:nvSpPr>
        <p:spPr>
          <a:xfrm>
            <a:off x="3456432" y="2688336"/>
            <a:ext cx="1417320" cy="256032"/>
          </a:xfrm>
          <a:prstGeom prst="rect">
            <a:avLst/>
          </a:prstGeom>
          <a:noFill/>
        </p:spPr>
        <p:txBody>
          <a:bodyPr wrap="square" lIns="18288" tIns="18288" rIns="18288" bIns="18288" anchor="ctr">
            <a:spAutoFit/>
          </a:bodyPr>
          <a:lstStyle/>
          <a:p>
            <a:pPr algn="l"/>
            <a:r>
              <a:rPr sz="1000" b="1">
                <a:solidFill>
                  <a:srgbClr val="3C4043"/>
                </a:solidFill>
                <a:latin typeface="Arial"/>
              </a:rPr>
              <a:t>Timeline</a:t>
            </a:r>
          </a:p>
        </p:txBody>
      </p:sp>
      <p:sp>
        <p:nvSpPr>
          <p:cNvPr id="268" name="Rounded Rectangle 267"/>
          <p:cNvSpPr/>
          <p:nvPr/>
        </p:nvSpPr>
        <p:spPr>
          <a:xfrm>
            <a:off x="4892040" y="2706624"/>
            <a:ext cx="2880360" cy="201168"/>
          </a:xfrm>
          <a:prstGeom prst="roundRect">
            <a:avLst/>
          </a:prstGeom>
          <a:solidFill>
            <a:srgbClr val="E8EAED"/>
          </a:solidFill>
          <a:ln w="12700">
            <a:solidFill>
              <a:srgbClr val="E8EAED"/>
            </a:solidFill>
          </a:ln>
        </p:spPr>
        <p:style>
          <a:lnRef idx="1">
            <a:schemeClr val="accent1"/>
          </a:lnRef>
          <a:fillRef idx="3">
            <a:schemeClr val="accent1"/>
          </a:fillRef>
          <a:effectRef idx="2">
            <a:schemeClr val="accent1"/>
          </a:effectRef>
          <a:fontRef idx="minor">
            <a:schemeClr val="lt1"/>
          </a:fontRef>
        </p:style>
        <p:txBody>
          <a:bodyPr wrap="square" lIns="9144" tIns="6096" rIns="9144" bIns="6096" rtlCol="0" anchor="ctr"/>
          <a:lstStyle/>
          <a:p>
            <a:pPr algn="ctr"/>
            <a:endParaRPr/>
          </a:p>
        </p:txBody>
      </p:sp>
      <p:sp>
        <p:nvSpPr>
          <p:cNvPr id="269" name="Rounded Rectangle 268"/>
          <p:cNvSpPr/>
          <p:nvPr/>
        </p:nvSpPr>
        <p:spPr>
          <a:xfrm>
            <a:off x="4892040" y="2706624"/>
            <a:ext cx="2304288" cy="201168"/>
          </a:xfrm>
          <a:prstGeom prst="roundRect">
            <a:avLst/>
          </a:prstGeom>
          <a:solidFill>
            <a:srgbClr val="F9AB00"/>
          </a:solidFill>
          <a:ln w="12700">
            <a:solidFill>
              <a:srgbClr val="F9AB00"/>
            </a:solidFill>
          </a:ln>
        </p:spPr>
        <p:style>
          <a:lnRef idx="1">
            <a:schemeClr val="accent1"/>
          </a:lnRef>
          <a:fillRef idx="3">
            <a:schemeClr val="accent1"/>
          </a:fillRef>
          <a:effectRef idx="2">
            <a:schemeClr val="accent1"/>
          </a:effectRef>
          <a:fontRef idx="minor">
            <a:schemeClr val="lt1"/>
          </a:fontRef>
        </p:style>
        <p:txBody>
          <a:bodyPr wrap="square" lIns="9144" tIns="6096" rIns="9144" bIns="6096" rtlCol="0" anchor="ctr"/>
          <a:lstStyle/>
          <a:p>
            <a:pPr algn="ctr"/>
            <a:endParaRPr/>
          </a:p>
        </p:txBody>
      </p:sp>
      <p:sp>
        <p:nvSpPr>
          <p:cNvPr id="270" name="TextBox 269"/>
          <p:cNvSpPr txBox="1"/>
          <p:nvPr/>
        </p:nvSpPr>
        <p:spPr>
          <a:xfrm>
            <a:off x="7882127" y="2688336"/>
            <a:ext cx="411480" cy="237744"/>
          </a:xfrm>
          <a:prstGeom prst="rect">
            <a:avLst/>
          </a:prstGeom>
          <a:noFill/>
        </p:spPr>
        <p:txBody>
          <a:bodyPr wrap="square" lIns="18288" tIns="18288" rIns="18288" bIns="18288" anchor="ctr">
            <a:spAutoFit/>
          </a:bodyPr>
          <a:lstStyle/>
          <a:p>
            <a:pPr algn="r"/>
            <a:r>
              <a:rPr sz="1000" b="1">
                <a:solidFill>
                  <a:srgbClr val="3C4043"/>
                </a:solidFill>
                <a:latin typeface="Arial"/>
              </a:rPr>
              <a:t>20</a:t>
            </a:r>
          </a:p>
        </p:txBody>
      </p:sp>
      <p:sp>
        <p:nvSpPr>
          <p:cNvPr id="271" name="TextBox 270"/>
          <p:cNvSpPr txBox="1"/>
          <p:nvPr/>
        </p:nvSpPr>
        <p:spPr>
          <a:xfrm>
            <a:off x="3456432" y="3172968"/>
            <a:ext cx="1417320" cy="256032"/>
          </a:xfrm>
          <a:prstGeom prst="rect">
            <a:avLst/>
          </a:prstGeom>
          <a:noFill/>
        </p:spPr>
        <p:txBody>
          <a:bodyPr wrap="square" lIns="18288" tIns="18288" rIns="18288" bIns="18288" anchor="ctr">
            <a:spAutoFit/>
          </a:bodyPr>
          <a:lstStyle/>
          <a:p>
            <a:pPr algn="l"/>
            <a:r>
              <a:rPr sz="1000" b="1">
                <a:solidFill>
                  <a:srgbClr val="3C4043"/>
                </a:solidFill>
                <a:latin typeface="Arial"/>
              </a:rPr>
              <a:t>Decision authority</a:t>
            </a:r>
          </a:p>
        </p:txBody>
      </p:sp>
      <p:sp>
        <p:nvSpPr>
          <p:cNvPr id="272" name="Rounded Rectangle 271"/>
          <p:cNvSpPr/>
          <p:nvPr/>
        </p:nvSpPr>
        <p:spPr>
          <a:xfrm>
            <a:off x="4892040" y="3191256"/>
            <a:ext cx="2880360" cy="201168"/>
          </a:xfrm>
          <a:prstGeom prst="roundRect">
            <a:avLst/>
          </a:prstGeom>
          <a:solidFill>
            <a:srgbClr val="E8EAED"/>
          </a:solidFill>
          <a:ln w="12700">
            <a:solidFill>
              <a:srgbClr val="E8EAED"/>
            </a:solidFill>
          </a:ln>
        </p:spPr>
        <p:style>
          <a:lnRef idx="1">
            <a:schemeClr val="accent1"/>
          </a:lnRef>
          <a:fillRef idx="3">
            <a:schemeClr val="accent1"/>
          </a:fillRef>
          <a:effectRef idx="2">
            <a:schemeClr val="accent1"/>
          </a:effectRef>
          <a:fontRef idx="minor">
            <a:schemeClr val="lt1"/>
          </a:fontRef>
        </p:style>
        <p:txBody>
          <a:bodyPr wrap="square" lIns="9144" tIns="6096" rIns="9144" bIns="6096" rtlCol="0" anchor="ctr"/>
          <a:lstStyle/>
          <a:p>
            <a:pPr algn="ctr"/>
            <a:endParaRPr/>
          </a:p>
        </p:txBody>
      </p:sp>
      <p:sp>
        <p:nvSpPr>
          <p:cNvPr id="273" name="Rounded Rectangle 272"/>
          <p:cNvSpPr/>
          <p:nvPr/>
        </p:nvSpPr>
        <p:spPr>
          <a:xfrm>
            <a:off x="4892040" y="3191256"/>
            <a:ext cx="1728216" cy="201168"/>
          </a:xfrm>
          <a:prstGeom prst="roundRect">
            <a:avLst/>
          </a:prstGeom>
          <a:solidFill>
            <a:srgbClr val="EA4335"/>
          </a:solidFill>
          <a:ln w="12700">
            <a:solidFill>
              <a:srgbClr val="EA4335"/>
            </a:solidFill>
          </a:ln>
        </p:spPr>
        <p:style>
          <a:lnRef idx="1">
            <a:schemeClr val="accent1"/>
          </a:lnRef>
          <a:fillRef idx="3">
            <a:schemeClr val="accent1"/>
          </a:fillRef>
          <a:effectRef idx="2">
            <a:schemeClr val="accent1"/>
          </a:effectRef>
          <a:fontRef idx="minor">
            <a:schemeClr val="lt1"/>
          </a:fontRef>
        </p:style>
        <p:txBody>
          <a:bodyPr wrap="square" lIns="9144" tIns="6096" rIns="9144" bIns="6096" rtlCol="0" anchor="ctr"/>
          <a:lstStyle/>
          <a:p>
            <a:pPr algn="ctr"/>
            <a:endParaRPr/>
          </a:p>
        </p:txBody>
      </p:sp>
      <p:sp>
        <p:nvSpPr>
          <p:cNvPr id="274" name="TextBox 273"/>
          <p:cNvSpPr txBox="1"/>
          <p:nvPr/>
        </p:nvSpPr>
        <p:spPr>
          <a:xfrm>
            <a:off x="7882127" y="3172968"/>
            <a:ext cx="411480" cy="237744"/>
          </a:xfrm>
          <a:prstGeom prst="rect">
            <a:avLst/>
          </a:prstGeom>
          <a:noFill/>
        </p:spPr>
        <p:txBody>
          <a:bodyPr wrap="square" lIns="18288" tIns="18288" rIns="18288" bIns="18288" anchor="ctr">
            <a:spAutoFit/>
          </a:bodyPr>
          <a:lstStyle/>
          <a:p>
            <a:pPr algn="r"/>
            <a:r>
              <a:rPr sz="1000" b="1">
                <a:solidFill>
                  <a:srgbClr val="3C4043"/>
                </a:solidFill>
                <a:latin typeface="Arial"/>
              </a:rPr>
              <a:t>15</a:t>
            </a:r>
          </a:p>
        </p:txBody>
      </p:sp>
      <p:sp>
        <p:nvSpPr>
          <p:cNvPr id="275" name="TextBox 274"/>
          <p:cNvSpPr txBox="1"/>
          <p:nvPr/>
        </p:nvSpPr>
        <p:spPr>
          <a:xfrm>
            <a:off x="3456432" y="3657600"/>
            <a:ext cx="1417320" cy="256032"/>
          </a:xfrm>
          <a:prstGeom prst="rect">
            <a:avLst/>
          </a:prstGeom>
          <a:noFill/>
        </p:spPr>
        <p:txBody>
          <a:bodyPr wrap="square" lIns="18288" tIns="18288" rIns="18288" bIns="18288" anchor="ctr">
            <a:spAutoFit/>
          </a:bodyPr>
          <a:lstStyle/>
          <a:p>
            <a:pPr algn="l"/>
            <a:r>
              <a:rPr sz="1000" b="1">
                <a:solidFill>
                  <a:srgbClr val="3C4043"/>
                </a:solidFill>
                <a:latin typeface="Arial"/>
              </a:rPr>
              <a:t>Budget</a:t>
            </a:r>
          </a:p>
        </p:txBody>
      </p:sp>
      <p:sp>
        <p:nvSpPr>
          <p:cNvPr id="276" name="Rounded Rectangle 275"/>
          <p:cNvSpPr/>
          <p:nvPr/>
        </p:nvSpPr>
        <p:spPr>
          <a:xfrm>
            <a:off x="4892040" y="3675887"/>
            <a:ext cx="2880360" cy="201168"/>
          </a:xfrm>
          <a:prstGeom prst="roundRect">
            <a:avLst/>
          </a:prstGeom>
          <a:solidFill>
            <a:srgbClr val="E8EAED"/>
          </a:solidFill>
          <a:ln w="12700">
            <a:solidFill>
              <a:srgbClr val="E8EAED"/>
            </a:solidFill>
          </a:ln>
        </p:spPr>
        <p:style>
          <a:lnRef idx="1">
            <a:schemeClr val="accent1"/>
          </a:lnRef>
          <a:fillRef idx="3">
            <a:schemeClr val="accent1"/>
          </a:fillRef>
          <a:effectRef idx="2">
            <a:schemeClr val="accent1"/>
          </a:effectRef>
          <a:fontRef idx="minor">
            <a:schemeClr val="lt1"/>
          </a:fontRef>
        </p:style>
        <p:txBody>
          <a:bodyPr wrap="square" lIns="9144" tIns="6096" rIns="9144" bIns="6096" rtlCol="0" anchor="ctr"/>
          <a:lstStyle/>
          <a:p>
            <a:pPr algn="ctr"/>
            <a:endParaRPr/>
          </a:p>
        </p:txBody>
      </p:sp>
      <p:sp>
        <p:nvSpPr>
          <p:cNvPr id="277" name="Rounded Rectangle 276"/>
          <p:cNvSpPr/>
          <p:nvPr/>
        </p:nvSpPr>
        <p:spPr>
          <a:xfrm>
            <a:off x="4892040" y="3675887"/>
            <a:ext cx="1728216" cy="201168"/>
          </a:xfrm>
          <a:prstGeom prst="roundRect">
            <a:avLst/>
          </a:prstGeom>
          <a:solidFill>
            <a:srgbClr val="8E63CE"/>
          </a:solidFill>
          <a:ln w="12700">
            <a:solidFill>
              <a:srgbClr val="8E63CE"/>
            </a:solidFill>
          </a:ln>
        </p:spPr>
        <p:style>
          <a:lnRef idx="1">
            <a:schemeClr val="accent1"/>
          </a:lnRef>
          <a:fillRef idx="3">
            <a:schemeClr val="accent1"/>
          </a:fillRef>
          <a:effectRef idx="2">
            <a:schemeClr val="accent1"/>
          </a:effectRef>
          <a:fontRef idx="minor">
            <a:schemeClr val="lt1"/>
          </a:fontRef>
        </p:style>
        <p:txBody>
          <a:bodyPr wrap="square" lIns="9144" tIns="6096" rIns="9144" bIns="6096" rtlCol="0" anchor="ctr"/>
          <a:lstStyle/>
          <a:p>
            <a:pPr algn="ctr"/>
            <a:endParaRPr/>
          </a:p>
        </p:txBody>
      </p:sp>
      <p:sp>
        <p:nvSpPr>
          <p:cNvPr id="278" name="TextBox 277"/>
          <p:cNvSpPr txBox="1"/>
          <p:nvPr/>
        </p:nvSpPr>
        <p:spPr>
          <a:xfrm>
            <a:off x="7882127" y="3657600"/>
            <a:ext cx="411480" cy="237744"/>
          </a:xfrm>
          <a:prstGeom prst="rect">
            <a:avLst/>
          </a:prstGeom>
          <a:noFill/>
        </p:spPr>
        <p:txBody>
          <a:bodyPr wrap="square" lIns="18288" tIns="18288" rIns="18288" bIns="18288" anchor="ctr">
            <a:spAutoFit/>
          </a:bodyPr>
          <a:lstStyle/>
          <a:p>
            <a:pPr algn="r"/>
            <a:r>
              <a:rPr sz="1000" b="1">
                <a:solidFill>
                  <a:srgbClr val="3C4043"/>
                </a:solidFill>
                <a:latin typeface="Arial"/>
              </a:rPr>
              <a:t>15</a:t>
            </a:r>
          </a:p>
        </p:txBody>
      </p:sp>
      <p:sp>
        <p:nvSpPr>
          <p:cNvPr id="279" name="Rounded Rectangle 278"/>
          <p:cNvSpPr/>
          <p:nvPr/>
        </p:nvSpPr>
        <p:spPr>
          <a:xfrm>
            <a:off x="3456432" y="4251960"/>
            <a:ext cx="1097280" cy="292608"/>
          </a:xfrm>
          <a:prstGeom prst="roundRect">
            <a:avLst/>
          </a:prstGeom>
          <a:solidFill>
            <a:srgbClr val="FCE8E6"/>
          </a:solidFill>
          <a:ln w="6350">
            <a:solidFill>
              <a:srgbClr val="FCE8E6"/>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900" b="1">
                <a:solidFill>
                  <a:srgbClr val="EA4335"/>
                </a:solidFill>
                <a:latin typeface="Arial"/>
              </a:rPr>
              <a:t>HOT ≥ 70</a:t>
            </a:r>
          </a:p>
        </p:txBody>
      </p:sp>
      <p:sp>
        <p:nvSpPr>
          <p:cNvPr id="280" name="Rounded Rectangle 279"/>
          <p:cNvSpPr/>
          <p:nvPr/>
        </p:nvSpPr>
        <p:spPr>
          <a:xfrm>
            <a:off x="4663440" y="4251960"/>
            <a:ext cx="1234440" cy="292608"/>
          </a:xfrm>
          <a:prstGeom prst="roundRect">
            <a:avLst/>
          </a:prstGeom>
          <a:solidFill>
            <a:srgbClr val="FEF7E0"/>
          </a:solidFill>
          <a:ln w="6350">
            <a:solidFill>
              <a:srgbClr val="FEF7E0"/>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900" b="1">
                <a:solidFill>
                  <a:srgbClr val="A56A00"/>
                </a:solidFill>
                <a:latin typeface="Arial"/>
              </a:rPr>
              <a:t>WARM ≥ 40</a:t>
            </a:r>
          </a:p>
        </p:txBody>
      </p:sp>
      <p:sp>
        <p:nvSpPr>
          <p:cNvPr id="281" name="Rounded Rectangle 280"/>
          <p:cNvSpPr/>
          <p:nvPr/>
        </p:nvSpPr>
        <p:spPr>
          <a:xfrm>
            <a:off x="6016752" y="4251960"/>
            <a:ext cx="1371600" cy="292608"/>
          </a:xfrm>
          <a:prstGeom prst="roundRect">
            <a:avLst/>
          </a:prstGeom>
          <a:solidFill>
            <a:srgbClr val="E8F0FE"/>
          </a:solidFill>
          <a:ln w="6350">
            <a:solidFill>
              <a:srgbClr val="E8F0FE"/>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900" b="1">
                <a:solidFill>
                  <a:srgbClr val="4285F4"/>
                </a:solidFill>
                <a:latin typeface="Arial"/>
              </a:rPr>
              <a:t>NURTURE &lt; 40</a:t>
            </a:r>
          </a:p>
        </p:txBody>
      </p:sp>
      <p:sp>
        <p:nvSpPr>
          <p:cNvPr id="282" name="TextBox 281"/>
          <p:cNvSpPr txBox="1"/>
          <p:nvPr/>
        </p:nvSpPr>
        <p:spPr>
          <a:xfrm>
            <a:off x="7516368" y="4242816"/>
            <a:ext cx="932688" cy="320040"/>
          </a:xfrm>
          <a:prstGeom prst="rect">
            <a:avLst/>
          </a:prstGeom>
          <a:noFill/>
        </p:spPr>
        <p:txBody>
          <a:bodyPr wrap="square" lIns="18288" tIns="18288" rIns="18288" bIns="18288" anchor="ctr">
            <a:spAutoFit/>
          </a:bodyPr>
          <a:lstStyle/>
          <a:p>
            <a:pPr algn="l"/>
            <a:r>
              <a:rPr sz="900" b="1">
                <a:solidFill>
                  <a:srgbClr val="34A853"/>
                </a:solidFill>
                <a:latin typeface="Arial"/>
              </a:rPr>
              <a:t>HOT → review</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52"/>
          <p:cNvSpPr txBox="1"/>
          <p:nvPr/>
        </p:nvSpPr>
        <p:spPr>
          <a:xfrm>
            <a:off x="517675" y="524350"/>
            <a:ext cx="7000800" cy="554100"/>
          </a:xfrm>
          <a:prstGeom prst="rect">
            <a:avLst/>
          </a:prstGeom>
          <a:noFill/>
          <a:ln>
            <a:noFill/>
          </a:ln>
        </p:spPr>
        <p:txBody>
          <a:bodyPr spcFirstLastPara="1" wrap="square" lIns="0"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200" b="0" i="0" u="none" strike="noStrike" cap="none">
                <a:solidFill>
                  <a:srgbClr val="3C4043"/>
                </a:solidFill>
                <a:latin typeface="Arial"/>
                <a:ea typeface="Open Sans"/>
                <a:cs typeface="Open Sans"/>
                <a:sym typeface="Open Sans"/>
              </a:rPr>
              <a:t>AI summary with deterministic guardrails</a:t>
            </a:r>
            <a:endParaRPr sz="2400" b="0" i="0" u="none" strike="noStrike" cap="none">
              <a:solidFill>
                <a:srgbClr val="5F6368"/>
              </a:solidFill>
              <a:latin typeface="Open Sans"/>
              <a:ea typeface="Open Sans"/>
              <a:cs typeface="Open Sans"/>
              <a:sym typeface="Open Sans"/>
            </a:endParaRPr>
          </a:p>
        </p:txBody>
      </p:sp>
      <p:sp>
        <p:nvSpPr>
          <p:cNvPr id="262" name="Google Shape;262;p52"/>
          <p:cNvSpPr txBox="1"/>
          <p:nvPr/>
        </p:nvSpPr>
        <p:spPr>
          <a:xfrm>
            <a:off x="517675" y="1522550"/>
            <a:ext cx="2421300" cy="723300"/>
          </a:xfrm>
          <a:prstGeom prst="rect">
            <a:avLst/>
          </a:prstGeom>
          <a:noFill/>
          <a:ln>
            <a:noFill/>
          </a:ln>
        </p:spPr>
        <p:txBody>
          <a:bodyPr spcFirstLastPara="1" wrap="square" lIns="0" tIns="91425" rIns="91425" bIns="91425" anchor="t" anchorCtr="0">
            <a:spAutoFit/>
          </a:bodyPr>
          <a:lstStyle/>
          <a:p>
            <a:pPr marL="0" marR="0" lvl="0" indent="0" algn="l" rtl="0">
              <a:lnSpc>
                <a:spcPct val="150000"/>
              </a:lnSpc>
              <a:spcBef>
                <a:spcPts val="0"/>
              </a:spcBef>
              <a:spcAft>
                <a:spcPts val="0"/>
              </a:spcAft>
              <a:buClr>
                <a:schemeClr val="dk1"/>
              </a:buClr>
              <a:buSzPts val="1100"/>
              <a:buFont typeface="Arial"/>
              <a:buNone/>
            </a:pPr>
            <a:r>
              <a:rPr lang="en" sz="1200" b="0" i="0" u="none" strike="noStrike" cap="none">
                <a:solidFill>
                  <a:srgbClr val="5F6368"/>
                </a:solidFill>
                <a:latin typeface="Arial"/>
                <a:ea typeface="Open Sans"/>
                <a:cs typeface="Open Sans"/>
                <a:sym typeface="Open Sans"/>
              </a:rPr>
              <a:t>The model supports qualification; it does not own permission, scoring thresholds, approval, or sending. Prompt-injection-aware instructions keep submitted lead text in the data lane and request a constrained structured response.</a:t>
            </a:r>
            <a:endParaRPr sz="1400" b="0" i="0" u="none" strike="noStrike" cap="none">
              <a:solidFill>
                <a:srgbClr val="000000"/>
              </a:solidFill>
              <a:latin typeface="Arial"/>
              <a:ea typeface="Arial"/>
              <a:cs typeface="Arial"/>
              <a:sym typeface="Arial"/>
            </a:endParaRPr>
          </a:p>
        </p:txBody>
      </p:sp>
      <p:sp>
        <p:nvSpPr>
          <p:cNvPr id="263" name="Google Shape;263;p52"/>
          <p:cNvSpPr/>
          <p:nvPr/>
        </p:nvSpPr>
        <p:spPr>
          <a:xfrm>
            <a:off x="5092825" y="984600"/>
            <a:ext cx="2421300" cy="3958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64" name="Google Shape;264;p52"/>
          <p:cNvCxnSpPr/>
          <p:nvPr/>
        </p:nvCxnSpPr>
        <p:spPr>
          <a:xfrm>
            <a:off x="4565525" y="1608925"/>
            <a:ext cx="918900" cy="0"/>
          </a:xfrm>
          <a:prstGeom prst="straightConnector1">
            <a:avLst/>
          </a:prstGeom>
          <a:noFill/>
          <a:ln w="19050" cap="flat" cmpd="sng">
            <a:solidFill>
              <a:srgbClr val="FBBC04"/>
            </a:solidFill>
            <a:prstDash val="solid"/>
            <a:round/>
            <a:headEnd type="none" w="sm" len="sm"/>
            <a:tailEnd type="triangle" w="med" len="med"/>
          </a:ln>
        </p:spPr>
      </p:cxnSp>
      <p:sp>
        <p:nvSpPr>
          <p:cNvPr id="265" name="Google Shape;265;p52"/>
          <p:cNvSpPr txBox="1"/>
          <p:nvPr/>
        </p:nvSpPr>
        <p:spPr>
          <a:xfrm>
            <a:off x="3506850" y="1208725"/>
            <a:ext cx="1100400" cy="800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rgbClr val="5F6368"/>
              </a:solidFill>
              <a:latin typeface="Open Sans"/>
              <a:ea typeface="Open Sans"/>
              <a:cs typeface="Open Sans"/>
              <a:sym typeface="Open Sans"/>
            </a:endParaRPr>
          </a:p>
        </p:txBody>
      </p:sp>
      <p:cxnSp>
        <p:nvCxnSpPr>
          <p:cNvPr id="266" name="Google Shape;266;p52"/>
          <p:cNvCxnSpPr/>
          <p:nvPr/>
        </p:nvCxnSpPr>
        <p:spPr>
          <a:xfrm rot="10800000">
            <a:off x="7096000" y="2920200"/>
            <a:ext cx="918000" cy="0"/>
          </a:xfrm>
          <a:prstGeom prst="straightConnector1">
            <a:avLst/>
          </a:prstGeom>
          <a:noFill/>
          <a:ln w="19050" cap="flat" cmpd="sng">
            <a:solidFill>
              <a:srgbClr val="FBBC04"/>
            </a:solidFill>
            <a:prstDash val="solid"/>
            <a:round/>
            <a:headEnd type="none" w="sm" len="sm"/>
            <a:tailEnd type="triangle" w="med" len="med"/>
          </a:ln>
        </p:spPr>
      </p:cxnSp>
      <p:sp>
        <p:nvSpPr>
          <p:cNvPr id="267" name="Google Shape;267;p52"/>
          <p:cNvSpPr txBox="1"/>
          <p:nvPr/>
        </p:nvSpPr>
        <p:spPr>
          <a:xfrm>
            <a:off x="5363575" y="1833000"/>
            <a:ext cx="1892400" cy="1108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5F6368"/>
              </a:solidFill>
              <a:latin typeface="Open Sans"/>
              <a:ea typeface="Open Sans"/>
              <a:cs typeface="Open Sans"/>
              <a:sym typeface="Open Sans"/>
            </a:endParaRPr>
          </a:p>
        </p:txBody>
      </p:sp>
      <p:sp>
        <p:nvSpPr>
          <p:cNvPr id="268" name="Google Shape;268;p52"/>
          <p:cNvSpPr txBox="1"/>
          <p:nvPr/>
        </p:nvSpPr>
        <p:spPr>
          <a:xfrm>
            <a:off x="8030375" y="2520000"/>
            <a:ext cx="1100400" cy="800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rgbClr val="5F6368"/>
              </a:solidFill>
              <a:latin typeface="Open Sans"/>
              <a:ea typeface="Open Sans"/>
              <a:cs typeface="Open Sans"/>
              <a:sym typeface="Open Sans"/>
            </a:endParaRPr>
          </a:p>
        </p:txBody>
      </p:sp>
      <p:sp>
        <p:nvSpPr>
          <p:cNvPr id="269" name="Rectangle 268"/>
          <p:cNvSpPr/>
          <p:nvPr/>
        </p:nvSpPr>
        <p:spPr>
          <a:xfrm>
            <a:off x="3017520" y="1051560"/>
            <a:ext cx="6080760" cy="3703320"/>
          </a:xfrm>
          <a:prstGeom prst="rect">
            <a:avLst/>
          </a:prstGeom>
          <a:solidFill>
            <a:srgbClr val="F8F9FA"/>
          </a:solidFill>
          <a:ln w="12700">
            <a:solidFill>
              <a:srgbClr val="DADCE0"/>
            </a:solidFill>
          </a:ln>
        </p:spPr>
        <p:style>
          <a:lnRef idx="1">
            <a:schemeClr val="accent1"/>
          </a:lnRef>
          <a:fillRef idx="3">
            <a:schemeClr val="accent1"/>
          </a:fillRef>
          <a:effectRef idx="2">
            <a:schemeClr val="accent1"/>
          </a:effectRef>
          <a:fontRef idx="minor">
            <a:schemeClr val="lt1"/>
          </a:fontRef>
        </p:style>
        <p:txBody>
          <a:bodyPr wrap="square" lIns="73152" tIns="48768" rIns="73152" bIns="48768" rtlCol="0" anchor="ctr"/>
          <a:lstStyle/>
          <a:p>
            <a:pPr algn="ctr"/>
            <a:endParaRPr/>
          </a:p>
        </p:txBody>
      </p:sp>
      <p:sp>
        <p:nvSpPr>
          <p:cNvPr id="270" name="Rounded Rectangle 269"/>
          <p:cNvSpPr/>
          <p:nvPr/>
        </p:nvSpPr>
        <p:spPr>
          <a:xfrm>
            <a:off x="3429000" y="1417320"/>
            <a:ext cx="411480" cy="283464"/>
          </a:xfrm>
          <a:prstGeom prst="roundRect">
            <a:avLst/>
          </a:prstGeom>
          <a:solidFill>
            <a:srgbClr val="4285F4"/>
          </a:solidFill>
          <a:ln w="6350">
            <a:solidFill>
              <a:srgbClr val="4285F4"/>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900" b="1">
                <a:solidFill>
                  <a:srgbClr val="FFFFFF"/>
                </a:solidFill>
                <a:latin typeface="Arial"/>
              </a:rPr>
              <a:t>1</a:t>
            </a:r>
          </a:p>
        </p:txBody>
      </p:sp>
      <p:sp>
        <p:nvSpPr>
          <p:cNvPr id="271" name="Rounded Rectangle 270"/>
          <p:cNvSpPr/>
          <p:nvPr/>
        </p:nvSpPr>
        <p:spPr>
          <a:xfrm>
            <a:off x="3429000" y="1792224"/>
            <a:ext cx="1143000" cy="1234440"/>
          </a:xfrm>
          <a:prstGeom prst="round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wrap="square" lIns="73152" tIns="48768" rIns="73152" bIns="48768" rtlCol="0" anchor="ctr"/>
          <a:lstStyle/>
          <a:p>
            <a:pPr algn="ctr"/>
            <a:r>
              <a:rPr sz="930" b="0">
                <a:solidFill>
                  <a:srgbClr val="3C4043"/>
                </a:solidFill>
                <a:latin typeface="Arial"/>
              </a:rPr>
              <a:t>VALIDATED FACTS
Only normalized fields and computed score enter the prompt.</a:t>
            </a:r>
          </a:p>
        </p:txBody>
      </p:sp>
      <p:cxnSp>
        <p:nvCxnSpPr>
          <p:cNvPr id="272" name="Connector 271"/>
          <p:cNvCxnSpPr/>
          <p:nvPr/>
        </p:nvCxnSpPr>
        <p:spPr>
          <a:xfrm>
            <a:off x="4590288" y="2404872"/>
            <a:ext cx="118872" cy="0"/>
          </a:xfrm>
          <a:prstGeom prst="line">
            <a:avLst/>
          </a:prstGeom>
          <a:ln w="13970">
            <a:solidFill>
              <a:srgbClr val="5F6368"/>
            </a:solidFill>
          </a:ln>
        </p:spPr>
        <p:style>
          <a:lnRef idx="2">
            <a:schemeClr val="accent1"/>
          </a:lnRef>
          <a:fillRef idx="0">
            <a:schemeClr val="accent1"/>
          </a:fillRef>
          <a:effectRef idx="1">
            <a:schemeClr val="accent1"/>
          </a:effectRef>
          <a:fontRef idx="minor">
            <a:schemeClr val="tx1"/>
          </a:fontRef>
        </p:style>
      </p:cxnSp>
      <p:sp>
        <p:nvSpPr>
          <p:cNvPr id="273" name="Rounded Rectangle 272"/>
          <p:cNvSpPr/>
          <p:nvPr/>
        </p:nvSpPr>
        <p:spPr>
          <a:xfrm>
            <a:off x="4727448" y="1417320"/>
            <a:ext cx="411480" cy="283464"/>
          </a:xfrm>
          <a:prstGeom prst="roundRect">
            <a:avLst/>
          </a:prstGeom>
          <a:solidFill>
            <a:srgbClr val="A56A00"/>
          </a:solidFill>
          <a:ln w="6350">
            <a:solidFill>
              <a:srgbClr val="A56A00"/>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900" b="1">
                <a:solidFill>
                  <a:srgbClr val="FFFFFF"/>
                </a:solidFill>
                <a:latin typeface="Arial"/>
              </a:rPr>
              <a:t>2</a:t>
            </a:r>
          </a:p>
        </p:txBody>
      </p:sp>
      <p:sp>
        <p:nvSpPr>
          <p:cNvPr id="274" name="Rounded Rectangle 273"/>
          <p:cNvSpPr/>
          <p:nvPr/>
        </p:nvSpPr>
        <p:spPr>
          <a:xfrm>
            <a:off x="4727448" y="1792224"/>
            <a:ext cx="1143000" cy="1234440"/>
          </a:xfrm>
          <a:prstGeom prst="roundRect">
            <a:avLst/>
          </a:prstGeom>
          <a:solidFill>
            <a:srgbClr val="FEF7E0"/>
          </a:solidFill>
          <a:ln w="12700">
            <a:solidFill>
              <a:srgbClr val="A56A00"/>
            </a:solidFill>
          </a:ln>
        </p:spPr>
        <p:style>
          <a:lnRef idx="1">
            <a:schemeClr val="accent1"/>
          </a:lnRef>
          <a:fillRef idx="3">
            <a:schemeClr val="accent1"/>
          </a:fillRef>
          <a:effectRef idx="2">
            <a:schemeClr val="accent1"/>
          </a:effectRef>
          <a:fontRef idx="minor">
            <a:schemeClr val="lt1"/>
          </a:fontRef>
        </p:style>
        <p:txBody>
          <a:bodyPr wrap="square" lIns="73152" tIns="48768" rIns="73152" bIns="48768" rtlCol="0" anchor="ctr"/>
          <a:lstStyle/>
          <a:p>
            <a:pPr algn="ctr"/>
            <a:r>
              <a:rPr sz="930" b="0">
                <a:solidFill>
                  <a:srgbClr val="3C4043"/>
                </a:solidFill>
                <a:latin typeface="Arial"/>
              </a:rPr>
              <a:t>AI SUMMARY
Structured qualification notes and outreach draft.</a:t>
            </a:r>
          </a:p>
        </p:txBody>
      </p:sp>
      <p:cxnSp>
        <p:nvCxnSpPr>
          <p:cNvPr id="275" name="Connector 274"/>
          <p:cNvCxnSpPr/>
          <p:nvPr/>
        </p:nvCxnSpPr>
        <p:spPr>
          <a:xfrm>
            <a:off x="5888736" y="2404872"/>
            <a:ext cx="118872" cy="0"/>
          </a:xfrm>
          <a:prstGeom prst="line">
            <a:avLst/>
          </a:prstGeom>
          <a:ln w="13970">
            <a:solidFill>
              <a:srgbClr val="5F6368"/>
            </a:solidFill>
          </a:ln>
        </p:spPr>
        <p:style>
          <a:lnRef idx="2">
            <a:schemeClr val="accent1"/>
          </a:lnRef>
          <a:fillRef idx="0">
            <a:schemeClr val="accent1"/>
          </a:fillRef>
          <a:effectRef idx="1">
            <a:schemeClr val="accent1"/>
          </a:effectRef>
          <a:fontRef idx="minor">
            <a:schemeClr val="tx1"/>
          </a:fontRef>
        </p:style>
      </p:cxnSp>
      <p:sp>
        <p:nvSpPr>
          <p:cNvPr id="276" name="Rounded Rectangle 275"/>
          <p:cNvSpPr/>
          <p:nvPr/>
        </p:nvSpPr>
        <p:spPr>
          <a:xfrm>
            <a:off x="6025896" y="1417320"/>
            <a:ext cx="411480" cy="283464"/>
          </a:xfrm>
          <a:prstGeom prst="roundRect">
            <a:avLst/>
          </a:prstGeom>
          <a:solidFill>
            <a:srgbClr val="34A853"/>
          </a:solidFill>
          <a:ln w="6350">
            <a:solidFill>
              <a:srgbClr val="34A853"/>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900" b="1">
                <a:solidFill>
                  <a:srgbClr val="FFFFFF"/>
                </a:solidFill>
                <a:latin typeface="Arial"/>
              </a:rPr>
              <a:t>3</a:t>
            </a:r>
          </a:p>
        </p:txBody>
      </p:sp>
      <p:sp>
        <p:nvSpPr>
          <p:cNvPr id="277" name="Rounded Rectangle 276"/>
          <p:cNvSpPr/>
          <p:nvPr/>
        </p:nvSpPr>
        <p:spPr>
          <a:xfrm>
            <a:off x="6025896" y="1792224"/>
            <a:ext cx="1143000" cy="1234440"/>
          </a:xfrm>
          <a:prstGeom prst="roundRect">
            <a:avLst/>
          </a:prstGeom>
          <a:solidFill>
            <a:srgbClr val="E6F4EA"/>
          </a:solidFill>
          <a:ln w="12700">
            <a:solidFill>
              <a:srgbClr val="34A853"/>
            </a:solidFill>
          </a:ln>
        </p:spPr>
        <p:style>
          <a:lnRef idx="1">
            <a:schemeClr val="accent1"/>
          </a:lnRef>
          <a:fillRef idx="3">
            <a:schemeClr val="accent1"/>
          </a:fillRef>
          <a:effectRef idx="2">
            <a:schemeClr val="accent1"/>
          </a:effectRef>
          <a:fontRef idx="minor">
            <a:schemeClr val="lt1"/>
          </a:fontRef>
        </p:style>
        <p:txBody>
          <a:bodyPr wrap="square" lIns="73152" tIns="48768" rIns="73152" bIns="48768" rtlCol="0" anchor="ctr"/>
          <a:lstStyle/>
          <a:p>
            <a:pPr algn="ctr"/>
            <a:r>
              <a:rPr sz="930" b="0">
                <a:solidFill>
                  <a:srgbClr val="3C4043"/>
                </a:solidFill>
                <a:latin typeface="Arial"/>
              </a:rPr>
              <a:t>RULE-BASED ROUTER
Score band and consent determine next step.</a:t>
            </a:r>
          </a:p>
        </p:txBody>
      </p:sp>
      <p:cxnSp>
        <p:nvCxnSpPr>
          <p:cNvPr id="278" name="Connector 277"/>
          <p:cNvCxnSpPr/>
          <p:nvPr/>
        </p:nvCxnSpPr>
        <p:spPr>
          <a:xfrm>
            <a:off x="7187183" y="2404872"/>
            <a:ext cx="118873" cy="0"/>
          </a:xfrm>
          <a:prstGeom prst="line">
            <a:avLst/>
          </a:prstGeom>
          <a:ln w="13970">
            <a:solidFill>
              <a:srgbClr val="5F6368"/>
            </a:solidFill>
          </a:ln>
        </p:spPr>
        <p:style>
          <a:lnRef idx="2">
            <a:schemeClr val="accent1"/>
          </a:lnRef>
          <a:fillRef idx="0">
            <a:schemeClr val="accent1"/>
          </a:fillRef>
          <a:effectRef idx="1">
            <a:schemeClr val="accent1"/>
          </a:effectRef>
          <a:fontRef idx="minor">
            <a:schemeClr val="tx1"/>
          </a:fontRef>
        </p:style>
      </p:cxnSp>
      <p:sp>
        <p:nvSpPr>
          <p:cNvPr id="279" name="Rounded Rectangle 278"/>
          <p:cNvSpPr/>
          <p:nvPr/>
        </p:nvSpPr>
        <p:spPr>
          <a:xfrm>
            <a:off x="7324344" y="1417320"/>
            <a:ext cx="411480" cy="283464"/>
          </a:xfrm>
          <a:prstGeom prst="roundRect">
            <a:avLst/>
          </a:prstGeom>
          <a:solidFill>
            <a:srgbClr val="EA4335"/>
          </a:solidFill>
          <a:ln w="6350">
            <a:solidFill>
              <a:srgbClr val="EA4335"/>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900" b="1">
                <a:solidFill>
                  <a:srgbClr val="FFFFFF"/>
                </a:solidFill>
                <a:latin typeface="Arial"/>
              </a:rPr>
              <a:t>4</a:t>
            </a:r>
          </a:p>
        </p:txBody>
      </p:sp>
      <p:sp>
        <p:nvSpPr>
          <p:cNvPr id="280" name="Rounded Rectangle 279"/>
          <p:cNvSpPr/>
          <p:nvPr/>
        </p:nvSpPr>
        <p:spPr>
          <a:xfrm>
            <a:off x="7324344" y="1792224"/>
            <a:ext cx="1143000" cy="1234440"/>
          </a:xfrm>
          <a:prstGeom prst="roundRect">
            <a:avLst/>
          </a:prstGeom>
          <a:solidFill>
            <a:srgbClr val="FCE8E6"/>
          </a:solidFill>
          <a:ln w="12700">
            <a:solidFill>
              <a:srgbClr val="EA4335"/>
            </a:solidFill>
          </a:ln>
        </p:spPr>
        <p:style>
          <a:lnRef idx="1">
            <a:schemeClr val="accent1"/>
          </a:lnRef>
          <a:fillRef idx="3">
            <a:schemeClr val="accent1"/>
          </a:fillRef>
          <a:effectRef idx="2">
            <a:schemeClr val="accent1"/>
          </a:effectRef>
          <a:fontRef idx="minor">
            <a:schemeClr val="lt1"/>
          </a:fontRef>
        </p:style>
        <p:txBody>
          <a:bodyPr wrap="square" lIns="73152" tIns="48768" rIns="73152" bIns="48768" rtlCol="0" anchor="ctr"/>
          <a:lstStyle/>
          <a:p>
            <a:pPr algn="ctr"/>
            <a:r>
              <a:rPr sz="930" b="0">
                <a:solidFill>
                  <a:srgbClr val="3C4043"/>
                </a:solidFill>
                <a:latin typeface="Arial"/>
              </a:rPr>
              <a:t>HUMAN DECISION
HOT draft waits for explicit approval.</a:t>
            </a:r>
          </a:p>
        </p:txBody>
      </p:sp>
      <p:sp>
        <p:nvSpPr>
          <p:cNvPr id="281" name="Rounded Rectangle 280"/>
          <p:cNvSpPr/>
          <p:nvPr/>
        </p:nvSpPr>
        <p:spPr>
          <a:xfrm>
            <a:off x="3456432" y="3401568"/>
            <a:ext cx="4919472" cy="850392"/>
          </a:xfrm>
          <a:prstGeom prst="roundRect">
            <a:avLst/>
          </a:prstGeom>
          <a:solidFill>
            <a:srgbClr val="FFFFFF"/>
          </a:solidFill>
          <a:ln w="12700">
            <a:solidFill>
              <a:srgbClr val="DADCE0"/>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lstStyle/>
          <a:p>
            <a:pPr algn="ctr"/>
            <a:r>
              <a:rPr sz="1000" b="1">
                <a:solidFill>
                  <a:srgbClr val="EA4335"/>
                </a:solidFill>
                <a:latin typeface="Arial"/>
              </a:rPr>
              <a:t>NON-NEGOTIABLE GATES
No consent → no AI/outreach  •  Opt-out → suppress/cancel  •  HOT → approval queue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53"/>
          <p:cNvSpPr/>
          <p:nvPr/>
        </p:nvSpPr>
        <p:spPr>
          <a:xfrm>
            <a:off x="4211875" y="0"/>
            <a:ext cx="493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 name="Google Shape;274;p53"/>
          <p:cNvSpPr txBox="1"/>
          <p:nvPr/>
        </p:nvSpPr>
        <p:spPr>
          <a:xfrm>
            <a:off x="517675" y="524350"/>
            <a:ext cx="7000800" cy="554100"/>
          </a:xfrm>
          <a:prstGeom prst="rect">
            <a:avLst/>
          </a:prstGeom>
          <a:noFill/>
          <a:ln>
            <a:noFill/>
          </a:ln>
        </p:spPr>
        <p:txBody>
          <a:bodyPr spcFirstLastPara="1" wrap="square" lIns="0" tIns="91425" rIns="91425" bIns="91425" anchor="t" anchorCtr="0">
            <a:spAutoFit/>
          </a:bodyPr>
          <a:lstStyle/>
          <a:p>
            <a:pPr marL="0" marR="0" lvl="0" indent="0" algn="l" rtl="0">
              <a:lnSpc>
                <a:spcPct val="115000"/>
              </a:lnSpc>
              <a:spcBef>
                <a:spcPts val="0"/>
              </a:spcBef>
              <a:spcAft>
                <a:spcPts val="0"/>
              </a:spcAft>
              <a:buClr>
                <a:srgbClr val="000000"/>
              </a:buClr>
              <a:buSzPts val="2400"/>
              <a:buFont typeface="Arial"/>
              <a:buNone/>
            </a:pPr>
            <a:r>
              <a:rPr lang="en" sz="2200" b="0" i="0" u="none" strike="noStrike" cap="none">
                <a:solidFill>
                  <a:srgbClr val="3C4043"/>
                </a:solidFill>
                <a:latin typeface="Arial"/>
                <a:ea typeface="Open Sans"/>
                <a:cs typeface="Open Sans"/>
                <a:sym typeface="Open Sans"/>
              </a:rPr>
              <a:t>Sandbox run: end-to-end path</a:t>
            </a:r>
            <a:endParaRPr sz="2400" b="0" i="0" u="none" strike="noStrike" cap="none">
              <a:solidFill>
                <a:srgbClr val="5F6368"/>
              </a:solidFill>
              <a:latin typeface="Open Sans"/>
              <a:ea typeface="Open Sans"/>
              <a:cs typeface="Open Sans"/>
              <a:sym typeface="Open Sans"/>
            </a:endParaRPr>
          </a:p>
        </p:txBody>
      </p:sp>
      <p:sp>
        <p:nvSpPr>
          <p:cNvPr id="275" name="Google Shape;275;p53"/>
          <p:cNvSpPr txBox="1"/>
          <p:nvPr/>
        </p:nvSpPr>
        <p:spPr>
          <a:xfrm>
            <a:off x="6011725" y="2110050"/>
            <a:ext cx="1332300" cy="923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5F6368"/>
              </a:solidFill>
              <a:latin typeface="Open Sans"/>
              <a:ea typeface="Open Sans"/>
              <a:cs typeface="Open Sans"/>
              <a:sym typeface="Open Sans"/>
            </a:endParaRPr>
          </a:p>
        </p:txBody>
      </p:sp>
      <p:sp>
        <p:nvSpPr>
          <p:cNvPr id="276" name="Google Shape;276;p53"/>
          <p:cNvSpPr txBox="1"/>
          <p:nvPr/>
        </p:nvSpPr>
        <p:spPr>
          <a:xfrm>
            <a:off x="532875" y="1793800"/>
            <a:ext cx="2915400" cy="1046700"/>
          </a:xfrm>
          <a:prstGeom prst="rect">
            <a:avLst/>
          </a:prstGeom>
          <a:noFill/>
          <a:ln>
            <a:noFill/>
          </a:ln>
        </p:spPr>
        <p:txBody>
          <a:bodyPr spcFirstLastPara="1" wrap="square" lIns="0"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200" b="0" i="0" u="none" strike="noStrike" cap="none">
                <a:solidFill>
                  <a:srgbClr val="5F6368"/>
                </a:solidFill>
                <a:latin typeface="Arial"/>
                <a:ea typeface="Open Sans"/>
                <a:cs typeface="Open Sans"/>
                <a:sym typeface="Open Sans"/>
              </a:rPr>
              <a:t>A synthetic lead enters the webhook path, passes validation and consent checks, receives a score, and is routed to approval or nurture. Outputs are persisted and auditable; outreach is not sent automatically.</a:t>
            </a:r>
            <a:endParaRPr sz="1400" b="0" i="0" u="none" strike="noStrike" cap="none">
              <a:solidFill>
                <a:srgbClr val="5F6368"/>
              </a:solidFill>
              <a:latin typeface="Open Sans"/>
              <a:ea typeface="Open Sans"/>
              <a:cs typeface="Open Sans"/>
              <a:sym typeface="Open Sans"/>
            </a:endParaRPr>
          </a:p>
          <a:p>
            <a:pPr marL="0" marR="0" lvl="0" indent="0" algn="l" rtl="0">
              <a:lnSpc>
                <a:spcPct val="15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277" name="Rectangle 276"/>
          <p:cNvSpPr/>
          <p:nvPr/>
        </p:nvSpPr>
        <p:spPr>
          <a:xfrm>
            <a:off x="4434840" y="594360"/>
            <a:ext cx="4343400" cy="4069080"/>
          </a:xfrm>
          <a:prstGeom prst="rect">
            <a:avLst/>
          </a:prstGeom>
          <a:solidFill>
            <a:srgbClr val="F8F9FA"/>
          </a:solidFill>
          <a:ln w="12700">
            <a:solidFill>
              <a:srgbClr val="DADCE0"/>
            </a:solidFill>
          </a:ln>
        </p:spPr>
        <p:style>
          <a:lnRef idx="1">
            <a:schemeClr val="accent1"/>
          </a:lnRef>
          <a:fillRef idx="3">
            <a:schemeClr val="accent1"/>
          </a:fillRef>
          <a:effectRef idx="2">
            <a:schemeClr val="accent1"/>
          </a:effectRef>
          <a:fontRef idx="minor">
            <a:schemeClr val="lt1"/>
          </a:fontRef>
        </p:style>
        <p:txBody>
          <a:bodyPr wrap="square" lIns="73152" tIns="48768" rIns="73152" bIns="48768" rtlCol="0" anchor="ctr"/>
          <a:lstStyle/>
          <a:p>
            <a:pPr algn="ctr"/>
            <a:endParaRPr/>
          </a:p>
        </p:txBody>
      </p:sp>
      <p:sp>
        <p:nvSpPr>
          <p:cNvPr id="278" name="Rounded Rectangle 277"/>
          <p:cNvSpPr/>
          <p:nvPr/>
        </p:nvSpPr>
        <p:spPr>
          <a:xfrm>
            <a:off x="5166360" y="822960"/>
            <a:ext cx="2880360" cy="502920"/>
          </a:xfrm>
          <a:prstGeom prst="round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wrap="square" lIns="73152" tIns="48768" rIns="73152" bIns="48768" rtlCol="0" anchor="ctr"/>
          <a:lstStyle/>
          <a:p>
            <a:pPr algn="ctr"/>
            <a:r>
              <a:rPr sz="1100" b="1">
                <a:solidFill>
                  <a:srgbClr val="3C4043"/>
                </a:solidFill>
                <a:latin typeface="Arial"/>
              </a:rPr>
              <a:t>FORM / WEBHOOK</a:t>
            </a:r>
          </a:p>
        </p:txBody>
      </p:sp>
      <p:cxnSp>
        <p:nvCxnSpPr>
          <p:cNvPr id="279" name="Connector 278"/>
          <p:cNvCxnSpPr/>
          <p:nvPr/>
        </p:nvCxnSpPr>
        <p:spPr>
          <a:xfrm>
            <a:off x="6601968" y="1325880"/>
            <a:ext cx="0" cy="182880"/>
          </a:xfrm>
          <a:prstGeom prst="line">
            <a:avLst/>
          </a:prstGeom>
          <a:ln w="15240">
            <a:solidFill>
              <a:srgbClr val="9AA0A6"/>
            </a:solidFill>
          </a:ln>
        </p:spPr>
        <p:style>
          <a:lnRef idx="2">
            <a:schemeClr val="accent1"/>
          </a:lnRef>
          <a:fillRef idx="0">
            <a:schemeClr val="accent1"/>
          </a:fillRef>
          <a:effectRef idx="1">
            <a:schemeClr val="accent1"/>
          </a:effectRef>
          <a:fontRef idx="minor">
            <a:schemeClr val="tx1"/>
          </a:fontRef>
        </p:style>
      </p:cxnSp>
      <p:sp>
        <p:nvSpPr>
          <p:cNvPr id="280" name="Rounded Rectangle 279"/>
          <p:cNvSpPr/>
          <p:nvPr/>
        </p:nvSpPr>
        <p:spPr>
          <a:xfrm>
            <a:off x="5166360" y="1545336"/>
            <a:ext cx="2880360" cy="502920"/>
          </a:xfrm>
          <a:prstGeom prst="round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wrap="square" lIns="73152" tIns="48768" rIns="73152" bIns="48768" rtlCol="0" anchor="ctr"/>
          <a:lstStyle/>
          <a:p>
            <a:pPr algn="ctr"/>
            <a:r>
              <a:rPr sz="1100" b="1">
                <a:solidFill>
                  <a:srgbClr val="3C4043"/>
                </a:solidFill>
                <a:latin typeface="Arial"/>
              </a:rPr>
              <a:t>VALIDATE + DEDUPE</a:t>
            </a:r>
          </a:p>
        </p:txBody>
      </p:sp>
      <p:cxnSp>
        <p:nvCxnSpPr>
          <p:cNvPr id="281" name="Connector 280"/>
          <p:cNvCxnSpPr/>
          <p:nvPr/>
        </p:nvCxnSpPr>
        <p:spPr>
          <a:xfrm>
            <a:off x="6601968" y="2048256"/>
            <a:ext cx="0" cy="182880"/>
          </a:xfrm>
          <a:prstGeom prst="line">
            <a:avLst/>
          </a:prstGeom>
          <a:ln w="15240">
            <a:solidFill>
              <a:srgbClr val="9AA0A6"/>
            </a:solidFill>
          </a:ln>
        </p:spPr>
        <p:style>
          <a:lnRef idx="2">
            <a:schemeClr val="accent1"/>
          </a:lnRef>
          <a:fillRef idx="0">
            <a:schemeClr val="accent1"/>
          </a:fillRef>
          <a:effectRef idx="1">
            <a:schemeClr val="accent1"/>
          </a:effectRef>
          <a:fontRef idx="minor">
            <a:schemeClr val="tx1"/>
          </a:fontRef>
        </p:style>
      </p:cxnSp>
      <p:sp>
        <p:nvSpPr>
          <p:cNvPr id="282" name="Rounded Rectangle 281"/>
          <p:cNvSpPr/>
          <p:nvPr/>
        </p:nvSpPr>
        <p:spPr>
          <a:xfrm>
            <a:off x="5166360" y="2267712"/>
            <a:ext cx="2880360" cy="502920"/>
          </a:xfrm>
          <a:prstGeom prst="roundRect">
            <a:avLst/>
          </a:prstGeom>
          <a:solidFill>
            <a:srgbClr val="FCE8E6"/>
          </a:solidFill>
          <a:ln w="12700">
            <a:solidFill>
              <a:srgbClr val="EA4335"/>
            </a:solidFill>
          </a:ln>
        </p:spPr>
        <p:style>
          <a:lnRef idx="1">
            <a:schemeClr val="accent1"/>
          </a:lnRef>
          <a:fillRef idx="3">
            <a:schemeClr val="accent1"/>
          </a:fillRef>
          <a:effectRef idx="2">
            <a:schemeClr val="accent1"/>
          </a:effectRef>
          <a:fontRef idx="minor">
            <a:schemeClr val="lt1"/>
          </a:fontRef>
        </p:style>
        <p:txBody>
          <a:bodyPr wrap="square" lIns="73152" tIns="48768" rIns="73152" bIns="48768" rtlCol="0" anchor="ctr"/>
          <a:lstStyle/>
          <a:p>
            <a:pPr algn="ctr"/>
            <a:r>
              <a:rPr sz="1100" b="1">
                <a:solidFill>
                  <a:srgbClr val="3C4043"/>
                </a:solidFill>
                <a:latin typeface="Arial"/>
              </a:rPr>
              <a:t>CONSENT GATE</a:t>
            </a:r>
          </a:p>
        </p:txBody>
      </p:sp>
      <p:cxnSp>
        <p:nvCxnSpPr>
          <p:cNvPr id="283" name="Connector 282"/>
          <p:cNvCxnSpPr/>
          <p:nvPr/>
        </p:nvCxnSpPr>
        <p:spPr>
          <a:xfrm>
            <a:off x="6601968" y="2770632"/>
            <a:ext cx="0" cy="182880"/>
          </a:xfrm>
          <a:prstGeom prst="line">
            <a:avLst/>
          </a:prstGeom>
          <a:ln w="15240">
            <a:solidFill>
              <a:srgbClr val="9AA0A6"/>
            </a:solidFill>
          </a:ln>
        </p:spPr>
        <p:style>
          <a:lnRef idx="2">
            <a:schemeClr val="accent1"/>
          </a:lnRef>
          <a:fillRef idx="0">
            <a:schemeClr val="accent1"/>
          </a:fillRef>
          <a:effectRef idx="1">
            <a:schemeClr val="accent1"/>
          </a:effectRef>
          <a:fontRef idx="minor">
            <a:schemeClr val="tx1"/>
          </a:fontRef>
        </p:style>
      </p:cxnSp>
      <p:sp>
        <p:nvSpPr>
          <p:cNvPr id="284" name="Rounded Rectangle 283"/>
          <p:cNvSpPr/>
          <p:nvPr/>
        </p:nvSpPr>
        <p:spPr>
          <a:xfrm>
            <a:off x="5166360" y="2990088"/>
            <a:ext cx="2880360" cy="502920"/>
          </a:xfrm>
          <a:prstGeom prst="roundRect">
            <a:avLst/>
          </a:prstGeom>
          <a:solidFill>
            <a:srgbClr val="FEF7E0"/>
          </a:solidFill>
          <a:ln w="12700">
            <a:solidFill>
              <a:srgbClr val="A56A00"/>
            </a:solidFill>
          </a:ln>
        </p:spPr>
        <p:style>
          <a:lnRef idx="1">
            <a:schemeClr val="accent1"/>
          </a:lnRef>
          <a:fillRef idx="3">
            <a:schemeClr val="accent1"/>
          </a:fillRef>
          <a:effectRef idx="2">
            <a:schemeClr val="accent1"/>
          </a:effectRef>
          <a:fontRef idx="minor">
            <a:schemeClr val="lt1"/>
          </a:fontRef>
        </p:style>
        <p:txBody>
          <a:bodyPr wrap="square" lIns="73152" tIns="48768" rIns="73152" bIns="48768" rtlCol="0" anchor="ctr"/>
          <a:lstStyle/>
          <a:p>
            <a:pPr algn="ctr"/>
            <a:r>
              <a:rPr sz="1100" b="1">
                <a:solidFill>
                  <a:srgbClr val="3C4043"/>
                </a:solidFill>
                <a:latin typeface="Arial"/>
              </a:rPr>
              <a:t>SCORE + AI SUMMARY</a:t>
            </a:r>
          </a:p>
        </p:txBody>
      </p:sp>
      <p:cxnSp>
        <p:nvCxnSpPr>
          <p:cNvPr id="285" name="Connector 284"/>
          <p:cNvCxnSpPr/>
          <p:nvPr/>
        </p:nvCxnSpPr>
        <p:spPr>
          <a:xfrm>
            <a:off x="6601968" y="3493008"/>
            <a:ext cx="0" cy="182879"/>
          </a:xfrm>
          <a:prstGeom prst="line">
            <a:avLst/>
          </a:prstGeom>
          <a:ln w="15240">
            <a:solidFill>
              <a:srgbClr val="9AA0A6"/>
            </a:solidFill>
          </a:ln>
        </p:spPr>
        <p:style>
          <a:lnRef idx="2">
            <a:schemeClr val="accent1"/>
          </a:lnRef>
          <a:fillRef idx="0">
            <a:schemeClr val="accent1"/>
          </a:fillRef>
          <a:effectRef idx="1">
            <a:schemeClr val="accent1"/>
          </a:effectRef>
          <a:fontRef idx="minor">
            <a:schemeClr val="tx1"/>
          </a:fontRef>
        </p:style>
      </p:cxnSp>
      <p:sp>
        <p:nvSpPr>
          <p:cNvPr id="286" name="Rounded Rectangle 285"/>
          <p:cNvSpPr/>
          <p:nvPr/>
        </p:nvSpPr>
        <p:spPr>
          <a:xfrm>
            <a:off x="5166360" y="3712464"/>
            <a:ext cx="2880360" cy="502920"/>
          </a:xfrm>
          <a:prstGeom prst="roundRect">
            <a:avLst/>
          </a:prstGeom>
          <a:solidFill>
            <a:srgbClr val="E6F4EA"/>
          </a:solidFill>
          <a:ln w="12700">
            <a:solidFill>
              <a:srgbClr val="34A853"/>
            </a:solidFill>
          </a:ln>
        </p:spPr>
        <p:style>
          <a:lnRef idx="1">
            <a:schemeClr val="accent1"/>
          </a:lnRef>
          <a:fillRef idx="3">
            <a:schemeClr val="accent1"/>
          </a:fillRef>
          <a:effectRef idx="2">
            <a:schemeClr val="accent1"/>
          </a:effectRef>
          <a:fontRef idx="minor">
            <a:schemeClr val="lt1"/>
          </a:fontRef>
        </p:style>
        <p:txBody>
          <a:bodyPr wrap="square" lIns="73152" tIns="48768" rIns="73152" bIns="48768" rtlCol="0" anchor="ctr"/>
          <a:lstStyle/>
          <a:p>
            <a:pPr algn="ctr"/>
            <a:r>
              <a:rPr sz="1100" b="1">
                <a:solidFill>
                  <a:srgbClr val="3C4043"/>
                </a:solidFill>
                <a:latin typeface="Arial"/>
              </a:rPr>
              <a:t>APPROVAL OR NURTURE</a:t>
            </a:r>
          </a:p>
        </p:txBody>
      </p:sp>
      <p:sp>
        <p:nvSpPr>
          <p:cNvPr id="287" name="TextBox 286"/>
          <p:cNvSpPr txBox="1"/>
          <p:nvPr/>
        </p:nvSpPr>
        <p:spPr>
          <a:xfrm>
            <a:off x="4983480" y="4480560"/>
            <a:ext cx="3246120" cy="201168"/>
          </a:xfrm>
          <a:prstGeom prst="rect">
            <a:avLst/>
          </a:prstGeom>
          <a:noFill/>
        </p:spPr>
        <p:txBody>
          <a:bodyPr wrap="square" lIns="18288" tIns="18288" rIns="18288" bIns="18288" anchor="t">
            <a:spAutoFit/>
          </a:bodyPr>
          <a:lstStyle/>
          <a:p>
            <a:pPr algn="ctr"/>
            <a:r>
              <a:rPr sz="900" b="0">
                <a:solidFill>
                  <a:srgbClr val="5F6368"/>
                </a:solidFill>
                <a:latin typeface="Arial"/>
              </a:rPr>
              <a:t>Synthetic test fixture; not live production traffic.</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54"/>
          <p:cNvSpPr txBox="1"/>
          <p:nvPr/>
        </p:nvSpPr>
        <p:spPr>
          <a:xfrm>
            <a:off x="517675" y="448150"/>
            <a:ext cx="6155100" cy="554100"/>
          </a:xfrm>
          <a:prstGeom prst="rect">
            <a:avLst/>
          </a:prstGeom>
          <a:noFill/>
          <a:ln>
            <a:noFill/>
          </a:ln>
        </p:spPr>
        <p:txBody>
          <a:bodyPr spcFirstLastPara="1" wrap="square" lIns="0"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200" b="0" i="0" u="none" strike="noStrike" cap="none">
                <a:solidFill>
                  <a:srgbClr val="3C4043"/>
                </a:solidFill>
                <a:latin typeface="Arial"/>
                <a:ea typeface="Open Sans"/>
                <a:cs typeface="Open Sans"/>
                <a:sym typeface="Open Sans"/>
              </a:rPr>
              <a:t>Synthetic test suite: findings</a:t>
            </a:r>
            <a:endParaRPr sz="2400" b="0" i="0" u="none" strike="noStrike" cap="none">
              <a:solidFill>
                <a:srgbClr val="5F6368"/>
              </a:solidFill>
              <a:latin typeface="Open Sans"/>
              <a:ea typeface="Open Sans"/>
              <a:cs typeface="Open Sans"/>
              <a:sym typeface="Open Sans"/>
            </a:endParaRPr>
          </a:p>
        </p:txBody>
      </p:sp>
      <p:sp>
        <p:nvSpPr>
          <p:cNvPr id="282" name="Google Shape;282;p54"/>
          <p:cNvSpPr txBox="1"/>
          <p:nvPr/>
        </p:nvSpPr>
        <p:spPr>
          <a:xfrm>
            <a:off x="532875" y="1050575"/>
            <a:ext cx="7873500" cy="648000"/>
          </a:xfrm>
          <a:prstGeom prst="rect">
            <a:avLst/>
          </a:prstGeom>
          <a:noFill/>
          <a:ln>
            <a:noFill/>
          </a:ln>
        </p:spPr>
        <p:txBody>
          <a:bodyPr spcFirstLastPara="1" wrap="square" lIns="0" tIns="91425" rIns="91425" bIns="91425"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en" sz="1150" b="0" i="0" u="none" strike="noStrike" cap="none">
                <a:solidFill>
                  <a:srgbClr val="5F6368"/>
                </a:solidFill>
                <a:latin typeface="Arial"/>
                <a:ea typeface="Open Sans"/>
                <a:cs typeface="Open Sans"/>
                <a:sym typeface="Open Sans"/>
              </a:rPr>
              <a:t>Functional scenarios covered scoring, consent, duplicate detection, missing fields, prompt injection, and approval cancellation. These checks validate workflow behavior only; no live load test or production user study has been claimed.</a:t>
            </a:r>
            <a:endParaRPr sz="1400" b="0" i="0" u="none" strike="noStrike" cap="none">
              <a:solidFill>
                <a:srgbClr val="5F6368"/>
              </a:solidFill>
              <a:latin typeface="Open Sans"/>
              <a:ea typeface="Open Sans"/>
              <a:cs typeface="Open Sans"/>
              <a:sym typeface="Open Sans"/>
            </a:endParaRPr>
          </a:p>
          <a:p>
            <a:pPr marL="0" marR="0" lvl="0" indent="0" algn="l" rtl="0">
              <a:lnSpc>
                <a:spcPct val="115000"/>
              </a:lnSpc>
              <a:spcBef>
                <a:spcPts val="0"/>
              </a:spcBef>
              <a:spcAft>
                <a:spcPts val="0"/>
              </a:spcAft>
              <a:buClr>
                <a:srgbClr val="000000"/>
              </a:buClr>
              <a:buSzPts val="1400"/>
              <a:buFont typeface="Arial"/>
              <a:buNone/>
            </a:pPr>
            <a:endParaRPr sz="1400" b="0" i="0" u="none" strike="noStrike" cap="none">
              <a:solidFill>
                <a:srgbClr val="5F6368"/>
              </a:solidFill>
              <a:latin typeface="Open Sans"/>
              <a:ea typeface="Open Sans"/>
              <a:cs typeface="Open Sans"/>
              <a:sym typeface="Open Sans"/>
            </a:endParaRPr>
          </a:p>
        </p:txBody>
      </p:sp>
      <p:sp>
        <p:nvSpPr>
          <p:cNvPr id="283" name="Google Shape;283;p54"/>
          <p:cNvSpPr txBox="1"/>
          <p:nvPr/>
        </p:nvSpPr>
        <p:spPr>
          <a:xfrm>
            <a:off x="456675" y="2022575"/>
            <a:ext cx="3336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en" sz="1200" b="1" i="0" u="none" strike="noStrike" cap="none">
                <a:solidFill>
                  <a:srgbClr val="A56A00"/>
                </a:solidFill>
                <a:latin typeface="Arial"/>
                <a:ea typeface="Open Sans"/>
                <a:cs typeface="Open Sans"/>
                <a:sym typeface="Open Sans"/>
              </a:rPr>
              <a:t>Safety and edge-case checks</a:t>
            </a:r>
            <a:endParaRPr sz="1400" b="1" i="0" u="none" strike="noStrike" cap="none">
              <a:solidFill>
                <a:srgbClr val="F29900"/>
              </a:solidFill>
              <a:latin typeface="Arial"/>
              <a:ea typeface="Arial"/>
              <a:cs typeface="Arial"/>
              <a:sym typeface="Arial"/>
            </a:endParaRPr>
          </a:p>
        </p:txBody>
      </p:sp>
      <p:sp>
        <p:nvSpPr>
          <p:cNvPr id="284" name="Google Shape;284;p54"/>
          <p:cNvSpPr/>
          <p:nvPr/>
        </p:nvSpPr>
        <p:spPr>
          <a:xfrm>
            <a:off x="4477900" y="2422775"/>
            <a:ext cx="3775800" cy="2063700"/>
          </a:xfrm>
          <a:prstGeom prst="rect">
            <a:avLst/>
          </a:prstGeom>
          <a:solidFill>
            <a:srgbClr val="F8F9F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 name="Google Shape;285;p54"/>
          <p:cNvSpPr txBox="1"/>
          <p:nvPr/>
        </p:nvSpPr>
        <p:spPr>
          <a:xfrm>
            <a:off x="4984525" y="2568500"/>
            <a:ext cx="3336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en" sz="1050" b="0" i="0" u="none" strike="noStrike" cap="none">
                <a:solidFill>
                  <a:srgbClr val="3C4043"/>
                </a:solidFill>
                <a:latin typeface="Arial"/>
                <a:ea typeface="Open Sans"/>
                <a:cs typeface="Open Sans"/>
                <a:sym typeface="Open Sans"/>
              </a:rPr>
              <a:t>HOT lead scored 100 and entered approval queue</a:t>
            </a:r>
            <a:endParaRPr sz="1400" b="0" i="0" u="none" strike="noStrike" cap="none">
              <a:solidFill>
                <a:srgbClr val="000000"/>
              </a:solidFill>
              <a:latin typeface="Arial"/>
              <a:ea typeface="Arial"/>
              <a:cs typeface="Arial"/>
              <a:sym typeface="Arial"/>
            </a:endParaRPr>
          </a:p>
        </p:txBody>
      </p:sp>
      <p:sp>
        <p:nvSpPr>
          <p:cNvPr id="286" name="Google Shape;286;p54"/>
          <p:cNvSpPr/>
          <p:nvPr/>
        </p:nvSpPr>
        <p:spPr>
          <a:xfrm>
            <a:off x="4671550" y="2631198"/>
            <a:ext cx="274800" cy="274800"/>
          </a:xfrm>
          <a:prstGeom prst="ellipse">
            <a:avLst/>
          </a:prstGeom>
          <a:solidFill>
            <a:srgbClr val="F2990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Google Sans Medium"/>
                <a:ea typeface="Google Sans Medium"/>
                <a:cs typeface="Google Sans Medium"/>
                <a:sym typeface="Google Sans Medium"/>
              </a:rPr>
              <a:t>1</a:t>
            </a:r>
            <a:endParaRPr sz="1400" b="0" i="0" u="none" strike="noStrike" cap="none">
              <a:solidFill>
                <a:srgbClr val="FFFFFF"/>
              </a:solidFill>
              <a:latin typeface="Google Sans Medium"/>
              <a:ea typeface="Google Sans Medium"/>
              <a:cs typeface="Google Sans Medium"/>
              <a:sym typeface="Google Sans Medium"/>
            </a:endParaRPr>
          </a:p>
        </p:txBody>
      </p:sp>
      <p:sp>
        <p:nvSpPr>
          <p:cNvPr id="287" name="Google Shape;287;p54"/>
          <p:cNvSpPr txBox="1"/>
          <p:nvPr/>
        </p:nvSpPr>
        <p:spPr>
          <a:xfrm>
            <a:off x="4984525" y="3198325"/>
            <a:ext cx="3336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en" sz="1050" b="0" i="0" u="none" strike="noStrike" cap="none">
                <a:solidFill>
                  <a:srgbClr val="3C4043"/>
                </a:solidFill>
                <a:latin typeface="Arial"/>
                <a:ea typeface="Open Sans"/>
                <a:cs typeface="Open Sans"/>
                <a:sym typeface="Open Sans"/>
              </a:rPr>
              <a:t>Opt-out branch suppressed outreach</a:t>
            </a:r>
            <a:endParaRPr sz="1400" b="0" i="0" u="none" strike="noStrike" cap="none">
              <a:solidFill>
                <a:srgbClr val="000000"/>
              </a:solidFill>
              <a:latin typeface="Arial"/>
              <a:ea typeface="Arial"/>
              <a:cs typeface="Arial"/>
              <a:sym typeface="Arial"/>
            </a:endParaRPr>
          </a:p>
        </p:txBody>
      </p:sp>
      <p:sp>
        <p:nvSpPr>
          <p:cNvPr id="288" name="Google Shape;288;p54"/>
          <p:cNvSpPr/>
          <p:nvPr/>
        </p:nvSpPr>
        <p:spPr>
          <a:xfrm>
            <a:off x="4671550" y="3261023"/>
            <a:ext cx="274800" cy="274800"/>
          </a:xfrm>
          <a:prstGeom prst="ellipse">
            <a:avLst/>
          </a:prstGeom>
          <a:solidFill>
            <a:srgbClr val="F2990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Google Sans Medium"/>
                <a:ea typeface="Google Sans Medium"/>
                <a:cs typeface="Google Sans Medium"/>
                <a:sym typeface="Google Sans Medium"/>
              </a:rPr>
              <a:t>2</a:t>
            </a:r>
            <a:endParaRPr sz="1400" b="0" i="0" u="none" strike="noStrike" cap="none">
              <a:solidFill>
                <a:srgbClr val="FFFFFF"/>
              </a:solidFill>
              <a:latin typeface="Google Sans Medium"/>
              <a:ea typeface="Google Sans Medium"/>
              <a:cs typeface="Google Sans Medium"/>
              <a:sym typeface="Google Sans Medium"/>
            </a:endParaRPr>
          </a:p>
        </p:txBody>
      </p:sp>
      <p:sp>
        <p:nvSpPr>
          <p:cNvPr id="289" name="Google Shape;289;p54"/>
          <p:cNvSpPr txBox="1"/>
          <p:nvPr/>
        </p:nvSpPr>
        <p:spPr>
          <a:xfrm>
            <a:off x="4416900" y="2022575"/>
            <a:ext cx="3336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en" sz="1200" b="1" i="0" u="none" strike="noStrike" cap="none">
                <a:solidFill>
                  <a:srgbClr val="A56A00"/>
                </a:solidFill>
                <a:latin typeface="Arial"/>
                <a:ea typeface="Open Sans"/>
                <a:cs typeface="Open Sans"/>
                <a:sym typeface="Open Sans"/>
              </a:rPr>
              <a:t>Core routing checks</a:t>
            </a:r>
            <a:endParaRPr sz="1400" b="1" i="0" u="none" strike="noStrike" cap="none">
              <a:solidFill>
                <a:srgbClr val="F29900"/>
              </a:solidFill>
              <a:latin typeface="Arial"/>
              <a:ea typeface="Arial"/>
              <a:cs typeface="Arial"/>
              <a:sym typeface="Arial"/>
            </a:endParaRPr>
          </a:p>
        </p:txBody>
      </p:sp>
      <p:sp>
        <p:nvSpPr>
          <p:cNvPr id="290" name="Google Shape;290;p54"/>
          <p:cNvSpPr txBox="1"/>
          <p:nvPr/>
        </p:nvSpPr>
        <p:spPr>
          <a:xfrm>
            <a:off x="4937363" y="3828150"/>
            <a:ext cx="3336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en" sz="1050" b="0" i="0" u="none" strike="noStrike" cap="none">
                <a:solidFill>
                  <a:srgbClr val="3C4043"/>
                </a:solidFill>
                <a:latin typeface="Arial"/>
                <a:ea typeface="Open Sans"/>
                <a:cs typeface="Open Sans"/>
                <a:sym typeface="Open Sans"/>
              </a:rPr>
              <a:t>Low-score lead routed to nurture</a:t>
            </a:r>
            <a:endParaRPr sz="1400" b="0" i="0" u="none" strike="noStrike" cap="none">
              <a:solidFill>
                <a:srgbClr val="000000"/>
              </a:solidFill>
              <a:latin typeface="Arial"/>
              <a:ea typeface="Arial"/>
              <a:cs typeface="Arial"/>
              <a:sym typeface="Arial"/>
            </a:endParaRPr>
          </a:p>
        </p:txBody>
      </p:sp>
      <p:sp>
        <p:nvSpPr>
          <p:cNvPr id="291" name="Google Shape;291;p54"/>
          <p:cNvSpPr/>
          <p:nvPr/>
        </p:nvSpPr>
        <p:spPr>
          <a:xfrm>
            <a:off x="4671538" y="3890848"/>
            <a:ext cx="274800" cy="274800"/>
          </a:xfrm>
          <a:prstGeom prst="ellipse">
            <a:avLst/>
          </a:prstGeom>
          <a:solidFill>
            <a:srgbClr val="F2990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Google Sans Medium"/>
                <a:ea typeface="Google Sans Medium"/>
                <a:cs typeface="Google Sans Medium"/>
                <a:sym typeface="Google Sans Medium"/>
              </a:rPr>
              <a:t>3</a:t>
            </a:r>
            <a:endParaRPr sz="1400" b="0" i="0" u="none" strike="noStrike" cap="none">
              <a:solidFill>
                <a:srgbClr val="FFFFFF"/>
              </a:solidFill>
              <a:latin typeface="Google Sans Medium"/>
              <a:ea typeface="Google Sans Medium"/>
              <a:cs typeface="Google Sans Medium"/>
              <a:sym typeface="Google Sans Medium"/>
            </a:endParaRPr>
          </a:p>
        </p:txBody>
      </p:sp>
      <p:sp>
        <p:nvSpPr>
          <p:cNvPr id="292" name="Google Shape;292;p54"/>
          <p:cNvSpPr/>
          <p:nvPr/>
        </p:nvSpPr>
        <p:spPr>
          <a:xfrm>
            <a:off x="456675" y="2422775"/>
            <a:ext cx="3775800" cy="2063700"/>
          </a:xfrm>
          <a:prstGeom prst="rect">
            <a:avLst/>
          </a:prstGeom>
          <a:solidFill>
            <a:srgbClr val="F8F9F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 name="Google Shape;293;p54"/>
          <p:cNvSpPr txBox="1"/>
          <p:nvPr/>
        </p:nvSpPr>
        <p:spPr>
          <a:xfrm>
            <a:off x="963300" y="2568500"/>
            <a:ext cx="3336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en" sz="1030" b="0" i="0" u="none" strike="noStrike" cap="none">
                <a:solidFill>
                  <a:srgbClr val="3C4043"/>
                </a:solidFill>
                <a:latin typeface="Arial"/>
                <a:ea typeface="Open Sans"/>
                <a:cs typeface="Open Sans"/>
                <a:sym typeface="Open Sans"/>
              </a:rPr>
              <a:t>Prompt-injection text did not override workflow rules</a:t>
            </a:r>
            <a:endParaRPr sz="1400" b="0" i="0" u="none" strike="noStrike" cap="none">
              <a:solidFill>
                <a:srgbClr val="000000"/>
              </a:solidFill>
              <a:latin typeface="Arial"/>
              <a:ea typeface="Arial"/>
              <a:cs typeface="Arial"/>
              <a:sym typeface="Arial"/>
            </a:endParaRPr>
          </a:p>
        </p:txBody>
      </p:sp>
      <p:sp>
        <p:nvSpPr>
          <p:cNvPr id="294" name="Google Shape;294;p54"/>
          <p:cNvSpPr/>
          <p:nvPr/>
        </p:nvSpPr>
        <p:spPr>
          <a:xfrm>
            <a:off x="650325" y="2631198"/>
            <a:ext cx="274800" cy="274800"/>
          </a:xfrm>
          <a:prstGeom prst="ellipse">
            <a:avLst/>
          </a:prstGeom>
          <a:solidFill>
            <a:srgbClr val="F2990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Google Sans Medium"/>
                <a:ea typeface="Google Sans Medium"/>
                <a:cs typeface="Google Sans Medium"/>
                <a:sym typeface="Google Sans Medium"/>
              </a:rPr>
              <a:t>1</a:t>
            </a:r>
            <a:endParaRPr sz="1400" b="0" i="0" u="none" strike="noStrike" cap="none">
              <a:solidFill>
                <a:srgbClr val="FFFFFF"/>
              </a:solidFill>
              <a:latin typeface="Google Sans Medium"/>
              <a:ea typeface="Google Sans Medium"/>
              <a:cs typeface="Google Sans Medium"/>
              <a:sym typeface="Google Sans Medium"/>
            </a:endParaRPr>
          </a:p>
        </p:txBody>
      </p:sp>
      <p:sp>
        <p:nvSpPr>
          <p:cNvPr id="295" name="Google Shape;295;p54"/>
          <p:cNvSpPr txBox="1"/>
          <p:nvPr/>
        </p:nvSpPr>
        <p:spPr>
          <a:xfrm>
            <a:off x="963300" y="3198325"/>
            <a:ext cx="3336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en" sz="1030" b="0" i="0" u="none" strike="noStrike" cap="none">
                <a:solidFill>
                  <a:srgbClr val="3C4043"/>
                </a:solidFill>
                <a:latin typeface="Arial"/>
                <a:ea typeface="Open Sans"/>
                <a:cs typeface="Open Sans"/>
                <a:sym typeface="Open Sans"/>
              </a:rPr>
              <a:t>Opt-out cancelled pending / unsent approval</a:t>
            </a:r>
            <a:endParaRPr sz="1400" b="0" i="0" u="none" strike="noStrike" cap="none">
              <a:solidFill>
                <a:srgbClr val="000000"/>
              </a:solidFill>
              <a:latin typeface="Arial"/>
              <a:ea typeface="Arial"/>
              <a:cs typeface="Arial"/>
              <a:sym typeface="Arial"/>
            </a:endParaRPr>
          </a:p>
        </p:txBody>
      </p:sp>
      <p:sp>
        <p:nvSpPr>
          <p:cNvPr id="296" name="Google Shape;296;p54"/>
          <p:cNvSpPr/>
          <p:nvPr/>
        </p:nvSpPr>
        <p:spPr>
          <a:xfrm>
            <a:off x="650325" y="3261023"/>
            <a:ext cx="274800" cy="274800"/>
          </a:xfrm>
          <a:prstGeom prst="ellipse">
            <a:avLst/>
          </a:prstGeom>
          <a:solidFill>
            <a:srgbClr val="F2990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Google Sans Medium"/>
                <a:ea typeface="Google Sans Medium"/>
                <a:cs typeface="Google Sans Medium"/>
                <a:sym typeface="Google Sans Medium"/>
              </a:rPr>
              <a:t>2</a:t>
            </a:r>
            <a:endParaRPr sz="1400" b="0" i="0" u="none" strike="noStrike" cap="none">
              <a:solidFill>
                <a:srgbClr val="FFFFFF"/>
              </a:solidFill>
              <a:latin typeface="Google Sans Medium"/>
              <a:ea typeface="Google Sans Medium"/>
              <a:cs typeface="Google Sans Medium"/>
              <a:sym typeface="Google Sans Medium"/>
            </a:endParaRPr>
          </a:p>
        </p:txBody>
      </p:sp>
      <p:sp>
        <p:nvSpPr>
          <p:cNvPr id="297" name="Google Shape;297;p54"/>
          <p:cNvSpPr txBox="1"/>
          <p:nvPr/>
        </p:nvSpPr>
        <p:spPr>
          <a:xfrm>
            <a:off x="916138" y="3828150"/>
            <a:ext cx="3336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en" sz="1030" b="0" i="0" u="none" strike="noStrike" cap="none">
                <a:solidFill>
                  <a:srgbClr val="3C4043"/>
                </a:solidFill>
                <a:latin typeface="Arial"/>
                <a:ea typeface="Open Sans"/>
                <a:cs typeface="Open Sans"/>
                <a:sym typeface="Open Sans"/>
              </a:rPr>
              <a:t>Incomplete submission did not enter the lead table</a:t>
            </a:r>
            <a:endParaRPr sz="1400" b="0" i="0" u="none" strike="noStrike" cap="none">
              <a:solidFill>
                <a:srgbClr val="000000"/>
              </a:solidFill>
              <a:latin typeface="Arial"/>
              <a:ea typeface="Arial"/>
              <a:cs typeface="Arial"/>
              <a:sym typeface="Arial"/>
            </a:endParaRPr>
          </a:p>
        </p:txBody>
      </p:sp>
      <p:sp>
        <p:nvSpPr>
          <p:cNvPr id="298" name="Google Shape;298;p54"/>
          <p:cNvSpPr/>
          <p:nvPr/>
        </p:nvSpPr>
        <p:spPr>
          <a:xfrm>
            <a:off x="650313" y="3890848"/>
            <a:ext cx="274800" cy="274800"/>
          </a:xfrm>
          <a:prstGeom prst="ellipse">
            <a:avLst/>
          </a:prstGeom>
          <a:solidFill>
            <a:srgbClr val="F2990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Google Sans Medium"/>
                <a:ea typeface="Google Sans Medium"/>
                <a:cs typeface="Google Sans Medium"/>
                <a:sym typeface="Google Sans Medium"/>
              </a:rPr>
              <a:t>3</a:t>
            </a:r>
            <a:endParaRPr sz="1400" b="0" i="0" u="none" strike="noStrike" cap="none">
              <a:solidFill>
                <a:srgbClr val="FFFFFF"/>
              </a:solidFill>
              <a:latin typeface="Google Sans Medium"/>
              <a:ea typeface="Google Sans Medium"/>
              <a:cs typeface="Google Sans Medium"/>
              <a:sym typeface="Google Sans Medium"/>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34A853"/>
        </a:solidFill>
        <a:effectLst/>
      </p:bgPr>
    </p:bg>
    <p:spTree>
      <p:nvGrpSpPr>
        <p:cNvPr id="1" name="Shape 302"/>
        <p:cNvGrpSpPr/>
        <p:nvPr/>
      </p:nvGrpSpPr>
      <p:grpSpPr>
        <a:xfrm>
          <a:off x="0" y="0"/>
          <a:ext cx="0" cy="0"/>
          <a:chOff x="0" y="0"/>
          <a:chExt cx="0" cy="0"/>
        </a:xfrm>
      </p:grpSpPr>
      <p:sp>
        <p:nvSpPr>
          <p:cNvPr id="303" name="Google Shape;303;p55"/>
          <p:cNvSpPr txBox="1"/>
          <p:nvPr/>
        </p:nvSpPr>
        <p:spPr>
          <a:xfrm>
            <a:off x="3721275" y="2048400"/>
            <a:ext cx="3990000" cy="1046700"/>
          </a:xfrm>
          <a:prstGeom prst="rect">
            <a:avLst/>
          </a:prstGeom>
          <a:noFill/>
          <a:ln>
            <a:noFill/>
          </a:ln>
        </p:spPr>
        <p:txBody>
          <a:bodyPr spcFirstLastPara="1" wrap="square" lIns="91425" tIns="91425" rIns="91425" bIns="91425" anchor="t" anchorCtr="0">
            <a:spAutoFit/>
          </a:bodyPr>
          <a:lstStyle/>
          <a:p>
            <a:pPr marL="457200" marR="0" lvl="0" indent="-317500" algn="l" rtl="0">
              <a:lnSpc>
                <a:spcPct val="150000"/>
              </a:lnSpc>
              <a:spcBef>
                <a:spcPts val="0"/>
              </a:spcBef>
              <a:spcAft>
                <a:spcPts val="0"/>
              </a:spcAft>
              <a:buClr>
                <a:srgbClr val="FFFFFF"/>
              </a:buClr>
              <a:buSzPts val="1400"/>
              <a:buFont typeface="Open Sans"/>
              <a:buChar char="●"/>
            </a:pPr>
            <a:r>
              <a:rPr lang="en" sz="1400" b="0" i="0" u="none" strike="noStrike" cap="none">
                <a:solidFill>
                  <a:srgbClr val="FFFFFF"/>
                </a:solidFill>
                <a:latin typeface="Arial"/>
                <a:ea typeface="Open Sans"/>
                <a:cs typeface="Open Sans"/>
                <a:sym typeface="Open Sans"/>
              </a:rPr>
              <a:t>Consent gate before AI</a:t>
            </a:r>
            <a:endParaRPr sz="1400" b="0" i="0" u="none" strike="noStrike" cap="none">
              <a:solidFill>
                <a:srgbClr val="FFFFFF"/>
              </a:solidFill>
              <a:latin typeface="Open Sans"/>
              <a:ea typeface="Open Sans"/>
              <a:cs typeface="Open Sans"/>
              <a:sym typeface="Open Sans"/>
            </a:endParaRPr>
          </a:p>
          <a:p>
            <a:pPr marL="457200" marR="0" lvl="0" indent="-317500" algn="l" rtl="0">
              <a:lnSpc>
                <a:spcPct val="150000"/>
              </a:lnSpc>
              <a:spcBef>
                <a:spcPts val="0"/>
              </a:spcBef>
              <a:spcAft>
                <a:spcPts val="0"/>
              </a:spcAft>
              <a:buClr>
                <a:srgbClr val="FFFFFF"/>
              </a:buClr>
              <a:buSzPts val="1400"/>
              <a:buFont typeface="Open Sans"/>
              <a:buChar char="●"/>
            </a:pPr>
            <a:r>
              <a:rPr lang="en" sz="1400" b="0" i="0" u="none" strike="noStrike" cap="none">
                <a:solidFill>
                  <a:srgbClr val="FFFFFF"/>
                </a:solidFill>
                <a:latin typeface="Arial"/>
                <a:ea typeface="Open Sans"/>
                <a:cs typeface="Open Sans"/>
                <a:sym typeface="Open Sans"/>
              </a:rPr>
              <a:t>Error logging and redaction</a:t>
            </a:r>
            <a:endParaRPr sz="1400" b="0" i="0" u="none" strike="noStrike" cap="none">
              <a:solidFill>
                <a:srgbClr val="FFFFFF"/>
              </a:solidFill>
              <a:latin typeface="Open Sans"/>
              <a:ea typeface="Open Sans"/>
              <a:cs typeface="Open Sans"/>
              <a:sym typeface="Open Sans"/>
            </a:endParaRPr>
          </a:p>
          <a:p>
            <a:pPr marL="457200" marR="0" lvl="0" indent="-317500" algn="l" rtl="0">
              <a:lnSpc>
                <a:spcPct val="150000"/>
              </a:lnSpc>
              <a:spcBef>
                <a:spcPts val="0"/>
              </a:spcBef>
              <a:spcAft>
                <a:spcPts val="0"/>
              </a:spcAft>
              <a:buClr>
                <a:srgbClr val="FFFFFF"/>
              </a:buClr>
              <a:buSzPts val="1400"/>
              <a:buFont typeface="Open Sans"/>
              <a:buChar char="●"/>
            </a:pPr>
            <a:r>
              <a:rPr lang="en" sz="1400" b="0" i="0" u="none" strike="noStrike" cap="none">
                <a:solidFill>
                  <a:srgbClr val="FFFFFF"/>
                </a:solidFill>
                <a:latin typeface="Arial"/>
                <a:ea typeface="Open Sans"/>
                <a:cs typeface="Open Sans"/>
                <a:sym typeface="Open Sans"/>
              </a:rPr>
              <a:t>Approval queue safeguards</a:t>
            </a:r>
            <a:endParaRPr sz="1400" b="0" i="0" u="none" strike="noStrike" cap="none">
              <a:solidFill>
                <a:srgbClr val="FFFFFF"/>
              </a:solidFill>
              <a:latin typeface="Open Sans"/>
              <a:ea typeface="Open Sans"/>
              <a:cs typeface="Open Sans"/>
              <a:sym typeface="Open Sans"/>
            </a:endParaRPr>
          </a:p>
          <a:p>
            <a:r>
              <a:rPr sz="1400">
                <a:solidFill>
                  <a:srgbClr val="FFFFFF"/>
                </a:solidFill>
                <a:latin typeface="Arial"/>
              </a:rPr>
              <a:t>Deployment prerequisites</a:t>
            </a:r>
          </a:p>
        </p:txBody>
      </p:sp>
      <p:sp>
        <p:nvSpPr>
          <p:cNvPr id="304" name="Google Shape;304;p55"/>
          <p:cNvSpPr txBox="1"/>
          <p:nvPr/>
        </p:nvSpPr>
        <p:spPr>
          <a:xfrm>
            <a:off x="228600" y="1938528"/>
            <a:ext cx="2926080" cy="1261872"/>
          </a:xfrm>
          <a:prstGeom prst="rect">
            <a:avLst/>
          </a:prstGeom>
          <a:noFill/>
          <a:ln>
            <a:noFill/>
          </a:ln>
        </p:spPr>
        <p:txBody>
          <a:bodyPr spcFirstLastPara="1" wrap="square" lIns="18288" tIns="18288" rIns="18288" bIns="18288" anchor="ctr" anchorCtr="0">
            <a:spAutoFit/>
          </a:bodyPr>
          <a:lstStyle/>
          <a:p>
            <a:pPr marL="0" marR="0" lvl="0" indent="0" algn="ctr" rtl="0">
              <a:lnSpc>
                <a:spcPct val="115000"/>
              </a:lnSpc>
              <a:spcBef>
                <a:spcPts val="0"/>
              </a:spcBef>
              <a:spcAft>
                <a:spcPts val="0"/>
              </a:spcAft>
              <a:buClr>
                <a:srgbClr val="000000"/>
              </a:buClr>
              <a:buSzPts val="2400"/>
              <a:buFont typeface="Arial"/>
              <a:buNone/>
            </a:pPr>
            <a:r>
              <a:rPr sz="2400">
                <a:solidFill>
                  <a:srgbClr val="FFFFFF"/>
                </a:solidFill>
                <a:latin typeface="Arial"/>
              </a:rPr>
              <a:t>Workflow</a:t>
            </a:r>
            <a:endParaRPr sz="2400" b="0" i="0" u="none" strike="noStrike" cap="none">
              <a:solidFill>
                <a:srgbClr val="FFFFFF"/>
              </a:solidFill>
              <a:latin typeface="Open Sans"/>
              <a:ea typeface="Open Sans"/>
              <a:cs typeface="Open Sans"/>
              <a:sym typeface="Open Sans"/>
            </a:endParaRPr>
          </a:p>
          <a:p>
            <a:pPr algn="ctr">
              <a:spcBef>
                <a:spcPts val="0"/>
              </a:spcBef>
              <a:spcAft>
                <a:spcPts val="0"/>
              </a:spcAft>
            </a:pPr>
            <a:r>
              <a:rPr sz="2400">
                <a:solidFill>
                  <a:srgbClr val="FFFFFF"/>
                </a:solidFill>
                <a:latin typeface="Arial"/>
              </a:rPr>
              <a:t>safety</a:t>
            </a:r>
          </a:p>
        </p:txBody>
      </p:sp>
      <p:cxnSp>
        <p:nvCxnSpPr>
          <p:cNvPr id="305" name="Google Shape;305;p55"/>
          <p:cNvCxnSpPr/>
          <p:nvPr/>
        </p:nvCxnSpPr>
        <p:spPr>
          <a:xfrm>
            <a:off x="3460100" y="1032150"/>
            <a:ext cx="36600" cy="3079200"/>
          </a:xfrm>
          <a:prstGeom prst="straightConnector1">
            <a:avLst/>
          </a:prstGeom>
          <a:noFill/>
          <a:ln w="19050" cap="flat" cmpd="sng">
            <a:solidFill>
              <a:srgbClr val="FFFFFF"/>
            </a:solidFill>
            <a:prstDash val="solid"/>
            <a:round/>
            <a:headEnd type="none" w="sm" len="sm"/>
            <a:tailEnd type="none" w="sm" len="sm"/>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6"/>
          <p:cNvSpPr txBox="1"/>
          <p:nvPr/>
        </p:nvSpPr>
        <p:spPr>
          <a:xfrm>
            <a:off x="517675" y="524350"/>
            <a:ext cx="7000800" cy="554100"/>
          </a:xfrm>
          <a:prstGeom prst="rect">
            <a:avLst/>
          </a:prstGeom>
          <a:noFill/>
          <a:ln>
            <a:noFill/>
          </a:ln>
        </p:spPr>
        <p:txBody>
          <a:bodyPr spcFirstLastPara="1" wrap="square" lIns="0"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100" b="0" i="0" u="none" strike="noStrike" cap="none">
                <a:solidFill>
                  <a:srgbClr val="3C4043"/>
                </a:solidFill>
                <a:latin typeface="Arial"/>
                <a:ea typeface="Open Sans"/>
                <a:cs typeface="Open Sans"/>
                <a:sym typeface="Open Sans"/>
              </a:rPr>
              <a:t>From manual triage to governed automation</a:t>
            </a:r>
            <a:endParaRPr sz="2400" b="0" i="0" u="none" strike="noStrike" cap="none">
              <a:solidFill>
                <a:srgbClr val="5F6368"/>
              </a:solidFill>
              <a:latin typeface="Open Sans"/>
              <a:ea typeface="Open Sans"/>
              <a:cs typeface="Open Sans"/>
              <a:sym typeface="Open Sans"/>
            </a:endParaRPr>
          </a:p>
        </p:txBody>
      </p:sp>
      <p:sp>
        <p:nvSpPr>
          <p:cNvPr id="311" name="Google Shape;311;p56"/>
          <p:cNvSpPr txBox="1"/>
          <p:nvPr/>
        </p:nvSpPr>
        <p:spPr>
          <a:xfrm>
            <a:off x="517675" y="1522550"/>
            <a:ext cx="2421300" cy="1046700"/>
          </a:xfrm>
          <a:prstGeom prst="rect">
            <a:avLst/>
          </a:prstGeom>
          <a:noFill/>
          <a:ln>
            <a:noFill/>
          </a:ln>
        </p:spPr>
        <p:txBody>
          <a:bodyPr spcFirstLastPara="1" wrap="square" lIns="0"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150" b="0" i="0" u="none" strike="noStrike" cap="none">
                <a:solidFill>
                  <a:srgbClr val="5F6368"/>
                </a:solidFill>
                <a:latin typeface="Arial"/>
                <a:ea typeface="Open Sans"/>
                <a:cs typeface="Open Sans"/>
                <a:sym typeface="Open Sans"/>
              </a:rPr>
              <a:t>The prototype consolidates repeatable checks into an inspectable workflow while keeping a human approval step for high-priority outreach.</a:t>
            </a:r>
            <a:endParaRPr sz="1400" b="0" i="0" u="none" strike="noStrike" cap="none">
              <a:solidFill>
                <a:srgbClr val="5F6368"/>
              </a:solidFill>
              <a:latin typeface="Open Sans"/>
              <a:ea typeface="Open Sans"/>
              <a:cs typeface="Open Sans"/>
              <a:sym typeface="Open Sans"/>
            </a:endParaRPr>
          </a:p>
          <a:p>
            <a:pPr marL="0" marR="0" lvl="0" indent="0" algn="l" rtl="0">
              <a:lnSpc>
                <a:spcPct val="15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 name="Google Shape;312;p56"/>
          <p:cNvSpPr/>
          <p:nvPr/>
        </p:nvSpPr>
        <p:spPr>
          <a:xfrm>
            <a:off x="3718563" y="1250000"/>
            <a:ext cx="1818900" cy="31743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 name="Google Shape;313;p56"/>
          <p:cNvSpPr txBox="1"/>
          <p:nvPr/>
        </p:nvSpPr>
        <p:spPr>
          <a:xfrm>
            <a:off x="4008525" y="2393750"/>
            <a:ext cx="1239000" cy="923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5F6368"/>
              </a:solidFill>
              <a:latin typeface="Open Sans"/>
              <a:ea typeface="Open Sans"/>
              <a:cs typeface="Open Sans"/>
              <a:sym typeface="Open Sans"/>
            </a:endParaRPr>
          </a:p>
        </p:txBody>
      </p:sp>
      <p:sp>
        <p:nvSpPr>
          <p:cNvPr id="314" name="Google Shape;314;p56"/>
          <p:cNvSpPr/>
          <p:nvPr/>
        </p:nvSpPr>
        <p:spPr>
          <a:xfrm>
            <a:off x="6774138" y="1268300"/>
            <a:ext cx="1818900" cy="31743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15" name="Google Shape;315;p56"/>
          <p:cNvCxnSpPr/>
          <p:nvPr/>
        </p:nvCxnSpPr>
        <p:spPr>
          <a:xfrm>
            <a:off x="5749763" y="2855450"/>
            <a:ext cx="812100" cy="0"/>
          </a:xfrm>
          <a:prstGeom prst="straightConnector1">
            <a:avLst/>
          </a:prstGeom>
          <a:noFill/>
          <a:ln w="28575" cap="flat" cmpd="sng">
            <a:solidFill>
              <a:srgbClr val="34A853"/>
            </a:solidFill>
            <a:prstDash val="solid"/>
            <a:round/>
            <a:headEnd type="none" w="sm" len="sm"/>
            <a:tailEnd type="triangle" w="med" len="med"/>
          </a:ln>
        </p:spPr>
      </p:cxnSp>
      <p:sp>
        <p:nvSpPr>
          <p:cNvPr id="316" name="Google Shape;316;p56"/>
          <p:cNvSpPr txBox="1"/>
          <p:nvPr/>
        </p:nvSpPr>
        <p:spPr>
          <a:xfrm>
            <a:off x="3451125" y="853300"/>
            <a:ext cx="2353800" cy="5850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rgbClr val="34A853"/>
                </a:solidFill>
                <a:latin typeface="Arial"/>
                <a:ea typeface="Open Sans"/>
                <a:cs typeface="Open Sans"/>
                <a:sym typeface="Open Sans"/>
              </a:rPr>
              <a:t>BEFORE: MANUAL</a:t>
            </a:r>
            <a:endParaRPr sz="1200" b="0" i="0" u="none" strike="noStrike" cap="none">
              <a:solidFill>
                <a:srgbClr val="34A853"/>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1967D2"/>
              </a:solidFill>
              <a:latin typeface="Arial"/>
              <a:ea typeface="Arial"/>
              <a:cs typeface="Arial"/>
              <a:sym typeface="Arial"/>
            </a:endParaRPr>
          </a:p>
        </p:txBody>
      </p:sp>
      <p:sp>
        <p:nvSpPr>
          <p:cNvPr id="317" name="Google Shape;317;p56"/>
          <p:cNvSpPr txBox="1"/>
          <p:nvPr/>
        </p:nvSpPr>
        <p:spPr>
          <a:xfrm>
            <a:off x="6506700" y="853300"/>
            <a:ext cx="2353800" cy="5850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rgbClr val="34A853"/>
                </a:solidFill>
                <a:latin typeface="Arial"/>
                <a:ea typeface="Open Sans"/>
                <a:cs typeface="Open Sans"/>
                <a:sym typeface="Open Sans"/>
              </a:rPr>
              <a:t>AFTER: AUTOMATED</a:t>
            </a:r>
            <a:endParaRPr sz="1200" b="0" i="0" u="none" strike="noStrike" cap="none">
              <a:solidFill>
                <a:srgbClr val="34A853"/>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1967D2"/>
              </a:solidFill>
              <a:latin typeface="Arial"/>
              <a:ea typeface="Arial"/>
              <a:cs typeface="Arial"/>
              <a:sym typeface="Arial"/>
            </a:endParaRPr>
          </a:p>
        </p:txBody>
      </p:sp>
      <p:sp>
        <p:nvSpPr>
          <p:cNvPr id="318" name="Google Shape;318;p56"/>
          <p:cNvSpPr txBox="1"/>
          <p:nvPr/>
        </p:nvSpPr>
        <p:spPr>
          <a:xfrm>
            <a:off x="7064125" y="2393750"/>
            <a:ext cx="1239000" cy="923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5F6368"/>
              </a:solidFill>
              <a:latin typeface="Open Sans"/>
              <a:ea typeface="Open Sans"/>
              <a:cs typeface="Open Sans"/>
              <a:sym typeface="Open Sans"/>
            </a:endParaRPr>
          </a:p>
        </p:txBody>
      </p:sp>
      <p:sp>
        <p:nvSpPr>
          <p:cNvPr id="319" name="Rounded Rectangle 318"/>
          <p:cNvSpPr/>
          <p:nvPr/>
        </p:nvSpPr>
        <p:spPr>
          <a:xfrm>
            <a:off x="3822191" y="1417320"/>
            <a:ext cx="1609344" cy="2788920"/>
          </a:xfrm>
          <a:prstGeom prst="roundRect">
            <a:avLst/>
          </a:prstGeom>
          <a:solidFill>
            <a:srgbClr val="F8F9FA"/>
          </a:solidFill>
          <a:ln w="12700">
            <a:solidFill>
              <a:srgbClr val="DADCE0"/>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lstStyle/>
          <a:p>
            <a:pPr algn="l"/>
            <a:r>
              <a:rPr sz="1019" b="0">
                <a:solidFill>
                  <a:srgbClr val="3C4043"/>
                </a:solidFill>
                <a:latin typeface="Arial"/>
              </a:rPr>
              <a:t>MANUAL TRIAGE
• Copy lead details
• Compare fields by hand
• Prioritize inconsistently
• Follow-up can be missed</a:t>
            </a:r>
          </a:p>
        </p:txBody>
      </p:sp>
      <p:sp>
        <p:nvSpPr>
          <p:cNvPr id="320" name="Rounded Rectangle 319"/>
          <p:cNvSpPr/>
          <p:nvPr/>
        </p:nvSpPr>
        <p:spPr>
          <a:xfrm>
            <a:off x="6876288" y="1417320"/>
            <a:ext cx="1609344" cy="2788920"/>
          </a:xfrm>
          <a:prstGeom prst="roundRect">
            <a:avLst/>
          </a:prstGeom>
          <a:solidFill>
            <a:srgbClr val="E6F4EA"/>
          </a:solidFill>
          <a:ln w="12700">
            <a:solidFill>
              <a:srgbClr val="CEEAD6"/>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lstStyle/>
          <a:p>
            <a:pPr algn="l"/>
            <a:r>
              <a:rPr sz="1019" b="0">
                <a:solidFill>
                  <a:srgbClr val="3C4043"/>
                </a:solidFill>
                <a:latin typeface="Arial"/>
              </a:rPr>
              <a:t>GOVERNED FLOW
• Normalize + dedupe
• Apply scoring rubric
• Gate on consent
• Queue human review</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57"/>
          <p:cNvSpPr txBox="1"/>
          <p:nvPr/>
        </p:nvSpPr>
        <p:spPr>
          <a:xfrm>
            <a:off x="517675" y="524350"/>
            <a:ext cx="7000800" cy="554100"/>
          </a:xfrm>
          <a:prstGeom prst="rect">
            <a:avLst/>
          </a:prstGeom>
          <a:noFill/>
          <a:ln>
            <a:noFill/>
          </a:ln>
        </p:spPr>
        <p:txBody>
          <a:bodyPr spcFirstLastPara="1" wrap="square" lIns="0"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100" b="0" i="0" u="none" strike="noStrike" cap="none">
                <a:solidFill>
                  <a:srgbClr val="3C4043"/>
                </a:solidFill>
                <a:latin typeface="Arial"/>
                <a:ea typeface="Open Sans"/>
                <a:cs typeface="Open Sans"/>
                <a:sym typeface="Open Sans"/>
              </a:rPr>
              <a:t>From implicit risk to explicit safety gates</a:t>
            </a:r>
            <a:endParaRPr sz="2400" b="0" i="0" u="none" strike="noStrike" cap="none">
              <a:solidFill>
                <a:srgbClr val="5F6368"/>
              </a:solidFill>
              <a:latin typeface="Open Sans"/>
              <a:ea typeface="Open Sans"/>
              <a:cs typeface="Open Sans"/>
              <a:sym typeface="Open Sans"/>
            </a:endParaRPr>
          </a:p>
        </p:txBody>
      </p:sp>
      <p:sp>
        <p:nvSpPr>
          <p:cNvPr id="324" name="Google Shape;324;p57"/>
          <p:cNvSpPr txBox="1"/>
          <p:nvPr/>
        </p:nvSpPr>
        <p:spPr>
          <a:xfrm>
            <a:off x="517675" y="1522550"/>
            <a:ext cx="2421300" cy="1046700"/>
          </a:xfrm>
          <a:prstGeom prst="rect">
            <a:avLst/>
          </a:prstGeom>
          <a:noFill/>
          <a:ln>
            <a:noFill/>
          </a:ln>
        </p:spPr>
        <p:txBody>
          <a:bodyPr spcFirstLastPara="1" wrap="square" lIns="0"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150" b="0" i="0" u="none" strike="noStrike" cap="none">
                <a:solidFill>
                  <a:srgbClr val="5F6368"/>
                </a:solidFill>
                <a:latin typeface="Arial"/>
                <a:ea typeface="Open Sans"/>
                <a:cs typeface="Open Sans"/>
                <a:sym typeface="Open Sans"/>
              </a:rPr>
              <a:t>The most important refinement was not a visual change: it was moving consent, suppression, and human approval into deterministic workflow logic.</a:t>
            </a:r>
            <a:endParaRPr sz="1400" b="0" i="0" u="none" strike="noStrike" cap="none">
              <a:solidFill>
                <a:srgbClr val="5F6368"/>
              </a:solidFill>
              <a:latin typeface="Open Sans"/>
              <a:ea typeface="Open Sans"/>
              <a:cs typeface="Open Sans"/>
              <a:sym typeface="Open Sans"/>
            </a:endParaRPr>
          </a:p>
          <a:p>
            <a:pPr marL="0" marR="0" lvl="0" indent="0" algn="l" rtl="0">
              <a:lnSpc>
                <a:spcPct val="15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 name="Google Shape;325;p57"/>
          <p:cNvSpPr/>
          <p:nvPr/>
        </p:nvSpPr>
        <p:spPr>
          <a:xfrm>
            <a:off x="3718563" y="1250000"/>
            <a:ext cx="1818900" cy="31743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 name="Google Shape;326;p57"/>
          <p:cNvSpPr/>
          <p:nvPr/>
        </p:nvSpPr>
        <p:spPr>
          <a:xfrm>
            <a:off x="6774138" y="1268300"/>
            <a:ext cx="1818900" cy="31743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27" name="Google Shape;327;p57"/>
          <p:cNvCxnSpPr/>
          <p:nvPr/>
        </p:nvCxnSpPr>
        <p:spPr>
          <a:xfrm>
            <a:off x="5749763" y="2855450"/>
            <a:ext cx="812100" cy="0"/>
          </a:xfrm>
          <a:prstGeom prst="straightConnector1">
            <a:avLst/>
          </a:prstGeom>
          <a:noFill/>
          <a:ln w="28575" cap="flat" cmpd="sng">
            <a:solidFill>
              <a:srgbClr val="34A853"/>
            </a:solidFill>
            <a:prstDash val="solid"/>
            <a:round/>
            <a:headEnd type="none" w="sm" len="sm"/>
            <a:tailEnd type="triangle" w="med" len="med"/>
          </a:ln>
        </p:spPr>
      </p:cxnSp>
      <p:sp>
        <p:nvSpPr>
          <p:cNvPr id="328" name="Google Shape;328;p57"/>
          <p:cNvSpPr txBox="1"/>
          <p:nvPr/>
        </p:nvSpPr>
        <p:spPr>
          <a:xfrm>
            <a:off x="3451125" y="853300"/>
            <a:ext cx="2353800" cy="5850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rgbClr val="34A853"/>
                </a:solidFill>
                <a:latin typeface="Arial"/>
                <a:ea typeface="Open Sans"/>
                <a:cs typeface="Open Sans"/>
                <a:sym typeface="Open Sans"/>
              </a:rPr>
              <a:t>BEFORE: FRAGILE</a:t>
            </a:r>
            <a:endParaRPr sz="1200" b="0" i="0" u="none" strike="noStrike" cap="none">
              <a:solidFill>
                <a:srgbClr val="34A853"/>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1967D2"/>
              </a:solidFill>
              <a:latin typeface="Arial"/>
              <a:ea typeface="Arial"/>
              <a:cs typeface="Arial"/>
              <a:sym typeface="Arial"/>
            </a:endParaRPr>
          </a:p>
        </p:txBody>
      </p:sp>
      <p:sp>
        <p:nvSpPr>
          <p:cNvPr id="329" name="Google Shape;329;p57"/>
          <p:cNvSpPr txBox="1"/>
          <p:nvPr/>
        </p:nvSpPr>
        <p:spPr>
          <a:xfrm>
            <a:off x="6506700" y="853300"/>
            <a:ext cx="2353800" cy="5850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rgbClr val="34A853"/>
                </a:solidFill>
                <a:latin typeface="Arial"/>
                <a:ea typeface="Open Sans"/>
                <a:cs typeface="Open Sans"/>
                <a:sym typeface="Open Sans"/>
              </a:rPr>
              <a:t>AFTER: CONTROLLED</a:t>
            </a:r>
            <a:endParaRPr sz="1200" b="0" i="0" u="none" strike="noStrike" cap="none">
              <a:solidFill>
                <a:srgbClr val="34A853"/>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1967D2"/>
              </a:solidFill>
              <a:latin typeface="Arial"/>
              <a:ea typeface="Arial"/>
              <a:cs typeface="Arial"/>
              <a:sym typeface="Arial"/>
            </a:endParaRPr>
          </a:p>
        </p:txBody>
      </p:sp>
      <p:sp>
        <p:nvSpPr>
          <p:cNvPr id="330" name="Google Shape;330;p57"/>
          <p:cNvSpPr txBox="1"/>
          <p:nvPr/>
        </p:nvSpPr>
        <p:spPr>
          <a:xfrm>
            <a:off x="4008525" y="2393750"/>
            <a:ext cx="1239000" cy="923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5F6368"/>
              </a:solidFill>
              <a:latin typeface="Open Sans"/>
              <a:ea typeface="Open Sans"/>
              <a:cs typeface="Open Sans"/>
              <a:sym typeface="Open Sans"/>
            </a:endParaRPr>
          </a:p>
        </p:txBody>
      </p:sp>
      <p:sp>
        <p:nvSpPr>
          <p:cNvPr id="331" name="Google Shape;331;p57"/>
          <p:cNvSpPr txBox="1"/>
          <p:nvPr/>
        </p:nvSpPr>
        <p:spPr>
          <a:xfrm>
            <a:off x="7064125" y="2393750"/>
            <a:ext cx="1239000" cy="923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5F6368"/>
              </a:solidFill>
              <a:latin typeface="Open Sans"/>
              <a:ea typeface="Open Sans"/>
              <a:cs typeface="Open Sans"/>
              <a:sym typeface="Open Sans"/>
            </a:endParaRPr>
          </a:p>
        </p:txBody>
      </p:sp>
      <p:sp>
        <p:nvSpPr>
          <p:cNvPr id="332" name="Rounded Rectangle 331"/>
          <p:cNvSpPr/>
          <p:nvPr/>
        </p:nvSpPr>
        <p:spPr>
          <a:xfrm>
            <a:off x="3822191" y="1417320"/>
            <a:ext cx="1609344" cy="2788920"/>
          </a:xfrm>
          <a:prstGeom prst="roundRect">
            <a:avLst/>
          </a:prstGeom>
          <a:solidFill>
            <a:srgbClr val="FCE8E6"/>
          </a:solidFill>
          <a:ln w="12700">
            <a:solidFill>
              <a:srgbClr val="EA4335"/>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lstStyle/>
          <a:p>
            <a:pPr algn="l"/>
            <a:r>
              <a:rPr sz="980" b="0">
                <a:solidFill>
                  <a:srgbClr val="3C4043"/>
                </a:solidFill>
                <a:latin typeface="Arial"/>
              </a:rPr>
              <a:t>RISK PATTERN
• AI runs too early
• Opt-out is easy to miss
• Approval state is unclear
• Sending can escape review</a:t>
            </a:r>
          </a:p>
        </p:txBody>
      </p:sp>
      <p:sp>
        <p:nvSpPr>
          <p:cNvPr id="333" name="Rounded Rectangle 332"/>
          <p:cNvSpPr/>
          <p:nvPr/>
        </p:nvSpPr>
        <p:spPr>
          <a:xfrm>
            <a:off x="6876288" y="1417320"/>
            <a:ext cx="1609344" cy="2788920"/>
          </a:xfrm>
          <a:prstGeom prst="roundRect">
            <a:avLst/>
          </a:prstGeom>
          <a:solidFill>
            <a:srgbClr val="E6F4EA"/>
          </a:solidFill>
          <a:ln w="12700">
            <a:solidFill>
              <a:srgbClr val="34A853"/>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lstStyle/>
          <a:p>
            <a:pPr algn="l"/>
            <a:r>
              <a:rPr sz="980" b="0">
                <a:solidFill>
                  <a:srgbClr val="3C4043"/>
                </a:solidFill>
                <a:latin typeface="Arial"/>
              </a:rPr>
              <a:t>IMPLEMENTED
• Consent gate before AI
• Opt-out clears draft
• Unsent approvals cancelled
• HOT requires approval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58"/>
          <p:cNvSpPr txBox="1"/>
          <p:nvPr/>
        </p:nvSpPr>
        <p:spPr>
          <a:xfrm>
            <a:off x="517675" y="524350"/>
            <a:ext cx="7000800" cy="554100"/>
          </a:xfrm>
          <a:prstGeom prst="rect">
            <a:avLst/>
          </a:prstGeom>
          <a:noFill/>
          <a:ln>
            <a:noFill/>
          </a:ln>
        </p:spPr>
        <p:txBody>
          <a:bodyPr spcFirstLastPara="1" wrap="square" lIns="0"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200" b="0" i="0" u="none" strike="noStrike" cap="none">
                <a:solidFill>
                  <a:srgbClr val="3C4043"/>
                </a:solidFill>
                <a:latin typeface="Arial"/>
                <a:ea typeface="Open Sans"/>
                <a:cs typeface="Open Sans"/>
                <a:sym typeface="Open Sans"/>
              </a:rPr>
              <a:t>End-to-end AI agent pipeline</a:t>
            </a:r>
            <a:endParaRPr sz="2400" b="0" i="0" u="none" strike="noStrike" cap="none">
              <a:solidFill>
                <a:srgbClr val="5F6368"/>
              </a:solidFill>
              <a:latin typeface="Open Sans"/>
              <a:ea typeface="Open Sans"/>
              <a:cs typeface="Open Sans"/>
              <a:sym typeface="Open Sans"/>
            </a:endParaRPr>
          </a:p>
        </p:txBody>
      </p:sp>
      <p:sp>
        <p:nvSpPr>
          <p:cNvPr id="337" name="Google Shape;337;p58"/>
          <p:cNvSpPr/>
          <p:nvPr/>
        </p:nvSpPr>
        <p:spPr>
          <a:xfrm>
            <a:off x="531000" y="1391850"/>
            <a:ext cx="1818900" cy="31743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 name="Google Shape;338;p58"/>
          <p:cNvSpPr/>
          <p:nvPr/>
        </p:nvSpPr>
        <p:spPr>
          <a:xfrm>
            <a:off x="2601788" y="1413675"/>
            <a:ext cx="1818900" cy="31743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 name="Google Shape;339;p58"/>
          <p:cNvSpPr/>
          <p:nvPr/>
        </p:nvSpPr>
        <p:spPr>
          <a:xfrm>
            <a:off x="4697950" y="1447850"/>
            <a:ext cx="1818900" cy="31743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 name="Google Shape;340;p58"/>
          <p:cNvSpPr/>
          <p:nvPr/>
        </p:nvSpPr>
        <p:spPr>
          <a:xfrm>
            <a:off x="6794100" y="1447850"/>
            <a:ext cx="1818900" cy="31743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 name="Google Shape;341;p58"/>
          <p:cNvSpPr txBox="1"/>
          <p:nvPr/>
        </p:nvSpPr>
        <p:spPr>
          <a:xfrm>
            <a:off x="890250" y="2701950"/>
            <a:ext cx="1100400" cy="923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 sz="1050" b="0" i="0" u="none" strike="noStrike" cap="none">
                <a:solidFill>
                  <a:srgbClr val="3C4043"/>
                </a:solidFill>
                <a:latin typeface="Arial"/>
                <a:ea typeface="Open Sans"/>
                <a:cs typeface="Open Sans"/>
                <a:sym typeface="Open Sans"/>
              </a:rPr>
              <a:t>01  INTAKE + VALIDATE
Accept lead payload; normalize fields; reject unusable records.</a:t>
            </a:r>
            <a:endParaRPr sz="1200" b="0" i="0" u="none" strike="noStrike" cap="none">
              <a:solidFill>
                <a:srgbClr val="5F6368"/>
              </a:solidFill>
              <a:latin typeface="Open Sans"/>
              <a:ea typeface="Open Sans"/>
              <a:cs typeface="Open Sans"/>
              <a:sym typeface="Open Sans"/>
            </a:endParaRPr>
          </a:p>
        </p:txBody>
      </p:sp>
      <p:sp>
        <p:nvSpPr>
          <p:cNvPr id="342" name="Google Shape;342;p58"/>
          <p:cNvSpPr txBox="1"/>
          <p:nvPr/>
        </p:nvSpPr>
        <p:spPr>
          <a:xfrm>
            <a:off x="2953850" y="2723775"/>
            <a:ext cx="1100400" cy="923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050" b="0" i="0" u="none" strike="noStrike" cap="none">
                <a:solidFill>
                  <a:srgbClr val="3C4043"/>
                </a:solidFill>
                <a:latin typeface="Arial"/>
                <a:ea typeface="Open Sans"/>
                <a:cs typeface="Open Sans"/>
                <a:sym typeface="Open Sans"/>
              </a:rPr>
              <a:t>02  CONSENT + DEDUPE
Match normalized email; suppress opt-outs before AI.</a:t>
            </a:r>
            <a:endParaRPr sz="1200" b="0" i="0" u="none" strike="noStrike" cap="none">
              <a:solidFill>
                <a:srgbClr val="5F6368"/>
              </a:solidFill>
              <a:latin typeface="Open Sans"/>
              <a:ea typeface="Open Sans"/>
              <a:cs typeface="Open Sans"/>
              <a:sym typeface="Open Sans"/>
            </a:endParaRPr>
          </a:p>
        </p:txBody>
      </p:sp>
      <p:sp>
        <p:nvSpPr>
          <p:cNvPr id="343" name="Google Shape;343;p58"/>
          <p:cNvSpPr txBox="1"/>
          <p:nvPr/>
        </p:nvSpPr>
        <p:spPr>
          <a:xfrm>
            <a:off x="5057200" y="2701950"/>
            <a:ext cx="1100400" cy="923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050" b="0" i="0" u="none" strike="noStrike" cap="none">
                <a:solidFill>
                  <a:srgbClr val="3C4043"/>
                </a:solidFill>
                <a:latin typeface="Arial"/>
                <a:ea typeface="Open Sans"/>
                <a:cs typeface="Open Sans"/>
                <a:sym typeface="Open Sans"/>
              </a:rPr>
              <a:t>03  SCORE + SUMMARIZE
Apply weighted rubric; generate structured AI support.</a:t>
            </a:r>
            <a:endParaRPr sz="1200" b="0" i="0" u="none" strike="noStrike" cap="none">
              <a:solidFill>
                <a:srgbClr val="5F6368"/>
              </a:solidFill>
              <a:latin typeface="Open Sans"/>
              <a:ea typeface="Open Sans"/>
              <a:cs typeface="Open Sans"/>
              <a:sym typeface="Open Sans"/>
            </a:endParaRPr>
          </a:p>
        </p:txBody>
      </p:sp>
      <p:sp>
        <p:nvSpPr>
          <p:cNvPr id="344" name="Google Shape;344;p58"/>
          <p:cNvSpPr txBox="1"/>
          <p:nvPr/>
        </p:nvSpPr>
        <p:spPr>
          <a:xfrm>
            <a:off x="7160550" y="2757950"/>
            <a:ext cx="1100400" cy="923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050" b="0" i="0" u="none" strike="noStrike" cap="none">
                <a:solidFill>
                  <a:srgbClr val="3C4043"/>
                </a:solidFill>
                <a:latin typeface="Arial"/>
                <a:ea typeface="Open Sans"/>
                <a:cs typeface="Open Sans"/>
                <a:sym typeface="Open Sans"/>
              </a:rPr>
              <a:t>04  REVIEW + HANDOFF
Queue HOT draft; route nurture; log decisions.</a:t>
            </a:r>
            <a:endParaRPr sz="1200" b="0" i="0" u="none" strike="noStrike" cap="none">
              <a:solidFill>
                <a:srgbClr val="5F6368"/>
              </a:solidFill>
              <a:latin typeface="Open Sans"/>
              <a:ea typeface="Open Sans"/>
              <a:cs typeface="Open Sans"/>
              <a:sym typeface="Open Sans"/>
            </a:endParaRPr>
          </a:p>
        </p:txBody>
      </p:sp>
      <p:sp>
        <p:nvSpPr>
          <p:cNvPr id="345" name="Rectangle 344"/>
          <p:cNvSpPr/>
          <p:nvPr/>
        </p:nvSpPr>
        <p:spPr>
          <a:xfrm>
            <a:off x="557784" y="1444752"/>
            <a:ext cx="1746504" cy="109728"/>
          </a:xfrm>
          <a:prstGeom prst="rect">
            <a:avLst/>
          </a:prstGeom>
          <a:solidFill>
            <a:srgbClr val="4285F4"/>
          </a:solidFill>
          <a:ln w="6350">
            <a:solidFill>
              <a:srgbClr val="4285F4"/>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6" name="Rectangle 345"/>
          <p:cNvSpPr/>
          <p:nvPr/>
        </p:nvSpPr>
        <p:spPr>
          <a:xfrm>
            <a:off x="2633472" y="1444752"/>
            <a:ext cx="1746504" cy="109728"/>
          </a:xfrm>
          <a:prstGeom prst="rect">
            <a:avLst/>
          </a:prstGeom>
          <a:solidFill>
            <a:srgbClr val="EA4335"/>
          </a:solidFill>
          <a:ln w="6350">
            <a:solidFill>
              <a:srgbClr val="EA4335"/>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7" name="Rectangle 346"/>
          <p:cNvSpPr/>
          <p:nvPr/>
        </p:nvSpPr>
        <p:spPr>
          <a:xfrm>
            <a:off x="4727448" y="1444752"/>
            <a:ext cx="1746504" cy="109728"/>
          </a:xfrm>
          <a:prstGeom prst="rect">
            <a:avLst/>
          </a:prstGeom>
          <a:solidFill>
            <a:srgbClr val="F9AB00"/>
          </a:solidFill>
          <a:ln w="6350">
            <a:solidFill>
              <a:srgbClr val="F9AB00"/>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8" name="Rectangle 347"/>
          <p:cNvSpPr/>
          <p:nvPr/>
        </p:nvSpPr>
        <p:spPr>
          <a:xfrm>
            <a:off x="6821424" y="1444752"/>
            <a:ext cx="1746504" cy="109728"/>
          </a:xfrm>
          <a:prstGeom prst="rect">
            <a:avLst/>
          </a:prstGeom>
          <a:solidFill>
            <a:srgbClr val="34A853"/>
          </a:solidFill>
          <a:ln w="6350">
            <a:solidFill>
              <a:srgbClr val="34A853"/>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59"/>
          <p:cNvSpPr/>
          <p:nvPr/>
        </p:nvSpPr>
        <p:spPr>
          <a:xfrm>
            <a:off x="4211875" y="0"/>
            <a:ext cx="493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0" name="Google Shape;350;p59"/>
          <p:cNvSpPr txBox="1"/>
          <p:nvPr/>
        </p:nvSpPr>
        <p:spPr>
          <a:xfrm>
            <a:off x="517675" y="524350"/>
            <a:ext cx="7000800" cy="978900"/>
          </a:xfrm>
          <a:prstGeom prst="rect">
            <a:avLst/>
          </a:prstGeom>
          <a:noFill/>
          <a:ln>
            <a:noFill/>
          </a:ln>
        </p:spPr>
        <p:txBody>
          <a:bodyPr spcFirstLastPara="1" wrap="square" lIns="0" tIns="91425" rIns="91425" bIns="91425" anchor="t" anchorCtr="0">
            <a:spAutoFit/>
          </a:bodyPr>
          <a:lstStyle/>
          <a:p>
            <a:pPr marL="0" marR="0" lvl="0" indent="0" algn="l" rtl="0">
              <a:lnSpc>
                <a:spcPct val="115000"/>
              </a:lnSpc>
              <a:spcBef>
                <a:spcPts val="0"/>
              </a:spcBef>
              <a:spcAft>
                <a:spcPts val="0"/>
              </a:spcAft>
              <a:buClr>
                <a:srgbClr val="000000"/>
              </a:buClr>
              <a:buSzPts val="2400"/>
              <a:buFont typeface="Arial"/>
              <a:buNone/>
            </a:pPr>
            <a:r>
              <a:rPr lang="en" sz="2000" b="0" i="0" u="none" strike="noStrike" cap="none">
                <a:solidFill>
                  <a:srgbClr val="3C4043"/>
                </a:solidFill>
                <a:latin typeface="Arial"/>
                <a:ea typeface="Open Sans"/>
                <a:cs typeface="Open Sans"/>
                <a:sym typeface="Open Sans"/>
              </a:rPr>
              <a:t>n8n implementation
Production-candidate workflow</a:t>
            </a:r>
            <a:br>
              <a:rPr lang="en" sz="2400" b="0" i="0" u="none" strike="noStrike" cap="none">
                <a:solidFill>
                  <a:srgbClr val="5F6368"/>
                </a:solidFill>
                <a:latin typeface="Open Sans"/>
                <a:ea typeface="Open Sans"/>
                <a:cs typeface="Open Sans"/>
                <a:sym typeface="Open Sans"/>
              </a:rPr>
            </a:br>
            <a:endParaRPr sz="2400" b="0" i="0" u="none" strike="noStrike" cap="none">
              <a:solidFill>
                <a:srgbClr val="5F6368"/>
              </a:solidFill>
              <a:latin typeface="Open Sans"/>
              <a:ea typeface="Open Sans"/>
              <a:cs typeface="Open Sans"/>
              <a:sym typeface="Open Sans"/>
            </a:endParaRPr>
          </a:p>
        </p:txBody>
      </p:sp>
      <p:sp>
        <p:nvSpPr>
          <p:cNvPr id="351" name="Google Shape;351;p59"/>
          <p:cNvSpPr txBox="1"/>
          <p:nvPr/>
        </p:nvSpPr>
        <p:spPr>
          <a:xfrm>
            <a:off x="532875" y="1793800"/>
            <a:ext cx="2224200" cy="1046700"/>
          </a:xfrm>
          <a:prstGeom prst="rect">
            <a:avLst/>
          </a:prstGeom>
          <a:noFill/>
          <a:ln>
            <a:noFill/>
          </a:ln>
        </p:spPr>
        <p:txBody>
          <a:bodyPr spcFirstLastPara="1" wrap="square" lIns="0"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150" b="0" i="0" u="none" strike="noStrike" cap="none">
                <a:solidFill>
                  <a:srgbClr val="5F6368"/>
                </a:solidFill>
                <a:latin typeface="Arial"/>
                <a:ea typeface="Open Sans"/>
                <a:cs typeface="Open Sans"/>
                <a:sym typeface="Open Sans"/>
              </a:rPr>
              <a:t>100 nodes • 18 groups • 117 connections at the documented build snapshot. External credentials and integrations remain unconfigured, so the workflow is intentionally inactive.</a:t>
            </a:r>
            <a:endParaRPr sz="1400" b="0" i="0" u="none" strike="noStrike" cap="none">
              <a:solidFill>
                <a:srgbClr val="5F6368"/>
              </a:solidFill>
              <a:latin typeface="Open Sans"/>
              <a:ea typeface="Open Sans"/>
              <a:cs typeface="Open Sans"/>
              <a:sym typeface="Open Sans"/>
            </a:endParaRPr>
          </a:p>
          <a:p>
            <a:pPr marL="0" marR="0" lvl="0" indent="0" algn="l" rtl="0">
              <a:lnSpc>
                <a:spcPct val="15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352" name="Google Shape;352;p59"/>
          <p:cNvSpPr txBox="1"/>
          <p:nvPr/>
        </p:nvSpPr>
        <p:spPr>
          <a:xfrm>
            <a:off x="6011725" y="2110050"/>
            <a:ext cx="1332300" cy="923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5F6368"/>
              </a:solidFill>
              <a:latin typeface="Open Sans"/>
              <a:ea typeface="Open Sans"/>
              <a:cs typeface="Open Sans"/>
              <a:sym typeface="Open Sans"/>
            </a:endParaRPr>
          </a:p>
        </p:txBody>
      </p:sp>
      <p:sp>
        <p:nvSpPr>
          <p:cNvPr id="353" name="Rectangle 352"/>
          <p:cNvSpPr/>
          <p:nvPr/>
        </p:nvSpPr>
        <p:spPr>
          <a:xfrm>
            <a:off x="4425696" y="502920"/>
            <a:ext cx="4389120" cy="4343400"/>
          </a:xfrm>
          <a:prstGeom prst="rect">
            <a:avLst/>
          </a:prstGeom>
          <a:solidFill>
            <a:srgbClr val="F8F9FA"/>
          </a:solidFill>
          <a:ln w="12700">
            <a:solidFill>
              <a:srgbClr val="DADCE0"/>
            </a:solidFill>
          </a:ln>
        </p:spPr>
        <p:style>
          <a:lnRef idx="1">
            <a:schemeClr val="accent1"/>
          </a:lnRef>
          <a:fillRef idx="3">
            <a:schemeClr val="accent1"/>
          </a:fillRef>
          <a:effectRef idx="2">
            <a:schemeClr val="accent1"/>
          </a:effectRef>
          <a:fontRef idx="minor">
            <a:schemeClr val="lt1"/>
          </a:fontRef>
        </p:style>
        <p:txBody>
          <a:bodyPr wrap="square" lIns="73152" tIns="48768" rIns="73152" bIns="48768" rtlCol="0" anchor="ctr"/>
          <a:lstStyle/>
          <a:p>
            <a:pPr algn="ctr"/>
            <a:endParaRPr/>
          </a:p>
        </p:txBody>
      </p:sp>
      <p:sp>
        <p:nvSpPr>
          <p:cNvPr id="354" name="Rounded Rectangle 353"/>
          <p:cNvSpPr/>
          <p:nvPr/>
        </p:nvSpPr>
        <p:spPr>
          <a:xfrm>
            <a:off x="4709160" y="713232"/>
            <a:ext cx="3794760" cy="585216"/>
          </a:xfrm>
          <a:prstGeom prst="round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wrap="square" lIns="100584" tIns="67056" rIns="100584" bIns="67056" rtlCol="0" anchor="ctr"/>
          <a:lstStyle/>
          <a:p>
            <a:pPr algn="l"/>
            <a:r>
              <a:rPr sz="1050" b="0">
                <a:solidFill>
                  <a:srgbClr val="3C4043"/>
                </a:solidFill>
                <a:latin typeface="Arial"/>
              </a:rPr>
              <a:t>TRIGGER + INTAKE
Webhook/form intake and raw-event capture</a:t>
            </a:r>
          </a:p>
        </p:txBody>
      </p:sp>
      <p:sp>
        <p:nvSpPr>
          <p:cNvPr id="355" name="Rounded Rectangle 354"/>
          <p:cNvSpPr/>
          <p:nvPr/>
        </p:nvSpPr>
        <p:spPr>
          <a:xfrm>
            <a:off x="4709160" y="1463040"/>
            <a:ext cx="3794760" cy="585216"/>
          </a:xfrm>
          <a:prstGeom prst="round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wrap="square" lIns="100584" tIns="67056" rIns="100584" bIns="67056" rtlCol="0" anchor="ctr"/>
          <a:lstStyle/>
          <a:p>
            <a:pPr algn="l"/>
            <a:r>
              <a:rPr sz="1050" b="0">
                <a:solidFill>
                  <a:srgbClr val="3C4043"/>
                </a:solidFill>
                <a:latin typeface="Arial"/>
              </a:rPr>
              <a:t>DATA QUALITY
Normalize, validate, exact-match duplicate check</a:t>
            </a:r>
          </a:p>
        </p:txBody>
      </p:sp>
      <p:sp>
        <p:nvSpPr>
          <p:cNvPr id="356" name="Rounded Rectangle 355"/>
          <p:cNvSpPr/>
          <p:nvPr/>
        </p:nvSpPr>
        <p:spPr>
          <a:xfrm>
            <a:off x="4709160" y="2212848"/>
            <a:ext cx="3794760" cy="585216"/>
          </a:xfrm>
          <a:prstGeom prst="roundRect">
            <a:avLst/>
          </a:prstGeom>
          <a:solidFill>
            <a:srgbClr val="FCE8E6"/>
          </a:solidFill>
          <a:ln w="12700">
            <a:solidFill>
              <a:srgbClr val="EA4335"/>
            </a:solidFill>
          </a:ln>
        </p:spPr>
        <p:style>
          <a:lnRef idx="1">
            <a:schemeClr val="accent1"/>
          </a:lnRef>
          <a:fillRef idx="3">
            <a:schemeClr val="accent1"/>
          </a:fillRef>
          <a:effectRef idx="2">
            <a:schemeClr val="accent1"/>
          </a:effectRef>
          <a:fontRef idx="minor">
            <a:schemeClr val="lt1"/>
          </a:fontRef>
        </p:style>
        <p:txBody>
          <a:bodyPr wrap="square" lIns="100584" tIns="67056" rIns="100584" bIns="67056" rtlCol="0" anchor="ctr"/>
          <a:lstStyle/>
          <a:p>
            <a:pPr algn="l"/>
            <a:r>
              <a:rPr sz="1050" b="0">
                <a:solidFill>
                  <a:srgbClr val="3C4043"/>
                </a:solidFill>
                <a:latin typeface="Arial"/>
              </a:rPr>
              <a:t>CONSENT + ROUTING
Opt-out suppression and deterministic branch logic</a:t>
            </a:r>
          </a:p>
        </p:txBody>
      </p:sp>
      <p:sp>
        <p:nvSpPr>
          <p:cNvPr id="357" name="Rounded Rectangle 356"/>
          <p:cNvSpPr/>
          <p:nvPr/>
        </p:nvSpPr>
        <p:spPr>
          <a:xfrm>
            <a:off x="4709160" y="2962656"/>
            <a:ext cx="3794760" cy="585216"/>
          </a:xfrm>
          <a:prstGeom prst="roundRect">
            <a:avLst/>
          </a:prstGeom>
          <a:solidFill>
            <a:srgbClr val="FEF7E0"/>
          </a:solidFill>
          <a:ln w="12700">
            <a:solidFill>
              <a:srgbClr val="A56A00"/>
            </a:solidFill>
          </a:ln>
        </p:spPr>
        <p:style>
          <a:lnRef idx="1">
            <a:schemeClr val="accent1"/>
          </a:lnRef>
          <a:fillRef idx="3">
            <a:schemeClr val="accent1"/>
          </a:fillRef>
          <a:effectRef idx="2">
            <a:schemeClr val="accent1"/>
          </a:effectRef>
          <a:fontRef idx="minor">
            <a:schemeClr val="lt1"/>
          </a:fontRef>
        </p:style>
        <p:txBody>
          <a:bodyPr wrap="square" lIns="100584" tIns="67056" rIns="100584" bIns="67056" rtlCol="0" anchor="ctr"/>
          <a:lstStyle/>
          <a:p>
            <a:pPr algn="l"/>
            <a:r>
              <a:rPr sz="1050" b="0">
                <a:solidFill>
                  <a:srgbClr val="3C4043"/>
                </a:solidFill>
                <a:latin typeface="Arial"/>
              </a:rPr>
              <a:t>AI + SCORING
Weighted rubric and constrained structured summary</a:t>
            </a:r>
          </a:p>
        </p:txBody>
      </p:sp>
      <p:sp>
        <p:nvSpPr>
          <p:cNvPr id="358" name="Rounded Rectangle 357"/>
          <p:cNvSpPr/>
          <p:nvPr/>
        </p:nvSpPr>
        <p:spPr>
          <a:xfrm>
            <a:off x="4709160" y="3712463"/>
            <a:ext cx="3794760" cy="585216"/>
          </a:xfrm>
          <a:prstGeom prst="roundRect">
            <a:avLst/>
          </a:prstGeom>
          <a:solidFill>
            <a:srgbClr val="E6F4EA"/>
          </a:solidFill>
          <a:ln w="12700">
            <a:solidFill>
              <a:srgbClr val="34A853"/>
            </a:solidFill>
          </a:ln>
        </p:spPr>
        <p:style>
          <a:lnRef idx="1">
            <a:schemeClr val="accent1"/>
          </a:lnRef>
          <a:fillRef idx="3">
            <a:schemeClr val="accent1"/>
          </a:fillRef>
          <a:effectRef idx="2">
            <a:schemeClr val="accent1"/>
          </a:effectRef>
          <a:fontRef idx="minor">
            <a:schemeClr val="lt1"/>
          </a:fontRef>
        </p:style>
        <p:txBody>
          <a:bodyPr wrap="square" lIns="100584" tIns="67056" rIns="100584" bIns="67056" rtlCol="0" anchor="ctr"/>
          <a:lstStyle/>
          <a:p>
            <a:pPr algn="l"/>
            <a:r>
              <a:rPr sz="1050" b="0">
                <a:solidFill>
                  <a:srgbClr val="3C4043"/>
                </a:solidFill>
                <a:latin typeface="Arial"/>
              </a:rPr>
              <a:t>PERSIST + REVIEW
Lead table, event log, approval queue, error workflow</a:t>
            </a:r>
          </a:p>
        </p:txBody>
      </p:sp>
      <p:sp>
        <p:nvSpPr>
          <p:cNvPr id="359" name="TextBox 358"/>
          <p:cNvSpPr txBox="1"/>
          <p:nvPr/>
        </p:nvSpPr>
        <p:spPr>
          <a:xfrm>
            <a:off x="4709160" y="4535424"/>
            <a:ext cx="3794760" cy="182880"/>
          </a:xfrm>
          <a:prstGeom prst="rect">
            <a:avLst/>
          </a:prstGeom>
          <a:noFill/>
        </p:spPr>
        <p:txBody>
          <a:bodyPr wrap="square" lIns="18288" tIns="18288" rIns="18288" bIns="18288" anchor="t">
            <a:spAutoFit/>
          </a:bodyPr>
          <a:lstStyle/>
          <a:p>
            <a:pPr algn="ctr"/>
            <a:r>
              <a:rPr sz="900" b="0">
                <a:solidFill>
                  <a:srgbClr val="5F6368"/>
                </a:solidFill>
                <a:latin typeface="Arial"/>
              </a:rPr>
              <a:t>Provider-specific branches are optional and disabled by default.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60"/>
          <p:cNvSpPr txBox="1"/>
          <p:nvPr/>
        </p:nvSpPr>
        <p:spPr>
          <a:xfrm>
            <a:off x="517675" y="524350"/>
            <a:ext cx="7000800" cy="554100"/>
          </a:xfrm>
          <a:prstGeom prst="rect">
            <a:avLst/>
          </a:prstGeom>
          <a:noFill/>
          <a:ln>
            <a:noFill/>
          </a:ln>
        </p:spPr>
        <p:txBody>
          <a:bodyPr spcFirstLastPara="1" wrap="square" lIns="0"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200" b="0" i="0" u="none" strike="noStrike" cap="none">
                <a:solidFill>
                  <a:srgbClr val="3C4043"/>
                </a:solidFill>
                <a:latin typeface="Arial"/>
                <a:ea typeface="Open Sans"/>
                <a:cs typeface="Open Sans"/>
                <a:sym typeface="Open Sans"/>
              </a:rPr>
              <a:t>Safety, governance &amp; reliability</a:t>
            </a:r>
            <a:endParaRPr sz="2400" b="0" i="0" u="none" strike="noStrike" cap="none">
              <a:solidFill>
                <a:srgbClr val="5F6368"/>
              </a:solidFill>
              <a:latin typeface="Open Sans"/>
              <a:ea typeface="Open Sans"/>
              <a:cs typeface="Open Sans"/>
              <a:sym typeface="Open Sans"/>
            </a:endParaRPr>
          </a:p>
        </p:txBody>
      </p:sp>
      <p:sp>
        <p:nvSpPr>
          <p:cNvPr id="358" name="Google Shape;358;p60"/>
          <p:cNvSpPr/>
          <p:nvPr/>
        </p:nvSpPr>
        <p:spPr>
          <a:xfrm>
            <a:off x="517675" y="1472325"/>
            <a:ext cx="2436300" cy="3174300"/>
          </a:xfrm>
          <a:prstGeom prst="rect">
            <a:avLst/>
          </a:prstGeom>
          <a:solidFill>
            <a:srgbClr val="F8F9F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 name="Google Shape;359;p60"/>
          <p:cNvSpPr txBox="1"/>
          <p:nvPr/>
        </p:nvSpPr>
        <p:spPr>
          <a:xfrm>
            <a:off x="711325" y="1917800"/>
            <a:ext cx="2049000" cy="1218900"/>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Clr>
                <a:srgbClr val="000000"/>
              </a:buClr>
              <a:buSzPts val="1200"/>
              <a:buFont typeface="Arial"/>
              <a:buNone/>
            </a:pPr>
            <a:r>
              <a:rPr lang="en" sz="1050" b="0" i="0" u="none" strike="noStrike" cap="none">
                <a:solidFill>
                  <a:srgbClr val="3C4043"/>
                </a:solidFill>
                <a:latin typeface="Arial"/>
                <a:ea typeface="Open Sans"/>
                <a:cs typeface="Open Sans"/>
                <a:sym typeface="Open Sans"/>
              </a:rPr>
              <a:t>Consent first. AI and outreach branches are gated on consent; opt-out handling remains available even when qualification data is incomplete.</a:t>
            </a:r>
            <a:endParaRPr sz="1200" b="0" i="0" u="none" strike="noStrike" cap="none">
              <a:solidFill>
                <a:srgbClr val="000000"/>
              </a:solidFill>
              <a:latin typeface="Arial"/>
              <a:ea typeface="Arial"/>
              <a:cs typeface="Arial"/>
              <a:sym typeface="Arial"/>
            </a:endParaRPr>
          </a:p>
        </p:txBody>
      </p:sp>
      <p:sp>
        <p:nvSpPr>
          <p:cNvPr id="360" name="Google Shape;360;p60"/>
          <p:cNvSpPr/>
          <p:nvPr/>
        </p:nvSpPr>
        <p:spPr>
          <a:xfrm>
            <a:off x="3175275" y="1472325"/>
            <a:ext cx="2436300" cy="3174300"/>
          </a:xfrm>
          <a:prstGeom prst="rect">
            <a:avLst/>
          </a:prstGeom>
          <a:solidFill>
            <a:srgbClr val="F8F9F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 name="Google Shape;361;p60"/>
          <p:cNvSpPr txBox="1"/>
          <p:nvPr/>
        </p:nvSpPr>
        <p:spPr>
          <a:xfrm>
            <a:off x="3368925" y="1917800"/>
            <a:ext cx="2049000" cy="1218900"/>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Clr>
                <a:srgbClr val="000000"/>
              </a:buClr>
              <a:buSzPts val="1200"/>
              <a:buFont typeface="Arial"/>
              <a:buNone/>
            </a:pPr>
            <a:r>
              <a:rPr lang="en" sz="1050" b="0" i="0" u="none" strike="noStrike" cap="none">
                <a:solidFill>
                  <a:srgbClr val="3C4043"/>
                </a:solidFill>
                <a:latin typeface="Arial"/>
                <a:ea typeface="Open Sans"/>
                <a:cs typeface="Open Sans"/>
                <a:sym typeface="Open Sans"/>
              </a:rPr>
              <a:t>Human in the loop. HOT leads create an approval item and a draft; no automatic email sending is enabled in the current build.</a:t>
            </a:r>
            <a:endParaRPr sz="1200" b="0" i="0" u="none" strike="noStrike" cap="none">
              <a:solidFill>
                <a:srgbClr val="000000"/>
              </a:solidFill>
              <a:latin typeface="Arial"/>
              <a:ea typeface="Arial"/>
              <a:cs typeface="Arial"/>
              <a:sym typeface="Arial"/>
            </a:endParaRPr>
          </a:p>
        </p:txBody>
      </p:sp>
      <p:sp>
        <p:nvSpPr>
          <p:cNvPr id="362" name="Google Shape;362;p60"/>
          <p:cNvSpPr/>
          <p:nvPr/>
        </p:nvSpPr>
        <p:spPr>
          <a:xfrm>
            <a:off x="5832875" y="1472325"/>
            <a:ext cx="2436300" cy="3174300"/>
          </a:xfrm>
          <a:prstGeom prst="rect">
            <a:avLst/>
          </a:prstGeom>
          <a:solidFill>
            <a:srgbClr val="F8F9F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 name="Google Shape;363;p60"/>
          <p:cNvSpPr txBox="1"/>
          <p:nvPr/>
        </p:nvSpPr>
        <p:spPr>
          <a:xfrm>
            <a:off x="6026525" y="1917800"/>
            <a:ext cx="2049000" cy="1218900"/>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Clr>
                <a:srgbClr val="000000"/>
              </a:buClr>
              <a:buSzPts val="1200"/>
              <a:buFont typeface="Arial"/>
              <a:buNone/>
            </a:pPr>
            <a:r>
              <a:rPr lang="en" sz="1050" b="0" i="0" u="none" strike="noStrike" cap="none">
                <a:solidFill>
                  <a:srgbClr val="3C4043"/>
                </a:solidFill>
                <a:latin typeface="Arial"/>
                <a:ea typeface="Open Sans"/>
                <a:cs typeface="Open Sans"/>
                <a:sym typeface="Open Sans"/>
              </a:rPr>
              <a:t>Production caveats. Credentials, connector tests, external opt-out propagation, retention/access controls, and concurrency-safe dedupe still require implementation and verification.</a:t>
            </a:r>
            <a:endParaRPr sz="1200" b="0" i="0" u="none" strike="noStrike" cap="none">
              <a:solidFill>
                <a:srgbClr val="000000"/>
              </a:solidFill>
              <a:latin typeface="Arial"/>
              <a:ea typeface="Arial"/>
              <a:cs typeface="Arial"/>
              <a:sym typeface="Arial"/>
            </a:endParaRPr>
          </a:p>
        </p:txBody>
      </p:sp>
      <p:sp>
        <p:nvSpPr>
          <p:cNvPr id="364" name="Google Shape;364;p60"/>
          <p:cNvSpPr/>
          <p:nvPr/>
        </p:nvSpPr>
        <p:spPr>
          <a:xfrm>
            <a:off x="1479175" y="1233971"/>
            <a:ext cx="513300" cy="513300"/>
          </a:xfrm>
          <a:prstGeom prst="ellipse">
            <a:avLst/>
          </a:prstGeom>
          <a:solidFill>
            <a:srgbClr val="34A853"/>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0" i="0" u="none" strike="noStrike" cap="none">
                <a:solidFill>
                  <a:srgbClr val="FFFFFF"/>
                </a:solidFill>
                <a:latin typeface="Google Sans Medium"/>
                <a:ea typeface="Google Sans Medium"/>
                <a:cs typeface="Google Sans Medium"/>
                <a:sym typeface="Google Sans Medium"/>
              </a:rPr>
              <a:t>1</a:t>
            </a:r>
            <a:endParaRPr sz="2200" b="0" i="0" u="none" strike="noStrike" cap="none">
              <a:solidFill>
                <a:srgbClr val="FFFFFF"/>
              </a:solidFill>
              <a:latin typeface="Google Sans Medium"/>
              <a:ea typeface="Google Sans Medium"/>
              <a:cs typeface="Google Sans Medium"/>
              <a:sym typeface="Google Sans Medium"/>
            </a:endParaRPr>
          </a:p>
        </p:txBody>
      </p:sp>
      <p:sp>
        <p:nvSpPr>
          <p:cNvPr id="365" name="Google Shape;365;p60"/>
          <p:cNvSpPr/>
          <p:nvPr/>
        </p:nvSpPr>
        <p:spPr>
          <a:xfrm>
            <a:off x="4136775" y="1233971"/>
            <a:ext cx="513300" cy="513300"/>
          </a:xfrm>
          <a:prstGeom prst="ellipse">
            <a:avLst/>
          </a:prstGeom>
          <a:solidFill>
            <a:srgbClr val="34A853"/>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0" i="0" u="none" strike="noStrike" cap="none">
                <a:solidFill>
                  <a:srgbClr val="FFFFFF"/>
                </a:solidFill>
                <a:latin typeface="Google Sans Medium"/>
                <a:ea typeface="Google Sans Medium"/>
                <a:cs typeface="Google Sans Medium"/>
                <a:sym typeface="Google Sans Medium"/>
              </a:rPr>
              <a:t>2</a:t>
            </a:r>
            <a:endParaRPr sz="2200" b="0" i="0" u="none" strike="noStrike" cap="none">
              <a:solidFill>
                <a:srgbClr val="FFFFFF"/>
              </a:solidFill>
              <a:latin typeface="Google Sans Medium"/>
              <a:ea typeface="Google Sans Medium"/>
              <a:cs typeface="Google Sans Medium"/>
              <a:sym typeface="Google Sans Medium"/>
            </a:endParaRPr>
          </a:p>
        </p:txBody>
      </p:sp>
      <p:sp>
        <p:nvSpPr>
          <p:cNvPr id="366" name="Google Shape;366;p60"/>
          <p:cNvSpPr/>
          <p:nvPr/>
        </p:nvSpPr>
        <p:spPr>
          <a:xfrm>
            <a:off x="6794375" y="1233971"/>
            <a:ext cx="513300" cy="513300"/>
          </a:xfrm>
          <a:prstGeom prst="ellipse">
            <a:avLst/>
          </a:prstGeom>
          <a:solidFill>
            <a:srgbClr val="34A853"/>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0" i="0" u="none" strike="noStrike" cap="none">
                <a:solidFill>
                  <a:srgbClr val="FFFFFF"/>
                </a:solidFill>
                <a:latin typeface="Google Sans Medium"/>
                <a:ea typeface="Google Sans Medium"/>
                <a:cs typeface="Google Sans Medium"/>
                <a:sym typeface="Google Sans Medium"/>
              </a:rPr>
              <a:t>3</a:t>
            </a:r>
            <a:endParaRPr sz="2200" b="0" i="0" u="none" strike="noStrike" cap="none">
              <a:solidFill>
                <a:srgbClr val="FFFFFF"/>
              </a:solidFill>
              <a:latin typeface="Google Sans Medium"/>
              <a:ea typeface="Google Sans Medium"/>
              <a:cs typeface="Google Sans Medium"/>
              <a:sym typeface="Google Sans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5F6368"/>
        </a:solidFill>
        <a:effectLst/>
      </p:bgPr>
    </p:bg>
    <p:spTree>
      <p:nvGrpSpPr>
        <p:cNvPr id="1" name="Shape 370"/>
        <p:cNvGrpSpPr/>
        <p:nvPr/>
      </p:nvGrpSpPr>
      <p:grpSpPr>
        <a:xfrm>
          <a:off x="0" y="0"/>
          <a:ext cx="0" cy="0"/>
          <a:chOff x="0" y="0"/>
          <a:chExt cx="0" cy="0"/>
        </a:xfrm>
      </p:grpSpPr>
      <p:sp>
        <p:nvSpPr>
          <p:cNvPr id="371" name="Google Shape;371;p61"/>
          <p:cNvSpPr txBox="1"/>
          <p:nvPr/>
        </p:nvSpPr>
        <p:spPr>
          <a:xfrm>
            <a:off x="3721275" y="2210100"/>
            <a:ext cx="2275500" cy="723300"/>
          </a:xfrm>
          <a:prstGeom prst="rect">
            <a:avLst/>
          </a:prstGeom>
          <a:noFill/>
          <a:ln>
            <a:noFill/>
          </a:ln>
        </p:spPr>
        <p:txBody>
          <a:bodyPr spcFirstLastPara="1" wrap="square" lIns="91425" tIns="91425" rIns="91425" bIns="91425" anchor="t" anchorCtr="0">
            <a:spAutoFit/>
          </a:bodyPr>
          <a:lstStyle/>
          <a:p>
            <a:pPr marL="457200" marR="0" lvl="0" indent="-317500" algn="l" rtl="0">
              <a:lnSpc>
                <a:spcPct val="150000"/>
              </a:lnSpc>
              <a:spcBef>
                <a:spcPts val="0"/>
              </a:spcBef>
              <a:spcAft>
                <a:spcPts val="0"/>
              </a:spcAft>
              <a:buClr>
                <a:srgbClr val="FFFFFF"/>
              </a:buClr>
              <a:buSzPts val="1400"/>
              <a:buFont typeface="Open Sans"/>
              <a:buChar char="●"/>
            </a:pPr>
            <a:r>
              <a:rPr lang="en" sz="1800" b="0" i="0" u="none" strike="noStrike" cap="none">
                <a:solidFill>
                  <a:srgbClr val="FFFFFF"/>
                </a:solidFill>
                <a:latin typeface="Arial"/>
                <a:ea typeface="Open Sans"/>
                <a:cs typeface="Open Sans"/>
                <a:sym typeface="Open Sans"/>
              </a:rPr>
              <a:t>Deploy safely</a:t>
            </a:r>
            <a:endParaRPr sz="1400" b="0" i="0" u="none" strike="noStrike" cap="none">
              <a:solidFill>
                <a:srgbClr val="FFFFFF"/>
              </a:solidFill>
              <a:latin typeface="Open Sans"/>
              <a:ea typeface="Open Sans"/>
              <a:cs typeface="Open Sans"/>
              <a:sym typeface="Open Sans"/>
            </a:endParaRPr>
          </a:p>
          <a:p>
            <a:pPr marL="457200" marR="0" lvl="0" indent="-317500" algn="l" rtl="0">
              <a:lnSpc>
                <a:spcPct val="150000"/>
              </a:lnSpc>
              <a:spcBef>
                <a:spcPts val="0"/>
              </a:spcBef>
              <a:spcAft>
                <a:spcPts val="0"/>
              </a:spcAft>
              <a:buClr>
                <a:srgbClr val="FFFFFF"/>
              </a:buClr>
              <a:buSzPts val="1400"/>
              <a:buFont typeface="Open Sans"/>
              <a:buChar char="●"/>
            </a:pPr>
            <a:r>
              <a:rPr lang="en" sz="1800" b="0" i="0" u="none" strike="noStrike" cap="none">
                <a:solidFill>
                  <a:srgbClr val="FFFFFF"/>
                </a:solidFill>
                <a:latin typeface="Arial"/>
                <a:ea typeface="Open Sans"/>
                <a:cs typeface="Open Sans"/>
                <a:sym typeface="Open Sans"/>
              </a:rPr>
              <a:t>Extend integrations</a:t>
            </a:r>
            <a:endParaRPr sz="1400" b="0" i="0" u="none" strike="noStrike" cap="none">
              <a:solidFill>
                <a:srgbClr val="FFFFFF"/>
              </a:solidFill>
              <a:latin typeface="Open Sans"/>
              <a:ea typeface="Open Sans"/>
              <a:cs typeface="Open Sans"/>
              <a:sym typeface="Open Sans"/>
            </a:endParaRPr>
          </a:p>
        </p:txBody>
      </p:sp>
      <p:sp>
        <p:nvSpPr>
          <p:cNvPr id="372" name="Google Shape;372;p61"/>
          <p:cNvSpPr txBox="1"/>
          <p:nvPr/>
        </p:nvSpPr>
        <p:spPr>
          <a:xfrm>
            <a:off x="228600" y="1938528"/>
            <a:ext cx="2926080" cy="1261872"/>
          </a:xfrm>
          <a:prstGeom prst="rect">
            <a:avLst/>
          </a:prstGeom>
          <a:noFill/>
          <a:ln>
            <a:noFill/>
          </a:ln>
        </p:spPr>
        <p:txBody>
          <a:bodyPr spcFirstLastPara="1" wrap="square" lIns="18288" tIns="18288" rIns="18288" bIns="18288" anchor="ctr" anchorCtr="0">
            <a:spAutoFit/>
          </a:bodyPr>
          <a:lstStyle/>
          <a:p>
            <a:pPr marL="0" marR="0" lvl="0" indent="0" algn="ctr" rtl="0">
              <a:lnSpc>
                <a:spcPct val="115000"/>
              </a:lnSpc>
              <a:spcBef>
                <a:spcPts val="0"/>
              </a:spcBef>
              <a:spcAft>
                <a:spcPts val="0"/>
              </a:spcAft>
              <a:buClr>
                <a:srgbClr val="000000"/>
              </a:buClr>
              <a:buSzPts val="2400"/>
              <a:buFont typeface="Arial"/>
              <a:buNone/>
            </a:pPr>
            <a:r>
              <a:rPr sz="2400">
                <a:solidFill>
                  <a:srgbClr val="FFFFFF"/>
                </a:solidFill>
                <a:latin typeface="Arial"/>
              </a:rPr>
              <a:t>Going</a:t>
            </a:r>
            <a:endParaRPr sz="2400" b="0" i="0" u="none" strike="noStrike" cap="none">
              <a:solidFill>
                <a:srgbClr val="FFFFFF"/>
              </a:solidFill>
              <a:latin typeface="Open Sans"/>
              <a:ea typeface="Open Sans"/>
              <a:cs typeface="Open Sans"/>
              <a:sym typeface="Open Sans"/>
            </a:endParaRPr>
          </a:p>
          <a:p>
            <a:pPr algn="ctr">
              <a:spcBef>
                <a:spcPts val="0"/>
              </a:spcBef>
              <a:spcAft>
                <a:spcPts val="0"/>
              </a:spcAft>
            </a:pPr>
            <a:r>
              <a:rPr sz="2400">
                <a:solidFill>
                  <a:srgbClr val="FFFFFF"/>
                </a:solidFill>
                <a:latin typeface="Arial"/>
              </a:rPr>
              <a:t>forward</a:t>
            </a:r>
          </a:p>
        </p:txBody>
      </p:sp>
      <p:cxnSp>
        <p:nvCxnSpPr>
          <p:cNvPr id="373" name="Google Shape;373;p61"/>
          <p:cNvCxnSpPr/>
          <p:nvPr/>
        </p:nvCxnSpPr>
        <p:spPr>
          <a:xfrm>
            <a:off x="3460100" y="1032150"/>
            <a:ext cx="36600" cy="3079200"/>
          </a:xfrm>
          <a:prstGeom prst="straightConnector1">
            <a:avLst/>
          </a:prstGeom>
          <a:noFill/>
          <a:ln w="19050" cap="flat" cmpd="sng">
            <a:solidFill>
              <a:srgbClr val="FFFFFF"/>
            </a:solidFill>
            <a:prstDash val="solid"/>
            <a:round/>
            <a:headEnd type="none" w="sm" len="sm"/>
            <a:tailEnd type="none" w="sm" len="sm"/>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62"/>
          <p:cNvSpPr txBox="1"/>
          <p:nvPr/>
        </p:nvSpPr>
        <p:spPr>
          <a:xfrm>
            <a:off x="517675" y="524338"/>
            <a:ext cx="4931100" cy="554100"/>
          </a:xfrm>
          <a:prstGeom prst="rect">
            <a:avLst/>
          </a:prstGeom>
          <a:noFill/>
          <a:ln>
            <a:noFill/>
          </a:ln>
        </p:spPr>
        <p:txBody>
          <a:bodyPr spcFirstLastPara="1" wrap="square" lIns="0"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200" b="0" i="0" u="none" strike="noStrike" cap="none">
                <a:solidFill>
                  <a:srgbClr val="3C4043"/>
                </a:solidFill>
                <a:latin typeface="Arial"/>
                <a:ea typeface="Open Sans"/>
                <a:cs typeface="Open Sans"/>
                <a:sym typeface="Open Sans"/>
              </a:rPr>
              <a:t>Takeaways</a:t>
            </a:r>
            <a:endParaRPr sz="2400" b="0" i="0" u="none" strike="noStrike" cap="none">
              <a:solidFill>
                <a:srgbClr val="5F6368"/>
              </a:solidFill>
              <a:latin typeface="Open Sans"/>
              <a:ea typeface="Open Sans"/>
              <a:cs typeface="Open Sans"/>
              <a:sym typeface="Open Sans"/>
            </a:endParaRPr>
          </a:p>
        </p:txBody>
      </p:sp>
      <p:sp>
        <p:nvSpPr>
          <p:cNvPr id="379" name="Google Shape;379;p62"/>
          <p:cNvSpPr txBox="1"/>
          <p:nvPr/>
        </p:nvSpPr>
        <p:spPr>
          <a:xfrm>
            <a:off x="539600" y="2237975"/>
            <a:ext cx="3446100" cy="2077800"/>
          </a:xfrm>
          <a:prstGeom prst="rect">
            <a:avLst/>
          </a:prstGeom>
          <a:noFill/>
          <a:ln>
            <a:noFill/>
          </a:ln>
        </p:spPr>
        <p:txBody>
          <a:bodyPr spcFirstLastPara="1" wrap="square" lIns="0"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400" b="0" i="0" u="none" strike="noStrike" cap="none">
                <a:solidFill>
                  <a:srgbClr val="3C4043"/>
                </a:solidFill>
                <a:latin typeface="Arial"/>
                <a:ea typeface="Open Sans SemiBold"/>
                <a:cs typeface="Open Sans SemiBold"/>
                <a:sym typeface="Open Sans SemiBold"/>
              </a:rPr>
              <a:t>Impact:</a:t>
            </a:r>
            <a:endParaRPr sz="1400" b="0" i="0" u="none" strike="noStrike" cap="none">
              <a:solidFill>
                <a:srgbClr val="5F6368"/>
              </a:solidFill>
              <a:latin typeface="Open Sans SemiBold"/>
              <a:ea typeface="Open Sans SemiBold"/>
              <a:cs typeface="Open Sans SemiBold"/>
              <a:sym typeface="Open Sans SemiBold"/>
            </a:endParaRPr>
          </a:p>
          <a:p>
            <a:pPr marL="0" marR="0" lvl="0" indent="0" algn="l" rtl="0">
              <a:lnSpc>
                <a:spcPct val="150000"/>
              </a:lnSpc>
              <a:spcBef>
                <a:spcPts val="0"/>
              </a:spcBef>
              <a:spcAft>
                <a:spcPts val="0"/>
              </a:spcAft>
              <a:buClr>
                <a:srgbClr val="000000"/>
              </a:buClr>
              <a:buSzPts val="1200"/>
              <a:buFont typeface="Arial"/>
              <a:buNone/>
            </a:pPr>
            <a:r>
              <a:rPr lang="en" sz="1080" b="0" i="0" u="none" strike="noStrike" cap="none">
                <a:solidFill>
                  <a:srgbClr val="5F6368"/>
                </a:solidFill>
                <a:latin typeface="Arial"/>
                <a:ea typeface="Open Sans"/>
                <a:cs typeface="Open Sans"/>
                <a:sym typeface="Open Sans"/>
              </a:rPr>
              <a:t>The prototype demonstrates an end-to-end path for lead intake, scoring, consent-aware routing, and human review. Synthetic runs covered HOT, nurture, duplicate, opt-out, incomplete-submission, and prompt-injection cases. No live conversion or productivity metrics are claimed.</a:t>
            </a:r>
            <a:br>
              <a:rPr lang="en" sz="1200" b="0" i="0" u="none" strike="noStrike" cap="none">
                <a:solidFill>
                  <a:srgbClr val="5F6368"/>
                </a:solidFill>
                <a:latin typeface="Open Sans"/>
                <a:ea typeface="Open Sans"/>
                <a:cs typeface="Open Sans"/>
                <a:sym typeface="Open Sans"/>
              </a:rPr>
            </a:br>
            <a:br>
              <a:rPr lang="en" sz="1200" b="0" i="0" u="none" strike="noStrike" cap="none">
                <a:solidFill>
                  <a:srgbClr val="5F6368"/>
                </a:solidFill>
                <a:latin typeface="Open Sans"/>
                <a:ea typeface="Open Sans"/>
                <a:cs typeface="Open Sans"/>
                <a:sym typeface="Open Sans"/>
              </a:rPr>
            </a:br>
            <a:endParaRPr sz="1200" b="1" i="0" u="none" strike="noStrike" cap="none">
              <a:solidFill>
                <a:srgbClr val="1967D2"/>
              </a:solidFill>
              <a:latin typeface="Open Sans"/>
              <a:ea typeface="Open Sans"/>
              <a:cs typeface="Open Sans"/>
              <a:sym typeface="Open Sans"/>
            </a:endParaRPr>
          </a:p>
        </p:txBody>
      </p:sp>
      <p:sp>
        <p:nvSpPr>
          <p:cNvPr id="380" name="Google Shape;380;p62"/>
          <p:cNvSpPr/>
          <p:nvPr/>
        </p:nvSpPr>
        <p:spPr>
          <a:xfrm>
            <a:off x="539600" y="1534000"/>
            <a:ext cx="513300" cy="513300"/>
          </a:xfrm>
          <a:prstGeom prst="ellipse">
            <a:avLst/>
          </a:prstGeom>
          <a:solidFill>
            <a:srgbClr val="5F636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1" name="Google Shape;381;p62"/>
          <p:cNvSpPr txBox="1"/>
          <p:nvPr/>
        </p:nvSpPr>
        <p:spPr>
          <a:xfrm>
            <a:off x="4495800" y="2237975"/>
            <a:ext cx="3446100" cy="969600"/>
          </a:xfrm>
          <a:prstGeom prst="rect">
            <a:avLst/>
          </a:prstGeom>
          <a:noFill/>
          <a:ln>
            <a:noFill/>
          </a:ln>
        </p:spPr>
        <p:txBody>
          <a:bodyPr spcFirstLastPara="1" wrap="square" lIns="0"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400" b="0" i="0" u="none" strike="noStrike" cap="none">
                <a:solidFill>
                  <a:srgbClr val="3C4043"/>
                </a:solidFill>
                <a:latin typeface="Arial"/>
                <a:ea typeface="Open Sans SemiBold"/>
                <a:cs typeface="Open Sans SemiBold"/>
                <a:sym typeface="Open Sans SemiBold"/>
              </a:rPr>
              <a:t>What I learned:</a:t>
            </a:r>
            <a:endParaRPr sz="1400" b="0" i="0" u="none" strike="noStrike" cap="none">
              <a:solidFill>
                <a:srgbClr val="5F6368"/>
              </a:solidFill>
              <a:latin typeface="Open Sans SemiBold"/>
              <a:ea typeface="Open Sans SemiBold"/>
              <a:cs typeface="Open Sans SemiBold"/>
              <a:sym typeface="Open Sans SemiBold"/>
            </a:endParaRPr>
          </a:p>
          <a:p>
            <a:pPr marL="0" marR="0" lvl="0" indent="0" algn="l" rtl="0">
              <a:lnSpc>
                <a:spcPct val="150000"/>
              </a:lnSpc>
              <a:spcBef>
                <a:spcPts val="0"/>
              </a:spcBef>
              <a:spcAft>
                <a:spcPts val="0"/>
              </a:spcAft>
              <a:buClr>
                <a:srgbClr val="000000"/>
              </a:buClr>
              <a:buSzPts val="1200"/>
              <a:buFont typeface="Arial"/>
              <a:buNone/>
            </a:pPr>
            <a:r>
              <a:rPr lang="en" sz="1080" b="0" i="0" u="none" strike="noStrike" cap="none">
                <a:solidFill>
                  <a:srgbClr val="5F6368"/>
                </a:solidFill>
                <a:latin typeface="Arial"/>
                <a:ea typeface="Open Sans"/>
                <a:cs typeface="Open Sans"/>
                <a:sym typeface="Open Sans"/>
              </a:rPr>
              <a:t>Reliable AI automation depends on deterministic gates around the model. Use AI for structured support, but keep consent, score thresholds, duplicate handling, approval, and send permissions explicit. Production readiness is as much about credentials, data policy, and race conditions as it is about the happy path.</a:t>
            </a:r>
            <a:endParaRPr sz="1200" b="1" i="0" u="none" strike="noStrike" cap="none">
              <a:solidFill>
                <a:srgbClr val="4285F4"/>
              </a:solidFill>
              <a:latin typeface="Open Sans"/>
              <a:ea typeface="Open Sans"/>
              <a:cs typeface="Open Sans"/>
              <a:sym typeface="Open Sans"/>
            </a:endParaRPr>
          </a:p>
        </p:txBody>
      </p:sp>
      <p:sp>
        <p:nvSpPr>
          <p:cNvPr id="382" name="Google Shape;382;p62"/>
          <p:cNvSpPr/>
          <p:nvPr/>
        </p:nvSpPr>
        <p:spPr>
          <a:xfrm>
            <a:off x="4495800" y="1534000"/>
            <a:ext cx="513300" cy="513300"/>
          </a:xfrm>
          <a:prstGeom prst="ellipse">
            <a:avLst/>
          </a:prstGeom>
          <a:solidFill>
            <a:srgbClr val="5F636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3" name="Google Shape;383;p62"/>
          <p:cNvSpPr/>
          <p:nvPr/>
        </p:nvSpPr>
        <p:spPr>
          <a:xfrm>
            <a:off x="679050" y="1660250"/>
            <a:ext cx="234394" cy="260801"/>
          </a:xfrm>
          <a:custGeom>
            <a:avLst/>
            <a:gdLst/>
            <a:ahLst/>
            <a:cxnLst/>
            <a:rect l="l" t="t" r="r" b="b"/>
            <a:pathLst>
              <a:path w="941" h="1045" extrusionOk="0">
                <a:moveTo>
                  <a:pt x="833" y="105"/>
                </a:moveTo>
                <a:lnTo>
                  <a:pt x="616" y="105"/>
                </a:lnTo>
                <a:cubicBezTo>
                  <a:pt x="593" y="45"/>
                  <a:pt x="536" y="0"/>
                  <a:pt x="469" y="0"/>
                </a:cubicBezTo>
                <a:cubicBezTo>
                  <a:pt x="401" y="0"/>
                  <a:pt x="345" y="45"/>
                  <a:pt x="322" y="105"/>
                </a:cubicBezTo>
                <a:lnTo>
                  <a:pt x="105" y="105"/>
                </a:lnTo>
                <a:cubicBezTo>
                  <a:pt x="48" y="105"/>
                  <a:pt x="0" y="153"/>
                  <a:pt x="0" y="209"/>
                </a:cubicBezTo>
                <a:lnTo>
                  <a:pt x="0" y="940"/>
                </a:lnTo>
                <a:cubicBezTo>
                  <a:pt x="0" y="997"/>
                  <a:pt x="48" y="1044"/>
                  <a:pt x="105" y="1044"/>
                </a:cubicBezTo>
                <a:lnTo>
                  <a:pt x="836" y="1044"/>
                </a:lnTo>
                <a:cubicBezTo>
                  <a:pt x="892" y="1044"/>
                  <a:pt x="940" y="997"/>
                  <a:pt x="940" y="940"/>
                </a:cubicBezTo>
                <a:lnTo>
                  <a:pt x="940" y="209"/>
                </a:lnTo>
                <a:cubicBezTo>
                  <a:pt x="937" y="153"/>
                  <a:pt x="889" y="105"/>
                  <a:pt x="833" y="105"/>
                </a:cubicBezTo>
                <a:close/>
                <a:moveTo>
                  <a:pt x="466" y="105"/>
                </a:moveTo>
                <a:cubicBezTo>
                  <a:pt x="494" y="105"/>
                  <a:pt x="520" y="127"/>
                  <a:pt x="520" y="158"/>
                </a:cubicBezTo>
                <a:cubicBezTo>
                  <a:pt x="520" y="187"/>
                  <a:pt x="497" y="212"/>
                  <a:pt x="466" y="212"/>
                </a:cubicBezTo>
                <a:cubicBezTo>
                  <a:pt x="435" y="212"/>
                  <a:pt x="412" y="189"/>
                  <a:pt x="412" y="158"/>
                </a:cubicBezTo>
                <a:cubicBezTo>
                  <a:pt x="415" y="127"/>
                  <a:pt x="438" y="105"/>
                  <a:pt x="466" y="105"/>
                </a:cubicBezTo>
                <a:close/>
                <a:moveTo>
                  <a:pt x="362" y="836"/>
                </a:moveTo>
                <a:lnTo>
                  <a:pt x="153" y="627"/>
                </a:lnTo>
                <a:lnTo>
                  <a:pt x="226" y="553"/>
                </a:lnTo>
                <a:lnTo>
                  <a:pt x="362" y="689"/>
                </a:lnTo>
                <a:lnTo>
                  <a:pt x="706" y="345"/>
                </a:lnTo>
                <a:lnTo>
                  <a:pt x="779" y="418"/>
                </a:lnTo>
                <a:lnTo>
                  <a:pt x="362" y="836"/>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nvGrpSpPr>
          <p:cNvPr id="384" name="Google Shape;384;p62"/>
          <p:cNvGrpSpPr/>
          <p:nvPr/>
        </p:nvGrpSpPr>
        <p:grpSpPr>
          <a:xfrm>
            <a:off x="4605678" y="1676963"/>
            <a:ext cx="293543" cy="227362"/>
            <a:chOff x="420350" y="238125"/>
            <a:chExt cx="6779275" cy="5238750"/>
          </a:xfrm>
        </p:grpSpPr>
        <p:sp>
          <p:nvSpPr>
            <p:cNvPr id="385" name="Google Shape;385;p62"/>
            <p:cNvSpPr/>
            <p:nvPr/>
          </p:nvSpPr>
          <p:spPr>
            <a:xfrm>
              <a:off x="420350" y="238125"/>
              <a:ext cx="6779275" cy="5238750"/>
            </a:xfrm>
            <a:custGeom>
              <a:avLst/>
              <a:gdLst/>
              <a:ahLst/>
              <a:cxnLst/>
              <a:rect l="l" t="t" r="r" b="b"/>
              <a:pathLst>
                <a:path w="271171" h="209550" extrusionOk="0">
                  <a:moveTo>
                    <a:pt x="203423" y="24684"/>
                  </a:moveTo>
                  <a:lnTo>
                    <a:pt x="208928" y="24773"/>
                  </a:lnTo>
                  <a:lnTo>
                    <a:pt x="214433" y="25039"/>
                  </a:lnTo>
                  <a:lnTo>
                    <a:pt x="219938" y="25483"/>
                  </a:lnTo>
                  <a:lnTo>
                    <a:pt x="225443" y="26105"/>
                  </a:lnTo>
                  <a:lnTo>
                    <a:pt x="228107" y="26549"/>
                  </a:lnTo>
                  <a:lnTo>
                    <a:pt x="230859" y="26993"/>
                  </a:lnTo>
                  <a:lnTo>
                    <a:pt x="233523" y="27437"/>
                  </a:lnTo>
                  <a:lnTo>
                    <a:pt x="236187" y="28058"/>
                  </a:lnTo>
                  <a:lnTo>
                    <a:pt x="238762" y="28680"/>
                  </a:lnTo>
                  <a:lnTo>
                    <a:pt x="241426" y="29301"/>
                  </a:lnTo>
                  <a:lnTo>
                    <a:pt x="244001" y="30012"/>
                  </a:lnTo>
                  <a:lnTo>
                    <a:pt x="246576" y="30811"/>
                  </a:lnTo>
                  <a:lnTo>
                    <a:pt x="246576" y="172612"/>
                  </a:lnTo>
                  <a:lnTo>
                    <a:pt x="244001" y="171813"/>
                  </a:lnTo>
                  <a:lnTo>
                    <a:pt x="241426" y="171103"/>
                  </a:lnTo>
                  <a:lnTo>
                    <a:pt x="238762" y="170393"/>
                  </a:lnTo>
                  <a:lnTo>
                    <a:pt x="236187" y="169771"/>
                  </a:lnTo>
                  <a:lnTo>
                    <a:pt x="233523" y="169238"/>
                  </a:lnTo>
                  <a:lnTo>
                    <a:pt x="230859" y="168706"/>
                  </a:lnTo>
                  <a:lnTo>
                    <a:pt x="228107" y="168262"/>
                  </a:lnTo>
                  <a:lnTo>
                    <a:pt x="225443" y="167906"/>
                  </a:lnTo>
                  <a:lnTo>
                    <a:pt x="219938" y="167196"/>
                  </a:lnTo>
                  <a:lnTo>
                    <a:pt x="214433" y="166752"/>
                  </a:lnTo>
                  <a:lnTo>
                    <a:pt x="208928" y="166486"/>
                  </a:lnTo>
                  <a:lnTo>
                    <a:pt x="203423" y="166397"/>
                  </a:lnTo>
                  <a:lnTo>
                    <a:pt x="199338" y="166486"/>
                  </a:lnTo>
                  <a:lnTo>
                    <a:pt x="195165" y="166752"/>
                  </a:lnTo>
                  <a:lnTo>
                    <a:pt x="190814" y="167196"/>
                  </a:lnTo>
                  <a:lnTo>
                    <a:pt x="186286" y="167818"/>
                  </a:lnTo>
                  <a:lnTo>
                    <a:pt x="181757" y="168617"/>
                  </a:lnTo>
                  <a:lnTo>
                    <a:pt x="177140" y="169505"/>
                  </a:lnTo>
                  <a:lnTo>
                    <a:pt x="172523" y="170570"/>
                  </a:lnTo>
                  <a:lnTo>
                    <a:pt x="167906" y="171724"/>
                  </a:lnTo>
                  <a:lnTo>
                    <a:pt x="163289" y="173056"/>
                  </a:lnTo>
                  <a:lnTo>
                    <a:pt x="158849" y="174477"/>
                  </a:lnTo>
                  <a:lnTo>
                    <a:pt x="154498" y="175986"/>
                  </a:lnTo>
                  <a:lnTo>
                    <a:pt x="150236" y="177585"/>
                  </a:lnTo>
                  <a:lnTo>
                    <a:pt x="146241" y="179272"/>
                  </a:lnTo>
                  <a:lnTo>
                    <a:pt x="142422" y="181136"/>
                  </a:lnTo>
                  <a:lnTo>
                    <a:pt x="138871" y="183001"/>
                  </a:lnTo>
                  <a:lnTo>
                    <a:pt x="135586" y="184866"/>
                  </a:lnTo>
                  <a:lnTo>
                    <a:pt x="135586" y="43153"/>
                  </a:lnTo>
                  <a:lnTo>
                    <a:pt x="138871" y="41200"/>
                  </a:lnTo>
                  <a:lnTo>
                    <a:pt x="142422" y="39335"/>
                  </a:lnTo>
                  <a:lnTo>
                    <a:pt x="146241" y="37559"/>
                  </a:lnTo>
                  <a:lnTo>
                    <a:pt x="150236" y="35783"/>
                  </a:lnTo>
                  <a:lnTo>
                    <a:pt x="154498" y="34185"/>
                  </a:lnTo>
                  <a:lnTo>
                    <a:pt x="158849" y="32676"/>
                  </a:lnTo>
                  <a:lnTo>
                    <a:pt x="163289" y="31255"/>
                  </a:lnTo>
                  <a:lnTo>
                    <a:pt x="167906" y="29923"/>
                  </a:lnTo>
                  <a:lnTo>
                    <a:pt x="172523" y="28769"/>
                  </a:lnTo>
                  <a:lnTo>
                    <a:pt x="177140" y="27703"/>
                  </a:lnTo>
                  <a:lnTo>
                    <a:pt x="181757" y="26815"/>
                  </a:lnTo>
                  <a:lnTo>
                    <a:pt x="186286" y="26016"/>
                  </a:lnTo>
                  <a:lnTo>
                    <a:pt x="190814" y="25483"/>
                  </a:lnTo>
                  <a:lnTo>
                    <a:pt x="195165" y="25039"/>
                  </a:lnTo>
                  <a:lnTo>
                    <a:pt x="199338" y="24773"/>
                  </a:lnTo>
                  <a:lnTo>
                    <a:pt x="203423" y="24684"/>
                  </a:lnTo>
                  <a:close/>
                  <a:moveTo>
                    <a:pt x="67748" y="0"/>
                  </a:moveTo>
                  <a:lnTo>
                    <a:pt x="63220" y="89"/>
                  </a:lnTo>
                  <a:lnTo>
                    <a:pt x="58692" y="266"/>
                  </a:lnTo>
                  <a:lnTo>
                    <a:pt x="54163" y="533"/>
                  </a:lnTo>
                  <a:lnTo>
                    <a:pt x="49546" y="977"/>
                  </a:lnTo>
                  <a:lnTo>
                    <a:pt x="45018" y="1509"/>
                  </a:lnTo>
                  <a:lnTo>
                    <a:pt x="40489" y="2220"/>
                  </a:lnTo>
                  <a:lnTo>
                    <a:pt x="35961" y="3108"/>
                  </a:lnTo>
                  <a:lnTo>
                    <a:pt x="31610" y="4173"/>
                  </a:lnTo>
                  <a:lnTo>
                    <a:pt x="27259" y="5328"/>
                  </a:lnTo>
                  <a:lnTo>
                    <a:pt x="22908" y="6659"/>
                  </a:lnTo>
                  <a:lnTo>
                    <a:pt x="18824" y="8169"/>
                  </a:lnTo>
                  <a:lnTo>
                    <a:pt x="16782" y="8968"/>
                  </a:lnTo>
                  <a:lnTo>
                    <a:pt x="14739" y="9856"/>
                  </a:lnTo>
                  <a:lnTo>
                    <a:pt x="12786" y="10744"/>
                  </a:lnTo>
                  <a:lnTo>
                    <a:pt x="10833" y="11721"/>
                  </a:lnTo>
                  <a:lnTo>
                    <a:pt x="8879" y="12697"/>
                  </a:lnTo>
                  <a:lnTo>
                    <a:pt x="7015" y="13763"/>
                  </a:lnTo>
                  <a:lnTo>
                    <a:pt x="5239" y="14917"/>
                  </a:lnTo>
                  <a:lnTo>
                    <a:pt x="3463" y="16071"/>
                  </a:lnTo>
                  <a:lnTo>
                    <a:pt x="1687" y="17226"/>
                  </a:lnTo>
                  <a:lnTo>
                    <a:pt x="0" y="18469"/>
                  </a:lnTo>
                  <a:lnTo>
                    <a:pt x="0" y="199073"/>
                  </a:lnTo>
                  <a:lnTo>
                    <a:pt x="0" y="199694"/>
                  </a:lnTo>
                  <a:lnTo>
                    <a:pt x="89" y="200227"/>
                  </a:lnTo>
                  <a:lnTo>
                    <a:pt x="266" y="200760"/>
                  </a:lnTo>
                  <a:lnTo>
                    <a:pt x="533" y="201381"/>
                  </a:lnTo>
                  <a:lnTo>
                    <a:pt x="799" y="201914"/>
                  </a:lnTo>
                  <a:lnTo>
                    <a:pt x="1154" y="202358"/>
                  </a:lnTo>
                  <a:lnTo>
                    <a:pt x="1865" y="203335"/>
                  </a:lnTo>
                  <a:lnTo>
                    <a:pt x="2841" y="204134"/>
                  </a:lnTo>
                  <a:lnTo>
                    <a:pt x="3374" y="204400"/>
                  </a:lnTo>
                  <a:lnTo>
                    <a:pt x="3907" y="204755"/>
                  </a:lnTo>
                  <a:lnTo>
                    <a:pt x="4440" y="204933"/>
                  </a:lnTo>
                  <a:lnTo>
                    <a:pt x="4972" y="205110"/>
                  </a:lnTo>
                  <a:lnTo>
                    <a:pt x="5594" y="205199"/>
                  </a:lnTo>
                  <a:lnTo>
                    <a:pt x="6127" y="205288"/>
                  </a:lnTo>
                  <a:lnTo>
                    <a:pt x="6571" y="205199"/>
                  </a:lnTo>
                  <a:lnTo>
                    <a:pt x="7015" y="205110"/>
                  </a:lnTo>
                  <a:lnTo>
                    <a:pt x="7725" y="204933"/>
                  </a:lnTo>
                  <a:lnTo>
                    <a:pt x="8435" y="204755"/>
                  </a:lnTo>
                  <a:lnTo>
                    <a:pt x="8790" y="204666"/>
                  </a:lnTo>
                  <a:lnTo>
                    <a:pt x="9234" y="204666"/>
                  </a:lnTo>
                  <a:lnTo>
                    <a:pt x="12431" y="203157"/>
                  </a:lnTo>
                  <a:lnTo>
                    <a:pt x="15805" y="201736"/>
                  </a:lnTo>
                  <a:lnTo>
                    <a:pt x="19268" y="200404"/>
                  </a:lnTo>
                  <a:lnTo>
                    <a:pt x="22908" y="199161"/>
                  </a:lnTo>
                  <a:lnTo>
                    <a:pt x="26549" y="197918"/>
                  </a:lnTo>
                  <a:lnTo>
                    <a:pt x="30367" y="196853"/>
                  </a:lnTo>
                  <a:lnTo>
                    <a:pt x="34185" y="195787"/>
                  </a:lnTo>
                  <a:lnTo>
                    <a:pt x="38003" y="194810"/>
                  </a:lnTo>
                  <a:lnTo>
                    <a:pt x="41910" y="194011"/>
                  </a:lnTo>
                  <a:lnTo>
                    <a:pt x="45817" y="193212"/>
                  </a:lnTo>
                  <a:lnTo>
                    <a:pt x="49635" y="192591"/>
                  </a:lnTo>
                  <a:lnTo>
                    <a:pt x="53453" y="192058"/>
                  </a:lnTo>
                  <a:lnTo>
                    <a:pt x="57182" y="191614"/>
                  </a:lnTo>
                  <a:lnTo>
                    <a:pt x="60823" y="191348"/>
                  </a:lnTo>
                  <a:lnTo>
                    <a:pt x="64374" y="191170"/>
                  </a:lnTo>
                  <a:lnTo>
                    <a:pt x="67748" y="191081"/>
                  </a:lnTo>
                  <a:lnTo>
                    <a:pt x="72277" y="191170"/>
                  </a:lnTo>
                  <a:lnTo>
                    <a:pt x="76894" y="191348"/>
                  </a:lnTo>
                  <a:lnTo>
                    <a:pt x="81422" y="191614"/>
                  </a:lnTo>
                  <a:lnTo>
                    <a:pt x="86040" y="192058"/>
                  </a:lnTo>
                  <a:lnTo>
                    <a:pt x="90568" y="192591"/>
                  </a:lnTo>
                  <a:lnTo>
                    <a:pt x="95096" y="193390"/>
                  </a:lnTo>
                  <a:lnTo>
                    <a:pt x="99536" y="194189"/>
                  </a:lnTo>
                  <a:lnTo>
                    <a:pt x="103976" y="195254"/>
                  </a:lnTo>
                  <a:lnTo>
                    <a:pt x="108326" y="196409"/>
                  </a:lnTo>
                  <a:lnTo>
                    <a:pt x="112588" y="197741"/>
                  </a:lnTo>
                  <a:lnTo>
                    <a:pt x="116762" y="199250"/>
                  </a:lnTo>
                  <a:lnTo>
                    <a:pt x="118804" y="200049"/>
                  </a:lnTo>
                  <a:lnTo>
                    <a:pt x="120846" y="200937"/>
                  </a:lnTo>
                  <a:lnTo>
                    <a:pt x="122799" y="201825"/>
                  </a:lnTo>
                  <a:lnTo>
                    <a:pt x="124753" y="202802"/>
                  </a:lnTo>
                  <a:lnTo>
                    <a:pt x="126618" y="203867"/>
                  </a:lnTo>
                  <a:lnTo>
                    <a:pt x="128482" y="204844"/>
                  </a:lnTo>
                  <a:lnTo>
                    <a:pt x="130347" y="205998"/>
                  </a:lnTo>
                  <a:lnTo>
                    <a:pt x="132123" y="207153"/>
                  </a:lnTo>
                  <a:lnTo>
                    <a:pt x="133898" y="208307"/>
                  </a:lnTo>
                  <a:lnTo>
                    <a:pt x="135586" y="209550"/>
                  </a:lnTo>
                  <a:lnTo>
                    <a:pt x="138871" y="207597"/>
                  </a:lnTo>
                  <a:lnTo>
                    <a:pt x="142422" y="205732"/>
                  </a:lnTo>
                  <a:lnTo>
                    <a:pt x="146241" y="203956"/>
                  </a:lnTo>
                  <a:lnTo>
                    <a:pt x="150236" y="202269"/>
                  </a:lnTo>
                  <a:lnTo>
                    <a:pt x="154498" y="200671"/>
                  </a:lnTo>
                  <a:lnTo>
                    <a:pt x="158849" y="199073"/>
                  </a:lnTo>
                  <a:lnTo>
                    <a:pt x="163289" y="197652"/>
                  </a:lnTo>
                  <a:lnTo>
                    <a:pt x="167906" y="196409"/>
                  </a:lnTo>
                  <a:lnTo>
                    <a:pt x="172523" y="195166"/>
                  </a:lnTo>
                  <a:lnTo>
                    <a:pt x="177140" y="194189"/>
                  </a:lnTo>
                  <a:lnTo>
                    <a:pt x="181757" y="193212"/>
                  </a:lnTo>
                  <a:lnTo>
                    <a:pt x="186286" y="192502"/>
                  </a:lnTo>
                  <a:lnTo>
                    <a:pt x="190814" y="191880"/>
                  </a:lnTo>
                  <a:lnTo>
                    <a:pt x="195165" y="191436"/>
                  </a:lnTo>
                  <a:lnTo>
                    <a:pt x="199338" y="191170"/>
                  </a:lnTo>
                  <a:lnTo>
                    <a:pt x="203423" y="191081"/>
                  </a:lnTo>
                  <a:lnTo>
                    <a:pt x="207241" y="191081"/>
                  </a:lnTo>
                  <a:lnTo>
                    <a:pt x="211059" y="191259"/>
                  </a:lnTo>
                  <a:lnTo>
                    <a:pt x="214877" y="191436"/>
                  </a:lnTo>
                  <a:lnTo>
                    <a:pt x="218695" y="191792"/>
                  </a:lnTo>
                  <a:lnTo>
                    <a:pt x="222513" y="192235"/>
                  </a:lnTo>
                  <a:lnTo>
                    <a:pt x="226331" y="192768"/>
                  </a:lnTo>
                  <a:lnTo>
                    <a:pt x="230060" y="193390"/>
                  </a:lnTo>
                  <a:lnTo>
                    <a:pt x="233790" y="194100"/>
                  </a:lnTo>
                  <a:lnTo>
                    <a:pt x="237519" y="194899"/>
                  </a:lnTo>
                  <a:lnTo>
                    <a:pt x="241159" y="195876"/>
                  </a:lnTo>
                  <a:lnTo>
                    <a:pt x="244800" y="196941"/>
                  </a:lnTo>
                  <a:lnTo>
                    <a:pt x="248351" y="198096"/>
                  </a:lnTo>
                  <a:lnTo>
                    <a:pt x="251903" y="199428"/>
                  </a:lnTo>
                  <a:lnTo>
                    <a:pt x="255277" y="200848"/>
                  </a:lnTo>
                  <a:lnTo>
                    <a:pt x="258651" y="202358"/>
                  </a:lnTo>
                  <a:lnTo>
                    <a:pt x="261937" y="204045"/>
                  </a:lnTo>
                  <a:lnTo>
                    <a:pt x="262736" y="204400"/>
                  </a:lnTo>
                  <a:lnTo>
                    <a:pt x="263446" y="204578"/>
                  </a:lnTo>
                  <a:lnTo>
                    <a:pt x="264156" y="204666"/>
                  </a:lnTo>
                  <a:lnTo>
                    <a:pt x="265044" y="204666"/>
                  </a:lnTo>
                  <a:lnTo>
                    <a:pt x="265577" y="204578"/>
                  </a:lnTo>
                  <a:lnTo>
                    <a:pt x="266199" y="204489"/>
                  </a:lnTo>
                  <a:lnTo>
                    <a:pt x="266731" y="204311"/>
                  </a:lnTo>
                  <a:lnTo>
                    <a:pt x="267264" y="204134"/>
                  </a:lnTo>
                  <a:lnTo>
                    <a:pt x="267797" y="203867"/>
                  </a:lnTo>
                  <a:lnTo>
                    <a:pt x="268330" y="203512"/>
                  </a:lnTo>
                  <a:lnTo>
                    <a:pt x="269306" y="202713"/>
                  </a:lnTo>
                  <a:lnTo>
                    <a:pt x="270017" y="201736"/>
                  </a:lnTo>
                  <a:lnTo>
                    <a:pt x="270372" y="201292"/>
                  </a:lnTo>
                  <a:lnTo>
                    <a:pt x="270638" y="200760"/>
                  </a:lnTo>
                  <a:lnTo>
                    <a:pt x="270905" y="200138"/>
                  </a:lnTo>
                  <a:lnTo>
                    <a:pt x="271082" y="199605"/>
                  </a:lnTo>
                  <a:lnTo>
                    <a:pt x="271171" y="199073"/>
                  </a:lnTo>
                  <a:lnTo>
                    <a:pt x="271171" y="198451"/>
                  </a:lnTo>
                  <a:lnTo>
                    <a:pt x="271171" y="18469"/>
                  </a:lnTo>
                  <a:lnTo>
                    <a:pt x="268418" y="16515"/>
                  </a:lnTo>
                  <a:lnTo>
                    <a:pt x="265488" y="14651"/>
                  </a:lnTo>
                  <a:lnTo>
                    <a:pt x="262558" y="12964"/>
                  </a:lnTo>
                  <a:lnTo>
                    <a:pt x="259539" y="11365"/>
                  </a:lnTo>
                  <a:lnTo>
                    <a:pt x="256432" y="9945"/>
                  </a:lnTo>
                  <a:lnTo>
                    <a:pt x="253235" y="8613"/>
                  </a:lnTo>
                  <a:lnTo>
                    <a:pt x="249950" y="7370"/>
                  </a:lnTo>
                  <a:lnTo>
                    <a:pt x="246576" y="6127"/>
                  </a:lnTo>
                  <a:lnTo>
                    <a:pt x="243912" y="5328"/>
                  </a:lnTo>
                  <a:lnTo>
                    <a:pt x="241337" y="4617"/>
                  </a:lnTo>
                  <a:lnTo>
                    <a:pt x="238673" y="3996"/>
                  </a:lnTo>
                  <a:lnTo>
                    <a:pt x="236009" y="3374"/>
                  </a:lnTo>
                  <a:lnTo>
                    <a:pt x="233346" y="2841"/>
                  </a:lnTo>
                  <a:lnTo>
                    <a:pt x="230682" y="2309"/>
                  </a:lnTo>
                  <a:lnTo>
                    <a:pt x="225266" y="1421"/>
                  </a:lnTo>
                  <a:lnTo>
                    <a:pt x="219760" y="799"/>
                  </a:lnTo>
                  <a:lnTo>
                    <a:pt x="214255" y="355"/>
                  </a:lnTo>
                  <a:lnTo>
                    <a:pt x="208839" y="89"/>
                  </a:lnTo>
                  <a:lnTo>
                    <a:pt x="203423" y="0"/>
                  </a:lnTo>
                  <a:lnTo>
                    <a:pt x="198894" y="89"/>
                  </a:lnTo>
                  <a:lnTo>
                    <a:pt x="194277" y="266"/>
                  </a:lnTo>
                  <a:lnTo>
                    <a:pt x="189749" y="533"/>
                  </a:lnTo>
                  <a:lnTo>
                    <a:pt x="185131" y="977"/>
                  </a:lnTo>
                  <a:lnTo>
                    <a:pt x="180603" y="1509"/>
                  </a:lnTo>
                  <a:lnTo>
                    <a:pt x="176075" y="2220"/>
                  </a:lnTo>
                  <a:lnTo>
                    <a:pt x="171635" y="3108"/>
                  </a:lnTo>
                  <a:lnTo>
                    <a:pt x="167195" y="4173"/>
                  </a:lnTo>
                  <a:lnTo>
                    <a:pt x="162845" y="5328"/>
                  </a:lnTo>
                  <a:lnTo>
                    <a:pt x="158583" y="6659"/>
                  </a:lnTo>
                  <a:lnTo>
                    <a:pt x="154409" y="8169"/>
                  </a:lnTo>
                  <a:lnTo>
                    <a:pt x="152367" y="8968"/>
                  </a:lnTo>
                  <a:lnTo>
                    <a:pt x="150325" y="9856"/>
                  </a:lnTo>
                  <a:lnTo>
                    <a:pt x="148372" y="10744"/>
                  </a:lnTo>
                  <a:lnTo>
                    <a:pt x="146418" y="11721"/>
                  </a:lnTo>
                  <a:lnTo>
                    <a:pt x="144554" y="12697"/>
                  </a:lnTo>
                  <a:lnTo>
                    <a:pt x="142689" y="13763"/>
                  </a:lnTo>
                  <a:lnTo>
                    <a:pt x="140824" y="14917"/>
                  </a:lnTo>
                  <a:lnTo>
                    <a:pt x="139048" y="16071"/>
                  </a:lnTo>
                  <a:lnTo>
                    <a:pt x="137273" y="17226"/>
                  </a:lnTo>
                  <a:lnTo>
                    <a:pt x="135586" y="18469"/>
                  </a:lnTo>
                  <a:lnTo>
                    <a:pt x="133898" y="17226"/>
                  </a:lnTo>
                  <a:lnTo>
                    <a:pt x="132123" y="16071"/>
                  </a:lnTo>
                  <a:lnTo>
                    <a:pt x="130347" y="14917"/>
                  </a:lnTo>
                  <a:lnTo>
                    <a:pt x="128482" y="13763"/>
                  </a:lnTo>
                  <a:lnTo>
                    <a:pt x="126618" y="12697"/>
                  </a:lnTo>
                  <a:lnTo>
                    <a:pt x="124753" y="11721"/>
                  </a:lnTo>
                  <a:lnTo>
                    <a:pt x="122799" y="10744"/>
                  </a:lnTo>
                  <a:lnTo>
                    <a:pt x="120846" y="9856"/>
                  </a:lnTo>
                  <a:lnTo>
                    <a:pt x="118804" y="8968"/>
                  </a:lnTo>
                  <a:lnTo>
                    <a:pt x="116762" y="8169"/>
                  </a:lnTo>
                  <a:lnTo>
                    <a:pt x="112588" y="6659"/>
                  </a:lnTo>
                  <a:lnTo>
                    <a:pt x="108326" y="5328"/>
                  </a:lnTo>
                  <a:lnTo>
                    <a:pt x="103976" y="4173"/>
                  </a:lnTo>
                  <a:lnTo>
                    <a:pt x="99536" y="3108"/>
                  </a:lnTo>
                  <a:lnTo>
                    <a:pt x="95096" y="2220"/>
                  </a:lnTo>
                  <a:lnTo>
                    <a:pt x="90568" y="1509"/>
                  </a:lnTo>
                  <a:lnTo>
                    <a:pt x="86040" y="977"/>
                  </a:lnTo>
                  <a:lnTo>
                    <a:pt x="81422" y="533"/>
                  </a:lnTo>
                  <a:lnTo>
                    <a:pt x="76894" y="266"/>
                  </a:lnTo>
                  <a:lnTo>
                    <a:pt x="72277" y="89"/>
                  </a:lnTo>
                  <a:lnTo>
                    <a:pt x="67748" y="0"/>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6" name="Google Shape;386;p62"/>
            <p:cNvSpPr/>
            <p:nvPr/>
          </p:nvSpPr>
          <p:spPr>
            <a:xfrm>
              <a:off x="4118525" y="1625500"/>
              <a:ext cx="2157675" cy="765850"/>
            </a:xfrm>
            <a:custGeom>
              <a:avLst/>
              <a:gdLst/>
              <a:ahLst/>
              <a:cxnLst/>
              <a:rect l="l" t="t" r="r" b="b"/>
              <a:pathLst>
                <a:path w="86307" h="30634" extrusionOk="0">
                  <a:moveTo>
                    <a:pt x="51589" y="0"/>
                  </a:moveTo>
                  <a:lnTo>
                    <a:pt x="47682" y="178"/>
                  </a:lnTo>
                  <a:lnTo>
                    <a:pt x="43864" y="355"/>
                  </a:lnTo>
                  <a:lnTo>
                    <a:pt x="40135" y="622"/>
                  </a:lnTo>
                  <a:lnTo>
                    <a:pt x="36405" y="977"/>
                  </a:lnTo>
                  <a:lnTo>
                    <a:pt x="32765" y="1421"/>
                  </a:lnTo>
                  <a:lnTo>
                    <a:pt x="29213" y="1954"/>
                  </a:lnTo>
                  <a:lnTo>
                    <a:pt x="25662" y="2575"/>
                  </a:lnTo>
                  <a:lnTo>
                    <a:pt x="22199" y="3286"/>
                  </a:lnTo>
                  <a:lnTo>
                    <a:pt x="18825" y="3996"/>
                  </a:lnTo>
                  <a:lnTo>
                    <a:pt x="15539" y="4884"/>
                  </a:lnTo>
                  <a:lnTo>
                    <a:pt x="12254" y="5772"/>
                  </a:lnTo>
                  <a:lnTo>
                    <a:pt x="9057" y="6748"/>
                  </a:lnTo>
                  <a:lnTo>
                    <a:pt x="5950" y="7814"/>
                  </a:lnTo>
                  <a:lnTo>
                    <a:pt x="2931" y="8968"/>
                  </a:lnTo>
                  <a:lnTo>
                    <a:pt x="1" y="10211"/>
                  </a:lnTo>
                  <a:lnTo>
                    <a:pt x="1" y="30634"/>
                  </a:lnTo>
                  <a:lnTo>
                    <a:pt x="2664" y="29213"/>
                  </a:lnTo>
                  <a:lnTo>
                    <a:pt x="5417" y="27881"/>
                  </a:lnTo>
                  <a:lnTo>
                    <a:pt x="8347" y="26638"/>
                  </a:lnTo>
                  <a:lnTo>
                    <a:pt x="11455" y="25395"/>
                  </a:lnTo>
                  <a:lnTo>
                    <a:pt x="14563" y="24329"/>
                  </a:lnTo>
                  <a:lnTo>
                    <a:pt x="17848" y="23353"/>
                  </a:lnTo>
                  <a:lnTo>
                    <a:pt x="21133" y="22465"/>
                  </a:lnTo>
                  <a:lnTo>
                    <a:pt x="24596" y="21577"/>
                  </a:lnTo>
                  <a:lnTo>
                    <a:pt x="28148" y="20866"/>
                  </a:lnTo>
                  <a:lnTo>
                    <a:pt x="31788" y="20245"/>
                  </a:lnTo>
                  <a:lnTo>
                    <a:pt x="35606" y="19712"/>
                  </a:lnTo>
                  <a:lnTo>
                    <a:pt x="39424" y="19268"/>
                  </a:lnTo>
                  <a:lnTo>
                    <a:pt x="43331" y="18913"/>
                  </a:lnTo>
                  <a:lnTo>
                    <a:pt x="47238" y="18647"/>
                  </a:lnTo>
                  <a:lnTo>
                    <a:pt x="51322" y="18469"/>
                  </a:lnTo>
                  <a:lnTo>
                    <a:pt x="59491" y="18469"/>
                  </a:lnTo>
                  <a:lnTo>
                    <a:pt x="63487" y="18647"/>
                  </a:lnTo>
                  <a:lnTo>
                    <a:pt x="67483" y="18913"/>
                  </a:lnTo>
                  <a:lnTo>
                    <a:pt x="71389" y="19268"/>
                  </a:lnTo>
                  <a:lnTo>
                    <a:pt x="75207" y="19712"/>
                  </a:lnTo>
                  <a:lnTo>
                    <a:pt x="79026" y="20245"/>
                  </a:lnTo>
                  <a:lnTo>
                    <a:pt x="82666" y="20955"/>
                  </a:lnTo>
                  <a:lnTo>
                    <a:pt x="86307" y="21666"/>
                  </a:lnTo>
                  <a:lnTo>
                    <a:pt x="86307" y="2930"/>
                  </a:lnTo>
                  <a:lnTo>
                    <a:pt x="82577" y="2309"/>
                  </a:lnTo>
                  <a:lnTo>
                    <a:pt x="78848" y="1687"/>
                  </a:lnTo>
                  <a:lnTo>
                    <a:pt x="75030" y="1155"/>
                  </a:lnTo>
                  <a:lnTo>
                    <a:pt x="71212" y="711"/>
                  </a:lnTo>
                  <a:lnTo>
                    <a:pt x="67305" y="444"/>
                  </a:lnTo>
                  <a:lnTo>
                    <a:pt x="63398" y="178"/>
                  </a:lnTo>
                  <a:lnTo>
                    <a:pt x="59403" y="0"/>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7" name="Google Shape;387;p62"/>
            <p:cNvSpPr/>
            <p:nvPr/>
          </p:nvSpPr>
          <p:spPr>
            <a:xfrm>
              <a:off x="4118525" y="2444600"/>
              <a:ext cx="2157675" cy="768075"/>
            </a:xfrm>
            <a:custGeom>
              <a:avLst/>
              <a:gdLst/>
              <a:ahLst/>
              <a:cxnLst/>
              <a:rect l="l" t="t" r="r" b="b"/>
              <a:pathLst>
                <a:path w="86307" h="30723" extrusionOk="0">
                  <a:moveTo>
                    <a:pt x="51589" y="1"/>
                  </a:moveTo>
                  <a:lnTo>
                    <a:pt x="47682" y="178"/>
                  </a:lnTo>
                  <a:lnTo>
                    <a:pt x="43864" y="356"/>
                  </a:lnTo>
                  <a:lnTo>
                    <a:pt x="40135" y="711"/>
                  </a:lnTo>
                  <a:lnTo>
                    <a:pt x="36405" y="1066"/>
                  </a:lnTo>
                  <a:lnTo>
                    <a:pt x="32765" y="1510"/>
                  </a:lnTo>
                  <a:lnTo>
                    <a:pt x="29213" y="2043"/>
                  </a:lnTo>
                  <a:lnTo>
                    <a:pt x="25662" y="2664"/>
                  </a:lnTo>
                  <a:lnTo>
                    <a:pt x="22199" y="3375"/>
                  </a:lnTo>
                  <a:lnTo>
                    <a:pt x="18825" y="4085"/>
                  </a:lnTo>
                  <a:lnTo>
                    <a:pt x="15539" y="4973"/>
                  </a:lnTo>
                  <a:lnTo>
                    <a:pt x="12254" y="5861"/>
                  </a:lnTo>
                  <a:lnTo>
                    <a:pt x="9057" y="6838"/>
                  </a:lnTo>
                  <a:lnTo>
                    <a:pt x="5950" y="7903"/>
                  </a:lnTo>
                  <a:lnTo>
                    <a:pt x="2931" y="9057"/>
                  </a:lnTo>
                  <a:lnTo>
                    <a:pt x="1" y="10212"/>
                  </a:lnTo>
                  <a:lnTo>
                    <a:pt x="1" y="30723"/>
                  </a:lnTo>
                  <a:lnTo>
                    <a:pt x="2664" y="29213"/>
                  </a:lnTo>
                  <a:lnTo>
                    <a:pt x="5417" y="27881"/>
                  </a:lnTo>
                  <a:lnTo>
                    <a:pt x="8347" y="26638"/>
                  </a:lnTo>
                  <a:lnTo>
                    <a:pt x="11455" y="25484"/>
                  </a:lnTo>
                  <a:lnTo>
                    <a:pt x="14563" y="24330"/>
                  </a:lnTo>
                  <a:lnTo>
                    <a:pt x="17848" y="23353"/>
                  </a:lnTo>
                  <a:lnTo>
                    <a:pt x="21133" y="22465"/>
                  </a:lnTo>
                  <a:lnTo>
                    <a:pt x="24596" y="21666"/>
                  </a:lnTo>
                  <a:lnTo>
                    <a:pt x="28148" y="20867"/>
                  </a:lnTo>
                  <a:lnTo>
                    <a:pt x="31788" y="20245"/>
                  </a:lnTo>
                  <a:lnTo>
                    <a:pt x="35606" y="19713"/>
                  </a:lnTo>
                  <a:lnTo>
                    <a:pt x="39424" y="19269"/>
                  </a:lnTo>
                  <a:lnTo>
                    <a:pt x="43331" y="18913"/>
                  </a:lnTo>
                  <a:lnTo>
                    <a:pt x="47238" y="18647"/>
                  </a:lnTo>
                  <a:lnTo>
                    <a:pt x="51322" y="18558"/>
                  </a:lnTo>
                  <a:lnTo>
                    <a:pt x="55496" y="18469"/>
                  </a:lnTo>
                  <a:lnTo>
                    <a:pt x="59491" y="18558"/>
                  </a:lnTo>
                  <a:lnTo>
                    <a:pt x="63487" y="18736"/>
                  </a:lnTo>
                  <a:lnTo>
                    <a:pt x="67483" y="18913"/>
                  </a:lnTo>
                  <a:lnTo>
                    <a:pt x="71389" y="19269"/>
                  </a:lnTo>
                  <a:lnTo>
                    <a:pt x="75207" y="19801"/>
                  </a:lnTo>
                  <a:lnTo>
                    <a:pt x="79026" y="20334"/>
                  </a:lnTo>
                  <a:lnTo>
                    <a:pt x="82666" y="20956"/>
                  </a:lnTo>
                  <a:lnTo>
                    <a:pt x="86307" y="21666"/>
                  </a:lnTo>
                  <a:lnTo>
                    <a:pt x="86307" y="2931"/>
                  </a:lnTo>
                  <a:lnTo>
                    <a:pt x="82577" y="2309"/>
                  </a:lnTo>
                  <a:lnTo>
                    <a:pt x="78848" y="1688"/>
                  </a:lnTo>
                  <a:lnTo>
                    <a:pt x="75030" y="1244"/>
                  </a:lnTo>
                  <a:lnTo>
                    <a:pt x="71212" y="800"/>
                  </a:lnTo>
                  <a:lnTo>
                    <a:pt x="67305" y="445"/>
                  </a:lnTo>
                  <a:lnTo>
                    <a:pt x="63398" y="178"/>
                  </a:lnTo>
                  <a:lnTo>
                    <a:pt x="59403" y="89"/>
                  </a:lnTo>
                  <a:lnTo>
                    <a:pt x="55496"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8" name="Google Shape;388;p62"/>
            <p:cNvSpPr/>
            <p:nvPr/>
          </p:nvSpPr>
          <p:spPr>
            <a:xfrm>
              <a:off x="4118525" y="3268150"/>
              <a:ext cx="2157675" cy="765850"/>
            </a:xfrm>
            <a:custGeom>
              <a:avLst/>
              <a:gdLst/>
              <a:ahLst/>
              <a:cxnLst/>
              <a:rect l="l" t="t" r="r" b="b"/>
              <a:pathLst>
                <a:path w="86307" h="30634" extrusionOk="0">
                  <a:moveTo>
                    <a:pt x="51589" y="1"/>
                  </a:moveTo>
                  <a:lnTo>
                    <a:pt x="47682" y="178"/>
                  </a:lnTo>
                  <a:lnTo>
                    <a:pt x="43864" y="356"/>
                  </a:lnTo>
                  <a:lnTo>
                    <a:pt x="40135" y="622"/>
                  </a:lnTo>
                  <a:lnTo>
                    <a:pt x="36405" y="977"/>
                  </a:lnTo>
                  <a:lnTo>
                    <a:pt x="32765" y="1421"/>
                  </a:lnTo>
                  <a:lnTo>
                    <a:pt x="29213" y="1954"/>
                  </a:lnTo>
                  <a:lnTo>
                    <a:pt x="25662" y="2576"/>
                  </a:lnTo>
                  <a:lnTo>
                    <a:pt x="22199" y="3286"/>
                  </a:lnTo>
                  <a:lnTo>
                    <a:pt x="18825" y="3996"/>
                  </a:lnTo>
                  <a:lnTo>
                    <a:pt x="15539" y="4884"/>
                  </a:lnTo>
                  <a:lnTo>
                    <a:pt x="12254" y="5772"/>
                  </a:lnTo>
                  <a:lnTo>
                    <a:pt x="9057" y="6749"/>
                  </a:lnTo>
                  <a:lnTo>
                    <a:pt x="5950" y="7814"/>
                  </a:lnTo>
                  <a:lnTo>
                    <a:pt x="2931" y="8969"/>
                  </a:lnTo>
                  <a:lnTo>
                    <a:pt x="1" y="10212"/>
                  </a:lnTo>
                  <a:lnTo>
                    <a:pt x="1" y="30634"/>
                  </a:lnTo>
                  <a:lnTo>
                    <a:pt x="2664" y="29213"/>
                  </a:lnTo>
                  <a:lnTo>
                    <a:pt x="5417" y="27881"/>
                  </a:lnTo>
                  <a:lnTo>
                    <a:pt x="8347" y="26638"/>
                  </a:lnTo>
                  <a:lnTo>
                    <a:pt x="11455" y="25395"/>
                  </a:lnTo>
                  <a:lnTo>
                    <a:pt x="14563" y="24330"/>
                  </a:lnTo>
                  <a:lnTo>
                    <a:pt x="17848" y="23353"/>
                  </a:lnTo>
                  <a:lnTo>
                    <a:pt x="21133" y="22465"/>
                  </a:lnTo>
                  <a:lnTo>
                    <a:pt x="24596" y="21577"/>
                  </a:lnTo>
                  <a:lnTo>
                    <a:pt x="28148" y="20867"/>
                  </a:lnTo>
                  <a:lnTo>
                    <a:pt x="31788" y="20245"/>
                  </a:lnTo>
                  <a:lnTo>
                    <a:pt x="35606" y="19713"/>
                  </a:lnTo>
                  <a:lnTo>
                    <a:pt x="39424" y="19269"/>
                  </a:lnTo>
                  <a:lnTo>
                    <a:pt x="43331" y="18913"/>
                  </a:lnTo>
                  <a:lnTo>
                    <a:pt x="47238" y="18647"/>
                  </a:lnTo>
                  <a:lnTo>
                    <a:pt x="51322" y="18469"/>
                  </a:lnTo>
                  <a:lnTo>
                    <a:pt x="55496" y="18469"/>
                  </a:lnTo>
                  <a:lnTo>
                    <a:pt x="59491" y="18558"/>
                  </a:lnTo>
                  <a:lnTo>
                    <a:pt x="63487" y="18647"/>
                  </a:lnTo>
                  <a:lnTo>
                    <a:pt x="67483" y="18913"/>
                  </a:lnTo>
                  <a:lnTo>
                    <a:pt x="71389" y="19269"/>
                  </a:lnTo>
                  <a:lnTo>
                    <a:pt x="75207" y="19713"/>
                  </a:lnTo>
                  <a:lnTo>
                    <a:pt x="79026" y="20245"/>
                  </a:lnTo>
                  <a:lnTo>
                    <a:pt x="82666" y="20956"/>
                  </a:lnTo>
                  <a:lnTo>
                    <a:pt x="86307" y="21666"/>
                  </a:lnTo>
                  <a:lnTo>
                    <a:pt x="86307" y="2931"/>
                  </a:lnTo>
                  <a:lnTo>
                    <a:pt x="82577" y="2220"/>
                  </a:lnTo>
                  <a:lnTo>
                    <a:pt x="78848" y="1599"/>
                  </a:lnTo>
                  <a:lnTo>
                    <a:pt x="75030" y="1155"/>
                  </a:lnTo>
                  <a:lnTo>
                    <a:pt x="71212" y="711"/>
                  </a:lnTo>
                  <a:lnTo>
                    <a:pt x="67305" y="356"/>
                  </a:lnTo>
                  <a:lnTo>
                    <a:pt x="63398" y="178"/>
                  </a:lnTo>
                  <a:lnTo>
                    <a:pt x="59403"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63"/>
          <p:cNvSpPr txBox="1"/>
          <p:nvPr/>
        </p:nvSpPr>
        <p:spPr>
          <a:xfrm>
            <a:off x="517675" y="524338"/>
            <a:ext cx="4931100" cy="554100"/>
          </a:xfrm>
          <a:prstGeom prst="rect">
            <a:avLst/>
          </a:prstGeom>
          <a:noFill/>
          <a:ln>
            <a:noFill/>
          </a:ln>
        </p:spPr>
        <p:txBody>
          <a:bodyPr spcFirstLastPara="1" wrap="square" lIns="0"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200" b="0" i="0" u="none" strike="noStrike" cap="none">
                <a:solidFill>
                  <a:srgbClr val="3C4043"/>
                </a:solidFill>
                <a:latin typeface="Arial"/>
                <a:ea typeface="Open Sans"/>
                <a:cs typeface="Open Sans"/>
                <a:sym typeface="Open Sans"/>
              </a:rPr>
              <a:t>Next steps to production</a:t>
            </a:r>
            <a:endParaRPr sz="2400" b="0" i="0" u="none" strike="noStrike" cap="none">
              <a:solidFill>
                <a:srgbClr val="5F6368"/>
              </a:solidFill>
              <a:latin typeface="Open Sans"/>
              <a:ea typeface="Open Sans"/>
              <a:cs typeface="Open Sans"/>
              <a:sym typeface="Open Sans"/>
            </a:endParaRPr>
          </a:p>
        </p:txBody>
      </p:sp>
      <p:sp>
        <p:nvSpPr>
          <p:cNvPr id="394" name="Google Shape;394;p63"/>
          <p:cNvSpPr/>
          <p:nvPr/>
        </p:nvSpPr>
        <p:spPr>
          <a:xfrm>
            <a:off x="517675" y="1472325"/>
            <a:ext cx="2436300" cy="3174300"/>
          </a:xfrm>
          <a:prstGeom prst="rect">
            <a:avLst/>
          </a:prstGeom>
          <a:solidFill>
            <a:srgbClr val="F8F9F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5" name="Google Shape;395;p63"/>
          <p:cNvSpPr txBox="1"/>
          <p:nvPr/>
        </p:nvSpPr>
        <p:spPr>
          <a:xfrm>
            <a:off x="711325" y="1917800"/>
            <a:ext cx="2049000" cy="1006500"/>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Clr>
                <a:schemeClr val="dk1"/>
              </a:buClr>
              <a:buSzPts val="1100"/>
              <a:buFont typeface="Arial"/>
              <a:buNone/>
            </a:pPr>
            <a:r>
              <a:rPr lang="en" sz="1050" b="0" i="0" u="none" strike="noStrike" cap="none">
                <a:solidFill>
                  <a:srgbClr val="3C4043"/>
                </a:solidFill>
                <a:latin typeface="Arial"/>
                <a:ea typeface="Open Sans"/>
                <a:cs typeface="Open Sans"/>
                <a:sym typeface="Open Sans"/>
              </a:rPr>
              <a:t>CONNECT SERVICES
Configure credentials, CRM/database IDs, calendar/email providers, and a verified reviewer identity. Keep sending disabled during integration tests.</a:t>
            </a:r>
            <a:br>
              <a:rPr lang="en" sz="1200" b="0" i="0" u="none" strike="noStrike" cap="none">
                <a:solidFill>
                  <a:srgbClr val="5F6368"/>
                </a:solidFill>
                <a:latin typeface="Open Sans"/>
                <a:ea typeface="Open Sans"/>
                <a:cs typeface="Open Sans"/>
                <a:sym typeface="Open Sans"/>
              </a:rPr>
            </a:br>
            <a:endParaRPr sz="1200" b="0" i="0" u="none" strike="noStrike" cap="none">
              <a:solidFill>
                <a:srgbClr val="000000"/>
              </a:solidFill>
              <a:latin typeface="Arial"/>
              <a:ea typeface="Arial"/>
              <a:cs typeface="Arial"/>
              <a:sym typeface="Arial"/>
            </a:endParaRPr>
          </a:p>
        </p:txBody>
      </p:sp>
      <p:sp>
        <p:nvSpPr>
          <p:cNvPr id="396" name="Google Shape;396;p63"/>
          <p:cNvSpPr/>
          <p:nvPr/>
        </p:nvSpPr>
        <p:spPr>
          <a:xfrm>
            <a:off x="3175275" y="1472325"/>
            <a:ext cx="2436300" cy="3174300"/>
          </a:xfrm>
          <a:prstGeom prst="rect">
            <a:avLst/>
          </a:prstGeom>
          <a:solidFill>
            <a:srgbClr val="F8F9F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7" name="Google Shape;397;p63"/>
          <p:cNvSpPr txBox="1"/>
          <p:nvPr/>
        </p:nvSpPr>
        <p:spPr>
          <a:xfrm>
            <a:off x="3368925" y="1917800"/>
            <a:ext cx="2049000" cy="1006500"/>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Clr>
                <a:srgbClr val="000000"/>
              </a:buClr>
              <a:buSzPts val="1200"/>
              <a:buFont typeface="Arial"/>
              <a:buNone/>
            </a:pPr>
            <a:r>
              <a:rPr lang="en" sz="1050" b="0" i="0" u="none" strike="noStrike" cap="none">
                <a:solidFill>
                  <a:srgbClr val="3C4043"/>
                </a:solidFill>
                <a:latin typeface="Arial"/>
                <a:ea typeface="Open Sans"/>
                <a:cs typeface="Open Sans"/>
                <a:sym typeface="Open Sans"/>
              </a:rPr>
              <a:t>CLOSE SAFETY GAPS
Implement provider-side opt-out propagation, define retention/access controls, and replace lookup-then-insert dedupe with an atomic uniqueness guard.</a:t>
            </a:r>
            <a:br>
              <a:rPr lang="en" sz="1200" b="0" i="0" u="none" strike="noStrike" cap="none">
                <a:solidFill>
                  <a:srgbClr val="5F6368"/>
                </a:solidFill>
                <a:latin typeface="Open Sans"/>
                <a:ea typeface="Open Sans"/>
                <a:cs typeface="Open Sans"/>
                <a:sym typeface="Open Sans"/>
              </a:rPr>
            </a:br>
            <a:endParaRPr sz="1200" b="0" i="0" u="none" strike="noStrike" cap="none">
              <a:solidFill>
                <a:srgbClr val="000000"/>
              </a:solidFill>
              <a:latin typeface="Arial"/>
              <a:ea typeface="Arial"/>
              <a:cs typeface="Arial"/>
              <a:sym typeface="Arial"/>
            </a:endParaRPr>
          </a:p>
        </p:txBody>
      </p:sp>
      <p:sp>
        <p:nvSpPr>
          <p:cNvPr id="398" name="Google Shape;398;p63"/>
          <p:cNvSpPr/>
          <p:nvPr/>
        </p:nvSpPr>
        <p:spPr>
          <a:xfrm>
            <a:off x="5832875" y="1472325"/>
            <a:ext cx="2436300" cy="3174300"/>
          </a:xfrm>
          <a:prstGeom prst="rect">
            <a:avLst/>
          </a:prstGeom>
          <a:solidFill>
            <a:srgbClr val="F8F9F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9" name="Google Shape;399;p63"/>
          <p:cNvSpPr txBox="1"/>
          <p:nvPr/>
        </p:nvSpPr>
        <p:spPr>
          <a:xfrm>
            <a:off x="6026525" y="1917800"/>
            <a:ext cx="2049000" cy="1006500"/>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Clr>
                <a:srgbClr val="000000"/>
              </a:buClr>
              <a:buSzPts val="1200"/>
              <a:buFont typeface="Arial"/>
              <a:buNone/>
            </a:pPr>
            <a:r>
              <a:rPr lang="en" sz="1050" b="0" i="0" u="none" strike="noStrike" cap="none">
                <a:solidFill>
                  <a:srgbClr val="3C4043"/>
                </a:solidFill>
                <a:latin typeface="Arial"/>
                <a:ea typeface="Open Sans"/>
                <a:cs typeface="Open Sans"/>
                <a:sym typeface="Open Sans"/>
              </a:rPr>
              <a:t>RUN A CONTROLLED PILOT
Replay fixtures, add a limited authorized sample, compare AI summaries with human decisions, and measure time-to-review and qualification quality.</a:t>
            </a:r>
            <a:br>
              <a:rPr lang="en" sz="1200" b="0" i="0" u="none" strike="noStrike" cap="none">
                <a:solidFill>
                  <a:srgbClr val="5F6368"/>
                </a:solidFill>
                <a:latin typeface="Open Sans"/>
                <a:ea typeface="Open Sans"/>
                <a:cs typeface="Open Sans"/>
                <a:sym typeface="Open Sans"/>
              </a:rPr>
            </a:br>
            <a:endParaRPr sz="1200" b="0" i="0" u="none" strike="noStrike" cap="none">
              <a:solidFill>
                <a:srgbClr val="000000"/>
              </a:solidFill>
              <a:latin typeface="Arial"/>
              <a:ea typeface="Arial"/>
              <a:cs typeface="Arial"/>
              <a:sym typeface="Arial"/>
            </a:endParaRPr>
          </a:p>
        </p:txBody>
      </p:sp>
      <p:sp>
        <p:nvSpPr>
          <p:cNvPr id="400" name="Google Shape;400;p63"/>
          <p:cNvSpPr/>
          <p:nvPr/>
        </p:nvSpPr>
        <p:spPr>
          <a:xfrm>
            <a:off x="1479175" y="1187633"/>
            <a:ext cx="513300" cy="513300"/>
          </a:xfrm>
          <a:prstGeom prst="ellipse">
            <a:avLst/>
          </a:prstGeom>
          <a:solidFill>
            <a:srgbClr val="5F6368"/>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0" i="0" u="none" strike="noStrike" cap="none">
                <a:solidFill>
                  <a:srgbClr val="FFFFFF"/>
                </a:solidFill>
                <a:latin typeface="Google Sans Medium"/>
                <a:ea typeface="Google Sans Medium"/>
                <a:cs typeface="Google Sans Medium"/>
                <a:sym typeface="Google Sans Medium"/>
              </a:rPr>
              <a:t>1</a:t>
            </a:r>
            <a:endParaRPr sz="2200" b="0" i="0" u="none" strike="noStrike" cap="none">
              <a:solidFill>
                <a:srgbClr val="FFFFFF"/>
              </a:solidFill>
              <a:latin typeface="Google Sans Medium"/>
              <a:ea typeface="Google Sans Medium"/>
              <a:cs typeface="Google Sans Medium"/>
              <a:sym typeface="Google Sans Medium"/>
            </a:endParaRPr>
          </a:p>
        </p:txBody>
      </p:sp>
      <p:sp>
        <p:nvSpPr>
          <p:cNvPr id="401" name="Google Shape;401;p63"/>
          <p:cNvSpPr/>
          <p:nvPr/>
        </p:nvSpPr>
        <p:spPr>
          <a:xfrm>
            <a:off x="4136775" y="1187633"/>
            <a:ext cx="513300" cy="513300"/>
          </a:xfrm>
          <a:prstGeom prst="ellipse">
            <a:avLst/>
          </a:prstGeom>
          <a:solidFill>
            <a:srgbClr val="5F6368"/>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0" i="0" u="none" strike="noStrike" cap="none">
                <a:solidFill>
                  <a:srgbClr val="FFFFFF"/>
                </a:solidFill>
                <a:latin typeface="Google Sans Medium"/>
                <a:ea typeface="Google Sans Medium"/>
                <a:cs typeface="Google Sans Medium"/>
                <a:sym typeface="Google Sans Medium"/>
              </a:rPr>
              <a:t>2</a:t>
            </a:r>
            <a:endParaRPr sz="2200" b="0" i="0" u="none" strike="noStrike" cap="none">
              <a:solidFill>
                <a:srgbClr val="FFFFFF"/>
              </a:solidFill>
              <a:latin typeface="Google Sans Medium"/>
              <a:ea typeface="Google Sans Medium"/>
              <a:cs typeface="Google Sans Medium"/>
              <a:sym typeface="Google Sans Medium"/>
            </a:endParaRPr>
          </a:p>
        </p:txBody>
      </p:sp>
      <p:sp>
        <p:nvSpPr>
          <p:cNvPr id="402" name="Google Shape;402;p63"/>
          <p:cNvSpPr/>
          <p:nvPr/>
        </p:nvSpPr>
        <p:spPr>
          <a:xfrm>
            <a:off x="6794375" y="1187633"/>
            <a:ext cx="513300" cy="513300"/>
          </a:xfrm>
          <a:prstGeom prst="ellipse">
            <a:avLst/>
          </a:prstGeom>
          <a:solidFill>
            <a:srgbClr val="5F6368"/>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0" i="0" u="none" strike="noStrike" cap="none">
                <a:solidFill>
                  <a:srgbClr val="FFFFFF"/>
                </a:solidFill>
                <a:latin typeface="Google Sans Medium"/>
                <a:ea typeface="Google Sans Medium"/>
                <a:cs typeface="Google Sans Medium"/>
                <a:sym typeface="Google Sans Medium"/>
              </a:rPr>
              <a:t>3</a:t>
            </a:r>
            <a:endParaRPr sz="2200" b="0" i="0" u="none" strike="noStrike" cap="none">
              <a:solidFill>
                <a:srgbClr val="FFFFFF"/>
              </a:solidFill>
              <a:latin typeface="Google Sans Medium"/>
              <a:ea typeface="Google Sans Medium"/>
              <a:cs typeface="Google Sans Medium"/>
              <a:sym typeface="Google Sans Medium"/>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64"/>
          <p:cNvSpPr txBox="1"/>
          <p:nvPr/>
        </p:nvSpPr>
        <p:spPr>
          <a:xfrm>
            <a:off x="517675" y="524338"/>
            <a:ext cx="4931100" cy="554100"/>
          </a:xfrm>
          <a:prstGeom prst="rect">
            <a:avLst/>
          </a:prstGeom>
          <a:noFill/>
          <a:ln>
            <a:noFill/>
          </a:ln>
        </p:spPr>
        <p:txBody>
          <a:bodyPr spcFirstLastPara="1" wrap="square" lIns="0"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200" b="0" i="0" u="none" strike="noStrike" cap="none">
                <a:solidFill>
                  <a:srgbClr val="3C4043"/>
                </a:solidFill>
                <a:latin typeface="Arial"/>
                <a:ea typeface="Open Sans"/>
                <a:cs typeface="Open Sans"/>
                <a:sym typeface="Open Sans"/>
              </a:rPr>
              <a:t>Project handoff</a:t>
            </a:r>
            <a:endParaRPr sz="2400" b="0" i="0" u="none" strike="noStrike" cap="none">
              <a:solidFill>
                <a:srgbClr val="5F6368"/>
              </a:solidFill>
              <a:latin typeface="Open Sans"/>
              <a:ea typeface="Open Sans"/>
              <a:cs typeface="Open Sans"/>
              <a:sym typeface="Open Sans"/>
            </a:endParaRPr>
          </a:p>
        </p:txBody>
      </p:sp>
      <p:sp>
        <p:nvSpPr>
          <p:cNvPr id="408" name="Google Shape;408;p64"/>
          <p:cNvSpPr txBox="1"/>
          <p:nvPr/>
        </p:nvSpPr>
        <p:spPr>
          <a:xfrm>
            <a:off x="3064600" y="-1016100"/>
            <a:ext cx="6509400" cy="7233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endParaRPr sz="1400" b="0" i="0" u="none" strike="noStrike" cap="none">
              <a:solidFill>
                <a:srgbClr val="5F6368"/>
              </a:solidFill>
              <a:latin typeface="Open Sans"/>
              <a:ea typeface="Open Sans"/>
              <a:cs typeface="Open Sans"/>
              <a:sym typeface="Open Sans"/>
            </a:endParaRPr>
          </a:p>
        </p:txBody>
      </p:sp>
      <p:sp>
        <p:nvSpPr>
          <p:cNvPr id="409" name="Google Shape;409;p64"/>
          <p:cNvSpPr/>
          <p:nvPr/>
        </p:nvSpPr>
        <p:spPr>
          <a:xfrm>
            <a:off x="517675" y="1832019"/>
            <a:ext cx="7938900" cy="2510400"/>
          </a:xfrm>
          <a:prstGeom prst="rect">
            <a:avLst/>
          </a:prstGeom>
          <a:solidFill>
            <a:srgbClr val="F8F9F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0" name="Google Shape;410;p64"/>
          <p:cNvSpPr txBox="1"/>
          <p:nvPr/>
        </p:nvSpPr>
        <p:spPr>
          <a:xfrm>
            <a:off x="919075" y="2461800"/>
            <a:ext cx="7136100" cy="1571169"/>
          </a:xfrm>
          <a:prstGeom prst="rect">
            <a:avLst/>
          </a:prstGeom>
          <a:noFill/>
          <a:ln>
            <a:noFill/>
          </a:ln>
        </p:spPr>
        <p:txBody>
          <a:bodyPr spcFirstLastPara="1" wrap="square" lIns="0"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n" sz="1400" b="0" i="0" u="none" strike="noStrike" cap="none" dirty="0">
                <a:solidFill>
                  <a:srgbClr val="3C4043"/>
                </a:solidFill>
                <a:latin typeface="Arial"/>
                <a:ea typeface="Open Sans"/>
                <a:cs typeface="Open Sans"/>
                <a:sym typeface="Open Sans"/>
              </a:rPr>
              <a:t>This case study presents an AI-agent workflow prototype built in n8n, together with setup notes, safety controls, and test scenarios. It is not a claim of a live production deployment.</a:t>
            </a:r>
            <a:endParaRPr sz="1200" b="0" i="0" u="none" strike="noStrike" cap="none" dirty="0">
              <a:solidFill>
                <a:srgbClr val="5F6368"/>
              </a:solidFill>
              <a:latin typeface="Open Sans"/>
              <a:ea typeface="Open Sans"/>
              <a:cs typeface="Open Sans"/>
              <a:sym typeface="Open Sans"/>
            </a:endParaRPr>
          </a:p>
          <a:p>
            <a:pPr marL="0" marR="0" lvl="0" indent="0" algn="l" rtl="0">
              <a:lnSpc>
                <a:spcPct val="115000"/>
              </a:lnSpc>
              <a:spcBef>
                <a:spcPts val="0"/>
              </a:spcBef>
              <a:spcAft>
                <a:spcPts val="0"/>
              </a:spcAft>
              <a:buClr>
                <a:schemeClr val="dk1"/>
              </a:buClr>
              <a:buSzPts val="1100"/>
              <a:buFont typeface="Arial"/>
              <a:buNone/>
            </a:pPr>
            <a:endParaRPr sz="1200" b="0" i="0" u="none" strike="noStrike" cap="none" dirty="0">
              <a:solidFill>
                <a:srgbClr val="5F6368"/>
              </a:solidFill>
              <a:latin typeface="Open Sans"/>
              <a:ea typeface="Open Sans"/>
              <a:cs typeface="Open Sans"/>
              <a:sym typeface="Open Sans"/>
            </a:endParaRPr>
          </a:p>
          <a:p>
            <a:pPr marL="0" marR="0" lvl="0" indent="0" algn="l" rtl="0">
              <a:lnSpc>
                <a:spcPct val="115000"/>
              </a:lnSpc>
              <a:spcBef>
                <a:spcPts val="0"/>
              </a:spcBef>
              <a:spcAft>
                <a:spcPts val="0"/>
              </a:spcAft>
              <a:buClr>
                <a:schemeClr val="dk1"/>
              </a:buClr>
              <a:buSzPts val="1100"/>
              <a:buFont typeface="Arial"/>
              <a:buNone/>
            </a:pPr>
            <a:r>
              <a:rPr lang="en" sz="1400" b="0" i="0" u="none" strike="noStrike" cap="none" dirty="0">
                <a:solidFill>
                  <a:srgbClr val="3C4043"/>
                </a:solidFill>
                <a:latin typeface="Arial"/>
                <a:ea typeface="Open Sans"/>
                <a:cs typeface="Open Sans"/>
                <a:sym typeface="Open Sans"/>
              </a:rPr>
              <a:t>Contact: </a:t>
            </a:r>
            <a:r>
              <a:rPr lang="en" dirty="0">
                <a:solidFill>
                  <a:srgbClr val="3C4043"/>
                </a:solidFill>
                <a:ea typeface="Open Sans"/>
                <a:cs typeface="Open Sans"/>
                <a:sym typeface="Open Sans"/>
              </a:rPr>
              <a:t>krishna.verma.research@gmail.com</a:t>
            </a:r>
            <a:endParaRPr sz="1200" b="1" i="0" u="none" strike="noStrike" cap="none" dirty="0">
              <a:solidFill>
                <a:srgbClr val="1967D2"/>
              </a:solidFill>
              <a:latin typeface="Open Sans"/>
              <a:ea typeface="Open Sans"/>
              <a:cs typeface="Open Sans"/>
              <a:sym typeface="Open Sans"/>
            </a:endParaRPr>
          </a:p>
          <a:p>
            <a:pPr lvl="1"/>
            <a:r>
              <a:rPr dirty="0">
                <a:solidFill>
                  <a:srgbClr val="3C4043"/>
                </a:solidFill>
                <a:latin typeface="Arial"/>
              </a:rPr>
              <a:t>Portfolio</a:t>
            </a:r>
            <a:r>
              <a:rPr lang="en-US" dirty="0">
                <a:solidFill>
                  <a:srgbClr val="3C4043"/>
                </a:solidFill>
              </a:rPr>
              <a:t>:  https://drive.google.com/file/d/1cwL5UFrxNKqrGJCbn-pfPCytc4unja2x/view?usp=sharing</a:t>
            </a:r>
            <a:endParaRPr dirty="0">
              <a:solidFill>
                <a:srgbClr val="3C4043"/>
              </a:solidFill>
              <a:latin typeface="Arial"/>
            </a:endParaRPr>
          </a:p>
        </p:txBody>
      </p:sp>
      <p:sp>
        <p:nvSpPr>
          <p:cNvPr id="411" name="Google Shape;411;p64"/>
          <p:cNvSpPr/>
          <p:nvPr/>
        </p:nvSpPr>
        <p:spPr>
          <a:xfrm>
            <a:off x="4230475" y="1602212"/>
            <a:ext cx="513300" cy="513300"/>
          </a:xfrm>
          <a:prstGeom prst="ellipse">
            <a:avLst/>
          </a:prstGeom>
          <a:solidFill>
            <a:srgbClr val="5F636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2" name="Google Shape;412;p64"/>
          <p:cNvSpPr/>
          <p:nvPr/>
        </p:nvSpPr>
        <p:spPr>
          <a:xfrm>
            <a:off x="4361825" y="1734124"/>
            <a:ext cx="250599" cy="249449"/>
          </a:xfrm>
          <a:custGeom>
            <a:avLst/>
            <a:gdLst/>
            <a:ahLst/>
            <a:cxnLst/>
            <a:rect l="l" t="t" r="r" b="b"/>
            <a:pathLst>
              <a:path w="964" h="962" extrusionOk="0">
                <a:moveTo>
                  <a:pt x="774" y="400"/>
                </a:moveTo>
                <a:lnTo>
                  <a:pt x="562" y="189"/>
                </a:lnTo>
                <a:lnTo>
                  <a:pt x="0" y="749"/>
                </a:lnTo>
                <a:lnTo>
                  <a:pt x="0" y="961"/>
                </a:lnTo>
                <a:lnTo>
                  <a:pt x="212" y="961"/>
                </a:lnTo>
                <a:lnTo>
                  <a:pt x="774" y="400"/>
                </a:lnTo>
                <a:close/>
                <a:moveTo>
                  <a:pt x="940" y="234"/>
                </a:moveTo>
                <a:cubicBezTo>
                  <a:pt x="963" y="211"/>
                  <a:pt x="963" y="177"/>
                  <a:pt x="940" y="155"/>
                </a:cubicBezTo>
                <a:lnTo>
                  <a:pt x="807" y="22"/>
                </a:lnTo>
                <a:cubicBezTo>
                  <a:pt x="785" y="0"/>
                  <a:pt x="751" y="0"/>
                  <a:pt x="728" y="22"/>
                </a:cubicBezTo>
                <a:lnTo>
                  <a:pt x="618" y="132"/>
                </a:lnTo>
                <a:lnTo>
                  <a:pt x="830" y="344"/>
                </a:lnTo>
                <a:lnTo>
                  <a:pt x="940" y="234"/>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4285F4"/>
        </a:solidFill>
        <a:effectLst/>
      </p:bgPr>
    </p:bg>
    <p:spTree>
      <p:nvGrpSpPr>
        <p:cNvPr id="1" name="Shape 416"/>
        <p:cNvGrpSpPr/>
        <p:nvPr/>
      </p:nvGrpSpPr>
      <p:grpSpPr>
        <a:xfrm>
          <a:off x="0" y="0"/>
          <a:ext cx="0" cy="0"/>
          <a:chOff x="0" y="0"/>
          <a:chExt cx="0" cy="0"/>
        </a:xfrm>
      </p:grpSpPr>
      <p:sp>
        <p:nvSpPr>
          <p:cNvPr id="417" name="Google Shape;417;p65"/>
          <p:cNvSpPr txBox="1"/>
          <p:nvPr/>
        </p:nvSpPr>
        <p:spPr>
          <a:xfrm>
            <a:off x="2106450" y="2202300"/>
            <a:ext cx="49311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2400" b="0" i="0" u="none" strike="noStrike" cap="none">
                <a:solidFill>
                  <a:srgbClr val="FFFFFF"/>
                </a:solidFill>
                <a:latin typeface="Arial"/>
                <a:ea typeface="Open Sans"/>
                <a:cs typeface="Open Sans"/>
                <a:sym typeface="Open Sans"/>
              </a:rPr>
              <a:t>AI Agent Case Study
Thank you!</a:t>
            </a:r>
            <a:endParaRPr sz="3600" b="0" i="0" u="none" strike="noStrike" cap="none">
              <a:solidFill>
                <a:srgbClr val="FFFFFF"/>
              </a:solidFill>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1715</Words>
  <Application>Microsoft Office PowerPoint</Application>
  <PresentationFormat>On-screen Show (16:9)</PresentationFormat>
  <Paragraphs>205</Paragraphs>
  <Slides>26</Slides>
  <Notes>26</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26</vt:i4>
      </vt:variant>
    </vt:vector>
  </HeadingPairs>
  <TitlesOfParts>
    <vt:vector size="33" baseType="lpstr">
      <vt:lpstr>Open Sans</vt:lpstr>
      <vt:lpstr>Google Sans Medium</vt:lpstr>
      <vt:lpstr>Calibri</vt:lpstr>
      <vt:lpstr>Arial</vt:lpstr>
      <vt:lpstr>Open Sans SemiBold</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Krishna Krishna</cp:lastModifiedBy>
  <cp:revision>1</cp:revision>
  <dcterms:modified xsi:type="dcterms:W3CDTF">2026-10-22T16:52:58Z</dcterms:modified>
</cp:coreProperties>
</file>